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8"/>
  </p:notesMasterIdLst>
  <p:sldIdLst>
    <p:sldId id="257" r:id="rId2"/>
    <p:sldId id="417" r:id="rId3"/>
    <p:sldId id="422" r:id="rId4"/>
    <p:sldId id="373" r:id="rId5"/>
    <p:sldId id="374" r:id="rId6"/>
    <p:sldId id="375" r:id="rId7"/>
    <p:sldId id="376" r:id="rId8"/>
    <p:sldId id="377" r:id="rId9"/>
    <p:sldId id="369" r:id="rId10"/>
    <p:sldId id="370" r:id="rId11"/>
    <p:sldId id="418" r:id="rId12"/>
    <p:sldId id="371" r:id="rId13"/>
    <p:sldId id="378" r:id="rId14"/>
    <p:sldId id="372" r:id="rId15"/>
    <p:sldId id="388" r:id="rId16"/>
    <p:sldId id="300" r:id="rId17"/>
    <p:sldId id="379" r:id="rId18"/>
    <p:sldId id="302" r:id="rId19"/>
    <p:sldId id="303" r:id="rId20"/>
    <p:sldId id="398" r:id="rId21"/>
    <p:sldId id="304" r:id="rId22"/>
    <p:sldId id="305" r:id="rId23"/>
    <p:sldId id="306" r:id="rId24"/>
    <p:sldId id="307" r:id="rId25"/>
    <p:sldId id="419" r:id="rId26"/>
    <p:sldId id="420" r:id="rId27"/>
    <p:sldId id="421" r:id="rId28"/>
    <p:sldId id="390" r:id="rId29"/>
    <p:sldId id="316" r:id="rId30"/>
    <p:sldId id="423" r:id="rId31"/>
    <p:sldId id="424" r:id="rId32"/>
    <p:sldId id="319" r:id="rId33"/>
    <p:sldId id="320" r:id="rId34"/>
    <p:sldId id="321" r:id="rId35"/>
    <p:sldId id="325" r:id="rId36"/>
    <p:sldId id="364" r:id="rId37"/>
    <p:sldId id="392" r:id="rId38"/>
    <p:sldId id="393" r:id="rId39"/>
    <p:sldId id="366" r:id="rId40"/>
    <p:sldId id="394" r:id="rId41"/>
    <p:sldId id="395" r:id="rId42"/>
    <p:sldId id="396" r:id="rId43"/>
    <p:sldId id="397" r:id="rId44"/>
    <p:sldId id="349" r:id="rId45"/>
    <p:sldId id="362" r:id="rId46"/>
    <p:sldId id="39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5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85434" autoAdjust="0"/>
  </p:normalViewPr>
  <p:slideViewPr>
    <p:cSldViewPr>
      <p:cViewPr varScale="1">
        <p:scale>
          <a:sx n="80" d="100"/>
          <a:sy n="80" d="100"/>
        </p:scale>
        <p:origin x="134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4" y="2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6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335DE-4A9A-4BDF-8524-91B18F2D360F}" type="datetimeFigureOut">
              <a:rPr lang="ru-RU" smtClean="0"/>
              <a:pPr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996EC-98C9-4AA7-A8AE-F64A1D2B454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5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Mention that it is based on a model; usually considered a purely heuristic, thus much attractive;</a:t>
            </a:r>
            <a:r>
              <a:rPr lang="en-US" baseline="0" noProof="0" dirty="0"/>
              <a:t> yet the model may be perceived as overly simplistic (a few did and rejected it). I still think that telling the truth is better than hiding it.</a:t>
            </a:r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400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043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0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Mention that it is based on a model; usually considered a purely heuristic, thus much attractive;</a:t>
            </a:r>
            <a:r>
              <a:rPr lang="en-US" baseline="0" noProof="0" dirty="0"/>
              <a:t> yet the model may be perceived as overly simplistic (a few did and rejected it). I still think that telling the truth is better than hiding it.</a:t>
            </a:r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91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183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391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EC51-BF28-82CF-F97F-C2B8FC46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7AFE62-E595-D1F2-4D3C-0E0D8531B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47A498B-469A-B3DA-948E-BB048514A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8D3492-0237-34EC-9080-C37A183D0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8708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7624-124A-3C43-11DF-C99BEA85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0F6486-5228-D306-F6E9-681105022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D938ED-C169-3E0D-8D10-46EA2759F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FCD1D0-FB0D-243B-E543-4A0A96F593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3791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2431-2EF0-1F60-B2FA-78AE747DD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C4355DB-5F0E-387A-FA47-F5E22378C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F58443-9E5E-CC62-C911-FEDBE0A59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85C655-B33F-9531-1C30-A7C7945F2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2109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Mention that it is based on a model; usually considered a purely heuristic, thus much attractive;</a:t>
            </a:r>
            <a:r>
              <a:rPr lang="en-US" baseline="0" noProof="0" dirty="0"/>
              <a:t> yet the model may be perceived as overly simplistic (a few did and rejected it). I still think that telling the truth is better than hiding it.</a:t>
            </a:r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059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7951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2B577-1B84-6648-0503-835A7ABC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95B686-432E-059F-1FA9-DA7940C9E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A77F40-61DF-98DD-BAFE-15F3DD7BA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9B787F-99DA-2AF1-16ED-0873E21DE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6156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Mention that it is based on a model; usually considered a purely heuristic, thus much attractive;</a:t>
            </a:r>
            <a:r>
              <a:rPr lang="en-US" baseline="0" noProof="0" dirty="0"/>
              <a:t> yet the model may be perceived as overly simplistic (a few did and rejected it). I still think that telling the truth is better than hiding it.</a:t>
            </a:r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996EC-98C9-4AA7-A8AE-F64A1D2B4549}" type="slidenum">
              <a:rPr lang="ru-RU" smtClean="0"/>
              <a:pPr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44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E208-A713-42B5-B660-8D43C880AB1B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87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5D516-5061-442D-9904-6C7E7FA9FAB5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42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F09AB-8699-4C45-9D65-47838D254B69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82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4C78-C293-48C0-A7CA-A82C8A2672D6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71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5478C-5265-426D-ABC1-0F9952374C60}" type="datetime1">
              <a:rPr lang="ru-RU" smtClean="0"/>
              <a:t>29.09.2026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47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CD863-D218-42C9-9368-603C12E27439}" type="datetime1">
              <a:rPr lang="ru-RU" smtClean="0"/>
              <a:t>29.09.2026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02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E113-11BA-43DF-B0EF-6E79AD2A5B1C}" type="datetime1">
              <a:rPr lang="ru-RU" smtClean="0"/>
              <a:t>29.09.2026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7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FE74-3894-42A3-BF74-A6B008F92B0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26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A340-FBC6-430C-A3C9-357C68CD8B5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52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67AC8-54F3-4726-8C8D-8E13ADB5A140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37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3552-3129-4355-9272-94719D75B668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807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02B8F-5CFA-40AB-86C2-E41F160856F2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449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55D5-86D2-46A1-AD41-8E97C0205A9E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8377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80E0-DAC4-48EB-ACBF-BB1D791C3B2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761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54807-D2EE-4FB1-A2F1-C1EEC603607F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245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219E6-398E-4E13-890C-C2C4DA7A1082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50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7ED7C-AF32-466A-B9B0-4D6F7228A9D7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Bac_DA_2026_5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3C9DDFB-12AC-4EDF-912F-3F233AE9D7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3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0"/>
            <a:ext cx="7740352" cy="1412776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ОМАД Лекция 5</a:t>
            </a:r>
            <a:b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Главных Компонент: модель и методы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700808"/>
            <a:ext cx="9036496" cy="5040560"/>
          </a:xfrm>
        </p:spPr>
        <p:txBody>
          <a:bodyPr>
            <a:normAutofit fontScale="92500" lnSpcReduction="20000"/>
          </a:bodyPr>
          <a:lstStyle/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3000" b="1" dirty="0"/>
              <a:t>Модель Главных Компонент как проблема аппроксимации данных </a:t>
            </a:r>
            <a:endParaRPr lang="en-US" sz="30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3000" b="1" dirty="0"/>
              <a:t>Сингулярные тройки, связь с задачей о собственных значениях. Сингулярное и спектральное разложения матриц                                                                                </a:t>
            </a:r>
            <a:endParaRPr lang="en-US" sz="30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3000" b="1" dirty="0"/>
              <a:t>Традиционная формулировка метода МГК</a:t>
            </a:r>
            <a:r>
              <a:rPr lang="en-US" sz="3000" b="1" dirty="0"/>
              <a:t>;</a:t>
            </a:r>
            <a:r>
              <a:rPr lang="ru-RU" sz="3000" b="1" dirty="0"/>
              <a:t> Эквивалентность модельной формулировке</a:t>
            </a:r>
            <a:endParaRPr lang="en-US" sz="30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3000" b="1" dirty="0"/>
              <a:t>Приложение к визуализации данных</a:t>
            </a:r>
            <a:r>
              <a:rPr lang="en-US" sz="3000" b="1" dirty="0"/>
              <a:t>; </a:t>
            </a:r>
            <a:r>
              <a:rPr lang="ru-RU" sz="3000" b="1" dirty="0"/>
              <a:t>роль стандартизации данных.</a:t>
            </a:r>
            <a:endParaRPr lang="en-US" sz="30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ru-RU" sz="3000" b="1" dirty="0"/>
              <a:t>Домашнее задание </a:t>
            </a:r>
            <a:r>
              <a:rPr lang="en-US" sz="3000" b="1" dirty="0"/>
              <a:t>2</a:t>
            </a:r>
          </a:p>
          <a:p>
            <a:pPr marL="457200" lvl="1" indent="0">
              <a:spcAft>
                <a:spcPts val="600"/>
              </a:spcAft>
              <a:buNone/>
            </a:pP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9C4-C576-4FF8-9753-4225908504F0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732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60669-5185-4649-9829-B42CF5346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072" y="289334"/>
            <a:ext cx="7886700" cy="583406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Рассмотренные в Лекции 3 понятия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3F2E9E-4352-4316-A6E9-AC48FB5D9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2737"/>
            <a:ext cx="8124324" cy="5083072"/>
          </a:xfrm>
        </p:spPr>
        <p:txBody>
          <a:bodyPr>
            <a:normAutofit/>
          </a:bodyPr>
          <a:lstStyle/>
          <a:p>
            <a:r>
              <a:rPr lang="ru-RU" sz="2400" dirty="0"/>
              <a:t>Регрессия, классификатор</a:t>
            </a:r>
            <a:endParaRPr lang="en-US" sz="2400" dirty="0"/>
          </a:p>
          <a:p>
            <a:r>
              <a:rPr lang="ru-RU" sz="2400" dirty="0"/>
              <a:t>Искусственный нейрон и функция активации</a:t>
            </a:r>
            <a:endParaRPr lang="en-US" sz="2400" dirty="0"/>
          </a:p>
          <a:p>
            <a:r>
              <a:rPr lang="ru-RU" sz="2400" dirty="0"/>
              <a:t>Сигмоида</a:t>
            </a:r>
            <a:r>
              <a:rPr lang="en-US" sz="2400" dirty="0"/>
              <a:t>, </a:t>
            </a:r>
            <a:r>
              <a:rPr lang="ru-RU" sz="2400" dirty="0"/>
              <a:t>гиперболический тангенс</a:t>
            </a:r>
            <a:endParaRPr lang="en-US" sz="2400" dirty="0"/>
          </a:p>
          <a:p>
            <a:r>
              <a:rPr lang="ru-RU" sz="2400" dirty="0"/>
              <a:t>Нейронная сеть</a:t>
            </a:r>
            <a:endParaRPr lang="en-US" sz="2400" dirty="0"/>
          </a:p>
          <a:p>
            <a:r>
              <a:rPr lang="ru-RU" sz="2400" dirty="0"/>
              <a:t>Скрытый слой</a:t>
            </a:r>
            <a:endParaRPr lang="en-US" sz="2400" dirty="0"/>
          </a:p>
          <a:p>
            <a:r>
              <a:rPr lang="ru-RU" sz="2400" dirty="0"/>
              <a:t>Весовые матрицы</a:t>
            </a:r>
            <a:endParaRPr lang="en-US" sz="2400" dirty="0"/>
          </a:p>
          <a:p>
            <a:r>
              <a:rPr lang="ru-RU" sz="2400" dirty="0"/>
              <a:t>Градиентный спуск; скорость обучения</a:t>
            </a:r>
            <a:endParaRPr lang="en-US" sz="2400" dirty="0"/>
          </a:p>
          <a:p>
            <a:r>
              <a:rPr lang="ru-RU" sz="2400" dirty="0"/>
              <a:t>Метод обратного распространения ошибки – что это, зачем это. </a:t>
            </a:r>
            <a:endParaRPr lang="en-US" sz="2400" dirty="0"/>
          </a:p>
          <a:p>
            <a:r>
              <a:rPr lang="ru-RU" sz="2400" dirty="0"/>
              <a:t>Эпоха</a:t>
            </a:r>
            <a:endParaRPr lang="en-US" sz="2400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7FBA4D-16FD-47A1-8072-3DAA1240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FB43E4-D0F1-4C1F-A35B-CA62ECB3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F9C8-9F32-4087-8E80-4E3E5352BA8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12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C30E-5115-A663-41AA-36A13BAD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2569B-4DE3-B1C8-BF4B-16C781A5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072" y="289334"/>
            <a:ext cx="7886700" cy="583406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Рассмотренные в Лекции 4 понятия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4FA63D-0DC7-FD15-BACD-EE40D41EC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2737"/>
            <a:ext cx="8124324" cy="5083072"/>
          </a:xfrm>
        </p:spPr>
        <p:txBody>
          <a:bodyPr>
            <a:normAutofit/>
          </a:bodyPr>
          <a:lstStyle/>
          <a:p>
            <a:r>
              <a:rPr lang="ru-RU" sz="2400" dirty="0"/>
              <a:t>Подход </a:t>
            </a:r>
            <a:r>
              <a:rPr lang="ru-RU" sz="2400" dirty="0" err="1"/>
              <a:t>Бэйеса</a:t>
            </a:r>
            <a:r>
              <a:rPr lang="ru-RU" sz="2400" dirty="0"/>
              <a:t> к анализу данных</a:t>
            </a:r>
          </a:p>
          <a:p>
            <a:r>
              <a:rPr lang="ru-RU" sz="2400" dirty="0"/>
              <a:t>Классификатор по наивному методу </a:t>
            </a:r>
            <a:r>
              <a:rPr lang="ru-RU" sz="2400" dirty="0" err="1"/>
              <a:t>Бэйеса</a:t>
            </a:r>
            <a:endParaRPr lang="ru-RU" sz="2400" dirty="0"/>
          </a:p>
          <a:p>
            <a:r>
              <a:rPr lang="ru-RU" sz="2400" dirty="0"/>
              <a:t>Локальная независимость</a:t>
            </a:r>
          </a:p>
          <a:p>
            <a:r>
              <a:rPr lang="ru-RU" sz="2400" dirty="0"/>
              <a:t>Модель мешка слов</a:t>
            </a:r>
          </a:p>
          <a:p>
            <a:r>
              <a:rPr lang="ru-RU" sz="2400" dirty="0"/>
              <a:t>Лапласово сглаживание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8A7A79C-7EFF-97CB-3330-FDFDF0328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095310-D59B-1141-E31D-91646041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CF9C8-9F32-4087-8E80-4E3E5352BA8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68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4A6D0-C83C-4CC6-8BE8-6C5AEC04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2" y="116024"/>
            <a:ext cx="9011344" cy="1348142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«Города </a:t>
            </a:r>
            <a:r>
              <a:rPr lang="en-US" sz="3600" dirty="0"/>
              <a:t>UK West Country</a:t>
            </a:r>
            <a:r>
              <a:rPr lang="ru-RU" sz="3600" dirty="0"/>
              <a:t>»</a:t>
            </a:r>
            <a:r>
              <a:rPr lang="en-US" sz="3600" dirty="0"/>
              <a:t> </a:t>
            </a:r>
            <a:r>
              <a:rPr lang="ru-RU" sz="3600" dirty="0"/>
              <a:t>(таблица </a:t>
            </a:r>
            <a:r>
              <a:rPr lang="en-US" sz="3600" dirty="0"/>
              <a:t>45x6), 1</a:t>
            </a:r>
            <a:br>
              <a:rPr lang="ru-RU" sz="3600" dirty="0"/>
            </a:br>
            <a:r>
              <a:rPr lang="ru-RU" sz="3600" dirty="0"/>
              <a:t>                 Задача: визуализировать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BA380-B4D9-478B-A019-17A2E4BC2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            </a:t>
            </a:r>
            <a:r>
              <a:rPr lang="ru-RU" dirty="0"/>
              <a:t>               </a:t>
            </a:r>
            <a:r>
              <a:rPr lang="en-US" dirty="0"/>
              <a:t>        </a:t>
            </a:r>
            <a:r>
              <a:rPr lang="en-US" sz="2400" b="1" dirty="0" err="1"/>
              <a:t>Pop.Res</a:t>
            </a:r>
            <a:r>
              <a:rPr lang="en-US" sz="2400" b="1" dirty="0"/>
              <a:t>   </a:t>
            </a:r>
            <a:r>
              <a:rPr lang="en-US" sz="2400" b="1" dirty="0" err="1"/>
              <a:t>PSchool</a:t>
            </a:r>
            <a:r>
              <a:rPr lang="en-US" sz="2400" b="1" dirty="0"/>
              <a:t>  Doctor  Bank  Petrol  </a:t>
            </a:r>
            <a:r>
              <a:rPr lang="en-US" sz="2400" b="1" dirty="0" err="1"/>
              <a:t>PostOf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                                 </a:t>
            </a:r>
            <a:r>
              <a:rPr lang="ru-RU" sz="2400" dirty="0"/>
              <a:t>3660           1           0           2           2           1</a:t>
            </a:r>
          </a:p>
          <a:p>
            <a:pPr marL="0" indent="0">
              <a:buNone/>
            </a:pPr>
            <a:r>
              <a:rPr lang="ru-RU" sz="2400" dirty="0"/>
              <a:t> </a:t>
            </a:r>
            <a:r>
              <a:rPr lang="en-US" sz="2400" dirty="0"/>
              <a:t>  </a:t>
            </a:r>
            <a:r>
              <a:rPr lang="ru-RU" sz="2400" dirty="0"/>
              <a:t>       </a:t>
            </a:r>
            <a:r>
              <a:rPr lang="en-US" sz="2400" dirty="0"/>
              <a:t>                       </a:t>
            </a:r>
            <a:r>
              <a:rPr lang="ru-RU" sz="2400" dirty="0"/>
              <a:t>2362           1           0           1           0           1</a:t>
            </a:r>
          </a:p>
          <a:p>
            <a:pPr marL="0" indent="0">
              <a:buNone/>
            </a:pPr>
            <a:r>
              <a:rPr lang="ru-RU" sz="2400" dirty="0"/>
              <a:t>   </a:t>
            </a:r>
            <a:r>
              <a:rPr lang="en-US" sz="2400" dirty="0"/>
              <a:t>  </a:t>
            </a:r>
            <a:r>
              <a:rPr lang="ru-RU" sz="2400" dirty="0"/>
              <a:t>    </a:t>
            </a:r>
            <a:r>
              <a:rPr lang="en-US" sz="2400" dirty="0"/>
              <a:t>                      </a:t>
            </a:r>
            <a:r>
              <a:rPr lang="ru-RU" sz="2400" dirty="0"/>
              <a:t>12553           5           2           6           5           2</a:t>
            </a:r>
          </a:p>
          <a:p>
            <a:pPr marL="0" indent="0">
              <a:buNone/>
            </a:pPr>
            <a:r>
              <a:rPr lang="ru-RU" sz="2400" dirty="0"/>
              <a:t>     </a:t>
            </a:r>
            <a:r>
              <a:rPr lang="en-US" sz="2400" dirty="0"/>
              <a:t>  </a:t>
            </a:r>
            <a:r>
              <a:rPr lang="ru-RU" sz="2400" dirty="0"/>
              <a:t>  </a:t>
            </a:r>
            <a:r>
              <a:rPr lang="en-US" sz="2400" dirty="0"/>
              <a:t>                      </a:t>
            </a:r>
            <a:r>
              <a:rPr lang="ru-RU" sz="2400" dirty="0"/>
              <a:t>15865           7           3           5           3           5</a:t>
            </a:r>
          </a:p>
          <a:p>
            <a:pPr marL="0" indent="0">
              <a:buNone/>
            </a:pPr>
            <a:r>
              <a:rPr lang="ru-RU" sz="2400" dirty="0"/>
              <a:t>       </a:t>
            </a:r>
            <a:r>
              <a:rPr lang="en-US" sz="2400" dirty="0"/>
              <a:t>   </a:t>
            </a:r>
            <a:r>
              <a:rPr lang="ru-RU" sz="2400" dirty="0"/>
              <a:t> </a:t>
            </a:r>
            <a:r>
              <a:rPr lang="en-US" sz="2400" dirty="0"/>
              <a:t>                      </a:t>
            </a:r>
            <a:r>
              <a:rPr lang="ru-RU" sz="2400" dirty="0"/>
              <a:t>2786           2           1           1           2           1</a:t>
            </a:r>
          </a:p>
          <a:p>
            <a:pPr marL="0" indent="0">
              <a:buNone/>
            </a:pPr>
            <a:r>
              <a:rPr lang="en-US" dirty="0"/>
              <a:t>                         . . . . . . . . . . . . . . . . . . . . . . . . . . .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                               </a:t>
            </a:r>
            <a:r>
              <a:rPr lang="ru-RU" sz="2400" dirty="0"/>
              <a:t>6929           2           1           7           1           4</a:t>
            </a:r>
          </a:p>
          <a:p>
            <a:pPr marL="0" indent="0">
              <a:buNone/>
            </a:pPr>
            <a:r>
              <a:rPr lang="ru-RU" sz="2400" dirty="0"/>
              <a:t>       </a:t>
            </a:r>
            <a:r>
              <a:rPr lang="en-US" sz="2400" dirty="0"/>
              <a:t>                         </a:t>
            </a:r>
            <a:r>
              <a:rPr lang="ru-RU" sz="2400" dirty="0"/>
              <a:t>18966           9           3         19           5           7</a:t>
            </a:r>
          </a:p>
          <a:p>
            <a:pPr marL="0" indent="0">
              <a:buNone/>
            </a:pPr>
            <a:r>
              <a:rPr lang="ru-RU" sz="2400" dirty="0"/>
              <a:t>      </a:t>
            </a:r>
            <a:r>
              <a:rPr lang="en-US" sz="2400" dirty="0"/>
              <a:t>                           </a:t>
            </a:r>
            <a:r>
              <a:rPr lang="ru-RU" sz="2400" dirty="0"/>
              <a:t>  5291          1           1           5           1           1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6BFB40-A875-4725-BF4D-451876DA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85C761-02A5-4DB7-AC8B-A66F34A5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C8AB1-D8CC-4354-B18A-E31A930F63DC}"/>
              </a:ext>
            </a:extLst>
          </p:cNvPr>
          <p:cNvSpPr txBox="1"/>
          <p:nvPr/>
        </p:nvSpPr>
        <p:spPr>
          <a:xfrm>
            <a:off x="4121063" y="2974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E7EBC-B4D7-4541-92C0-4DC8C183DFCB}"/>
              </a:ext>
            </a:extLst>
          </p:cNvPr>
          <p:cNvSpPr txBox="1"/>
          <p:nvPr/>
        </p:nvSpPr>
        <p:spPr>
          <a:xfrm>
            <a:off x="133222" y="2060848"/>
            <a:ext cx="2414572" cy="3929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dirty="0"/>
              <a:t>   1 'Ashburton'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2 '</a:t>
            </a:r>
            <a:r>
              <a:rPr lang="en-US" sz="2400" dirty="0" err="1"/>
              <a:t>Bere</a:t>
            </a:r>
            <a:r>
              <a:rPr lang="en-US" sz="2400" dirty="0"/>
              <a:t> Alston'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3 '</a:t>
            </a:r>
            <a:r>
              <a:rPr lang="en-US" sz="2400" dirty="0" err="1"/>
              <a:t>Bodmin</a:t>
            </a:r>
            <a:r>
              <a:rPr lang="en-US" sz="24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4 '</a:t>
            </a:r>
            <a:r>
              <a:rPr lang="en-US" sz="2400" dirty="0" err="1"/>
              <a:t>Brixham</a:t>
            </a:r>
            <a:r>
              <a:rPr lang="en-US" sz="24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5 '</a:t>
            </a:r>
            <a:r>
              <a:rPr lang="en-US" sz="2400" dirty="0" err="1"/>
              <a:t>Buckfastleigh</a:t>
            </a:r>
            <a:r>
              <a:rPr lang="en-US" sz="2400" dirty="0"/>
              <a:t>’</a:t>
            </a:r>
          </a:p>
          <a:p>
            <a:pPr>
              <a:spcAft>
                <a:spcPts val="500"/>
              </a:spcAft>
            </a:pPr>
            <a:endParaRPr lang="en-US" sz="2400" dirty="0"/>
          </a:p>
          <a:p>
            <a:pPr>
              <a:spcAft>
                <a:spcPts val="500"/>
              </a:spcAft>
            </a:pPr>
            <a:r>
              <a:rPr lang="en-US" sz="2400" dirty="0"/>
              <a:t> 43  '</a:t>
            </a:r>
            <a:r>
              <a:rPr lang="en-US" sz="2400" dirty="0" err="1"/>
              <a:t>Torpoint</a:t>
            </a:r>
            <a:r>
              <a:rPr lang="en-US" sz="2400" dirty="0"/>
              <a:t>’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44   '</a:t>
            </a:r>
            <a:r>
              <a:rPr lang="en-US" sz="2400" dirty="0" err="1"/>
              <a:t>Totnes</a:t>
            </a:r>
            <a:r>
              <a:rPr lang="en-US" sz="2400" dirty="0"/>
              <a:t>’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45   'Truro'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24344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4A6D0-C83C-4CC6-8BE8-6C5AEC04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2" y="116024"/>
            <a:ext cx="9011344" cy="936712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«Города </a:t>
            </a:r>
            <a:r>
              <a:rPr lang="en-US" sz="3600" dirty="0"/>
              <a:t>UK West Country</a:t>
            </a:r>
            <a:r>
              <a:rPr lang="ru-RU" sz="3600" dirty="0"/>
              <a:t>»</a:t>
            </a:r>
            <a:r>
              <a:rPr lang="en-US" sz="3600" dirty="0"/>
              <a:t> </a:t>
            </a:r>
            <a:r>
              <a:rPr lang="ru-RU" sz="3600" dirty="0"/>
              <a:t>(таблица </a:t>
            </a:r>
            <a:r>
              <a:rPr lang="en-US" sz="3600" dirty="0"/>
              <a:t>45x6), 2</a:t>
            </a:r>
            <a:br>
              <a:rPr lang="ru-RU" sz="3600" dirty="0"/>
            </a:br>
            <a:r>
              <a:rPr lang="ru-RU" sz="2700" dirty="0"/>
              <a:t>Перед суммаризацией надо данные стандартизовать – привести к единому началу и масштабу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14BA380-B4D9-478B-A019-17A2E4BC21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5764" y="1333277"/>
                <a:ext cx="8579296" cy="55247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Три популярных метода стандартизации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           </a:t>
                </a:r>
                <a:r>
                  <a:rPr lang="ru-RU" dirty="0"/>
                  <a:t>       </a:t>
                </a:r>
                <a:r>
                  <a:rPr lang="en-US" sz="2000" b="1" dirty="0" err="1"/>
                  <a:t>Pop.Res</a:t>
                </a:r>
                <a:r>
                  <a:rPr lang="en-US" sz="2000" b="1" dirty="0"/>
                  <a:t>   </a:t>
                </a:r>
                <a:r>
                  <a:rPr lang="en-US" sz="2000" b="1" dirty="0" err="1"/>
                  <a:t>PSchool</a:t>
                </a:r>
                <a:r>
                  <a:rPr lang="en-US" sz="2000" b="1" dirty="0"/>
                  <a:t>  Doctor </a:t>
                </a:r>
                <a:r>
                  <a:rPr lang="ru-RU" sz="2000" b="1" dirty="0"/>
                  <a:t>  </a:t>
                </a:r>
                <a:r>
                  <a:rPr lang="en-US" sz="2000" b="1" dirty="0"/>
                  <a:t> Bank </a:t>
                </a:r>
                <a:r>
                  <a:rPr lang="ru-RU" sz="2000" b="1" dirty="0"/>
                  <a:t>   </a:t>
                </a:r>
                <a:r>
                  <a:rPr lang="en-US" sz="2000" b="1" dirty="0"/>
                  <a:t>Petrol</a:t>
                </a:r>
                <a:r>
                  <a:rPr lang="ru-RU" sz="2000" b="1" dirty="0"/>
                  <a:t>  </a:t>
                </a:r>
                <a:r>
                  <a:rPr lang="en-US" sz="2000" b="1" dirty="0"/>
                  <a:t>  </a:t>
                </a:r>
                <a:r>
                  <a:rPr lang="en-US" sz="2000" b="1" dirty="0" err="1"/>
                  <a:t>PostOf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400" dirty="0"/>
                  <a:t>               </a:t>
                </a:r>
                <a:r>
                  <a:rPr lang="en-US" sz="2000" dirty="0"/>
                  <a:t>7351.356</a:t>
                </a:r>
                <a:r>
                  <a:rPr lang="ru-RU" sz="2000" dirty="0"/>
                  <a:t> </a:t>
                </a:r>
                <a:r>
                  <a:rPr lang="en-US" sz="2000" dirty="0"/>
                  <a:t>  3.022 </a:t>
                </a:r>
                <a:r>
                  <a:rPr lang="ru-RU" sz="2000" dirty="0"/>
                  <a:t> </a:t>
                </a:r>
                <a:r>
                  <a:rPr lang="en-US" sz="2000" dirty="0"/>
                  <a:t>   1.378 </a:t>
                </a:r>
                <a:r>
                  <a:rPr lang="ru-RU" sz="2000" dirty="0"/>
                  <a:t>  </a:t>
                </a:r>
                <a:r>
                  <a:rPr lang="en-US" sz="2000" dirty="0"/>
                  <a:t>   4.311    2.044    </a:t>
                </a:r>
                <a:r>
                  <a:rPr lang="ru-RU" sz="2000" dirty="0"/>
                  <a:t> </a:t>
                </a:r>
                <a:r>
                  <a:rPr lang="en-US" sz="2000" dirty="0"/>
                  <a:t>2.622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</a:t>
                </a:r>
                <a:r>
                  <a:rPr lang="ru-RU" sz="2000" dirty="0"/>
                  <a:t>   </a:t>
                </a:r>
                <a:r>
                  <a:rPr lang="en-US" sz="2000" dirty="0"/>
                  <a:t>  </a:t>
                </a:r>
                <a:r>
                  <a:rPr lang="ru-RU" sz="2000" dirty="0"/>
                  <a:t>6193</a:t>
                </a:r>
                <a:r>
                  <a:rPr lang="en-US" sz="2000" dirty="0"/>
                  <a:t>.</a:t>
                </a:r>
                <a:r>
                  <a:rPr lang="ru-RU" sz="2000" dirty="0"/>
                  <a:t>246</a:t>
                </a:r>
                <a:r>
                  <a:rPr lang="en-US" sz="2000" dirty="0"/>
                  <a:t> </a:t>
                </a:r>
                <a:r>
                  <a:rPr lang="ru-RU" sz="2000" dirty="0"/>
                  <a:t>  2.734     1.302      4.384    1.637     2.114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:r>
                  <a:rPr lang="ru-RU" sz="2000" dirty="0"/>
                  <a:t>     </a:t>
                </a:r>
                <a:r>
                  <a:rPr lang="en-US" sz="2000" dirty="0"/>
                  <a:t>23801    </a:t>
                </a:r>
                <a:r>
                  <a:rPr lang="ru-RU" sz="2000" dirty="0"/>
                  <a:t>  13  </a:t>
                </a:r>
                <a:r>
                  <a:rPr lang="en-US" sz="2000" dirty="0"/>
                  <a:t>        </a:t>
                </a:r>
                <a:r>
                  <a:rPr lang="ru-RU" sz="2000" dirty="0"/>
                  <a:t>   4 </a:t>
                </a:r>
                <a:r>
                  <a:rPr lang="en-US" sz="2000" dirty="0"/>
                  <a:t>         </a:t>
                </a:r>
                <a:r>
                  <a:rPr lang="ru-RU" sz="2000" dirty="0"/>
                  <a:t> 19   </a:t>
                </a:r>
                <a:r>
                  <a:rPr lang="en-US" sz="2000" dirty="0"/>
                  <a:t>   </a:t>
                </a:r>
                <a:r>
                  <a:rPr lang="ru-RU" sz="2000" dirty="0"/>
                  <a:t>    7  </a:t>
                </a:r>
                <a:r>
                  <a:rPr lang="en-US" sz="2000" dirty="0"/>
                  <a:t>      </a:t>
                </a:r>
                <a:r>
                  <a:rPr lang="ru-RU" sz="2000" dirty="0"/>
                  <a:t>    9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</a:t>
                </a:r>
                <a:r>
                  <a:rPr lang="ru-RU" sz="2000" dirty="0"/>
                  <a:t>  </a:t>
                </a:r>
                <a:r>
                  <a:rPr lang="en-US" sz="2000" dirty="0"/>
                  <a:t> 2040     </a:t>
                </a:r>
                <a:r>
                  <a:rPr lang="ru-RU" sz="2000" dirty="0"/>
                  <a:t> </a:t>
                </a:r>
                <a:r>
                  <a:rPr lang="en-US" sz="2000" dirty="0"/>
                  <a:t>  </a:t>
                </a:r>
                <a:r>
                  <a:rPr lang="ru-RU" sz="2000" dirty="0"/>
                  <a:t>1 </a:t>
                </a:r>
                <a:r>
                  <a:rPr lang="en-US" sz="2000" dirty="0"/>
                  <a:t>         </a:t>
                </a:r>
                <a:r>
                  <a:rPr lang="ru-RU" sz="2000" dirty="0"/>
                  <a:t>     0  </a:t>
                </a:r>
                <a:r>
                  <a:rPr lang="en-US" sz="2000" dirty="0"/>
                  <a:t>         </a:t>
                </a:r>
                <a:r>
                  <a:rPr lang="ru-RU" sz="2000" dirty="0"/>
                  <a:t> 0 </a:t>
                </a:r>
                <a:r>
                  <a:rPr lang="en-US" sz="2000" dirty="0"/>
                  <a:t>   </a:t>
                </a:r>
                <a:r>
                  <a:rPr lang="ru-RU" sz="2000" dirty="0"/>
                  <a:t>  </a:t>
                </a:r>
                <a:r>
                  <a:rPr lang="en-US" sz="2000" dirty="0"/>
                  <a:t> </a:t>
                </a:r>
                <a:r>
                  <a:rPr lang="ru-RU" sz="2000" dirty="0"/>
                  <a:t>    0</a:t>
                </a:r>
                <a:r>
                  <a:rPr lang="en-US" sz="2000" dirty="0"/>
                  <a:t>      </a:t>
                </a:r>
                <a:r>
                  <a:rPr lang="ru-RU" sz="2000" dirty="0"/>
                  <a:t>      1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:r>
                  <a:rPr lang="ru-RU" sz="2800" dirty="0"/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𝑖𝑣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𝑖𝑣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𝑚𝑒𝑎𝑛𝑣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400" b="0" i="1" baseline="-25000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ru-RU" sz="2400" dirty="0"/>
                  <a:t> - </a:t>
                </a:r>
                <a:r>
                  <a:rPr lang="en-US" sz="2400" dirty="0"/>
                  <a:t>z-scoring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 </a:t>
                </a:r>
                <a:r>
                  <a:rPr lang="ru-RU" sz="2400" b="1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𝒊𝒗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𝒊𝒗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𝒎𝒆𝒂𝒏𝒗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𝒎𝒂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baseline="-2500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en-US" sz="2400" b="1" i="1" baseline="-25000">
                            <a:latin typeface="Cambria Math" panose="02040503050406030204" pitchFamily="18" charset="0"/>
                          </a:rPr>
                          <m:t>𝒗</m:t>
                        </m:r>
                      </m:den>
                    </m:f>
                  </m:oMath>
                </a14:m>
                <a:r>
                  <a:rPr lang="en-US" sz="2400" b="1" dirty="0"/>
                  <a:t> - </a:t>
                </a:r>
                <a:r>
                  <a:rPr lang="ru-RU" sz="2400" b="1" dirty="0"/>
                  <a:t>нормализация размахом</a:t>
                </a:r>
              </a:p>
              <a:p>
                <a:pPr marL="0" indent="0">
                  <a:buNone/>
                </a:pPr>
                <a:r>
                  <a:rPr lang="ru-RU" sz="2400" dirty="0"/>
                  <a:t>           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𝑖𝑣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𝑖𝑣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𝑚𝑖𝑛𝑣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en-US" sz="2400" i="1" baseline="-2500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𝑚𝑖𝑛𝑣</m:t>
                        </m:r>
                      </m:den>
                    </m:f>
                    <m:r>
                      <a:rPr lang="ru-RU" sz="2400" b="0" i="0" baseline="-250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- нормализация ранжирования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(</a:t>
                </a:r>
                <a:r>
                  <a:rPr lang="ru-RU" sz="2400" dirty="0"/>
                  <a:t>эта нормализация – в </a:t>
                </a:r>
                <a:r>
                  <a:rPr lang="en-US" sz="2400" dirty="0"/>
                  <a:t>scikit-learn </a:t>
                </a:r>
                <a:r>
                  <a:rPr lang="en-US" sz="2400" dirty="0">
                    <a:solidFill>
                      <a:srgbClr val="FF0000"/>
                    </a:solidFill>
                  </a:rPr>
                  <a:t>XXX</a:t>
                </a:r>
                <a:r>
                  <a:rPr lang="en-US" sz="2400" dirty="0"/>
                  <a:t>)</a:t>
                </a:r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14BA380-B4D9-478B-A019-17A2E4BC2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5764" y="1333277"/>
                <a:ext cx="8579296" cy="5524723"/>
              </a:xfrm>
              <a:blipFill>
                <a:blip r:embed="rId2"/>
                <a:stretch>
                  <a:fillRect l="-569" t="-6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6BFB40-A875-4725-BF4D-451876DA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06" y="6376851"/>
            <a:ext cx="5716488" cy="365125"/>
          </a:xfrm>
        </p:spPr>
        <p:txBody>
          <a:bodyPr/>
          <a:lstStyle/>
          <a:p>
            <a:r>
              <a:rPr lang="en-US" dirty="0"/>
              <a:t>Bac_DA_2026_i5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85C761-02A5-4DB7-AC8B-A66F34A5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C8AB1-D8CC-4354-B18A-E31A930F63DC}"/>
              </a:ext>
            </a:extLst>
          </p:cNvPr>
          <p:cNvSpPr txBox="1"/>
          <p:nvPr/>
        </p:nvSpPr>
        <p:spPr>
          <a:xfrm>
            <a:off x="4121063" y="2974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E7EBC-B4D7-4541-92C0-4DC8C183DFCB}"/>
              </a:ext>
            </a:extLst>
          </p:cNvPr>
          <p:cNvSpPr txBox="1"/>
          <p:nvPr/>
        </p:nvSpPr>
        <p:spPr>
          <a:xfrm>
            <a:off x="128842" y="1988840"/>
            <a:ext cx="1225015" cy="17620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dirty="0"/>
              <a:t>    </a:t>
            </a:r>
            <a:r>
              <a:rPr lang="en-US" sz="2400" dirty="0">
                <a:latin typeface="Times New Roman" panose="02020603050405020304" pitchFamily="18" charset="0"/>
              </a:rPr>
              <a:t>Mean</a:t>
            </a:r>
          </a:p>
          <a:p>
            <a:pPr>
              <a:spcAft>
                <a:spcPts val="500"/>
              </a:spcAft>
            </a:pPr>
            <a:r>
              <a:rPr lang="en-US" sz="2400" dirty="0">
                <a:latin typeface="Times New Roman" panose="02020603050405020304" pitchFamily="18" charset="0"/>
              </a:rPr>
              <a:t>    Std</a:t>
            </a:r>
          </a:p>
          <a:p>
            <a:pPr>
              <a:spcAft>
                <a:spcPts val="500"/>
              </a:spcAft>
            </a:pPr>
            <a:r>
              <a:rPr lang="en-US" sz="2400" dirty="0">
                <a:latin typeface="Times New Roman" panose="02020603050405020304" pitchFamily="18" charset="0"/>
              </a:rPr>
              <a:t>    Max</a:t>
            </a:r>
          </a:p>
          <a:p>
            <a:pPr>
              <a:spcAft>
                <a:spcPts val="500"/>
              </a:spcAft>
            </a:pPr>
            <a:r>
              <a:rPr lang="en-US" sz="2400" dirty="0">
                <a:latin typeface="Times New Roman" panose="02020603050405020304" pitchFamily="18" charset="0"/>
              </a:rPr>
              <a:t>    Min</a:t>
            </a:r>
            <a:endParaRPr lang="ru-RU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52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4A6D0-C83C-4CC6-8BE8-6C5AEC04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2" y="116024"/>
            <a:ext cx="9011344" cy="615813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«</a:t>
            </a:r>
            <a:r>
              <a:rPr lang="ru-RU" sz="3200" dirty="0"/>
              <a:t>Города </a:t>
            </a:r>
            <a:r>
              <a:rPr lang="en-US" sz="3200" dirty="0"/>
              <a:t>UK West Country</a:t>
            </a:r>
            <a:r>
              <a:rPr lang="ru-RU" sz="3200" dirty="0"/>
              <a:t>»</a:t>
            </a:r>
            <a:r>
              <a:rPr lang="en-US" sz="3200" dirty="0"/>
              <a:t> </a:t>
            </a:r>
            <a:r>
              <a:rPr lang="ru-RU" sz="3200" dirty="0"/>
              <a:t>(таблица </a:t>
            </a:r>
            <a:r>
              <a:rPr lang="en-US" sz="3200" dirty="0"/>
              <a:t>45x6), 3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BA380-B4D9-478B-A019-17A2E4BC2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579296" cy="500141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                 </a:t>
            </a:r>
            <a:r>
              <a:rPr lang="ru-RU" sz="2800" dirty="0">
                <a:solidFill>
                  <a:srgbClr val="FF0000"/>
                </a:solidFill>
              </a:rPr>
              <a:t>нормализация </a:t>
            </a:r>
            <a:r>
              <a:rPr lang="en-US" sz="2800" dirty="0">
                <a:solidFill>
                  <a:srgbClr val="FF0000"/>
                </a:solidFill>
              </a:rPr>
              <a:t>  </a:t>
            </a:r>
            <a:r>
              <a:rPr lang="en-US" sz="2800" b="1" dirty="0">
                <a:solidFill>
                  <a:srgbClr val="FF0000"/>
                </a:solidFill>
              </a:rPr>
              <a:t>z-scoring</a:t>
            </a: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ru-RU" dirty="0"/>
              <a:t>           </a:t>
            </a:r>
            <a:r>
              <a:rPr lang="en-US" sz="2400" b="1" dirty="0" err="1"/>
              <a:t>Pop.Res</a:t>
            </a:r>
            <a:r>
              <a:rPr lang="en-US" sz="2400" b="1" dirty="0"/>
              <a:t>   </a:t>
            </a:r>
            <a:r>
              <a:rPr lang="en-US" sz="2400" b="1" dirty="0" err="1"/>
              <a:t>PSchool</a:t>
            </a:r>
            <a:r>
              <a:rPr lang="en-US" sz="2400" b="1" dirty="0"/>
              <a:t>  Doctor  Bank  </a:t>
            </a:r>
            <a:r>
              <a:rPr lang="ru-RU" sz="2400" b="1" dirty="0"/>
              <a:t>    </a:t>
            </a:r>
            <a:r>
              <a:rPr lang="en-US" sz="2400" b="1" dirty="0"/>
              <a:t>Petrol </a:t>
            </a:r>
            <a:r>
              <a:rPr lang="ru-RU" sz="2400" b="1" dirty="0"/>
              <a:t>   </a:t>
            </a:r>
            <a:r>
              <a:rPr lang="en-US" sz="2400" b="1" dirty="0"/>
              <a:t> </a:t>
            </a:r>
            <a:r>
              <a:rPr lang="en-US" sz="2400" b="1" dirty="0" err="1"/>
              <a:t>PostOf</a:t>
            </a:r>
            <a:endParaRPr lang="en-US" sz="2400" b="1" dirty="0"/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ru-RU" dirty="0"/>
              <a:t>          </a:t>
            </a:r>
            <a:r>
              <a:rPr lang="en-US" dirty="0"/>
              <a:t> </a:t>
            </a:r>
            <a:r>
              <a:rPr lang="ru-RU" dirty="0"/>
              <a:t>     </a:t>
            </a:r>
            <a:r>
              <a:rPr lang="ru-RU" sz="2400" dirty="0"/>
              <a:t>-0.7643   -0.8021   -1.1577   -0.6438   -0.2031   -0.7561</a:t>
            </a:r>
          </a:p>
          <a:p>
            <a:pPr marL="0" indent="0">
              <a:buNone/>
            </a:pPr>
            <a:r>
              <a:rPr lang="ru-RU" sz="2400" dirty="0"/>
              <a:t>   </a:t>
            </a:r>
            <a:r>
              <a:rPr lang="en-US" sz="2400" dirty="0"/>
              <a:t>                     </a:t>
            </a:r>
            <a:r>
              <a:rPr lang="ru-RU" sz="2400" dirty="0"/>
              <a:t> -0.9671   -0.8021   -1.1577   -0.8155   -1.2860   -0.7561</a:t>
            </a:r>
          </a:p>
          <a:p>
            <a:pPr marL="0" indent="0">
              <a:buNone/>
            </a:pPr>
            <a:r>
              <a:rPr lang="ru-RU" sz="2400" dirty="0"/>
              <a:t>    </a:t>
            </a:r>
            <a:r>
              <a:rPr lang="en-US" sz="2400" dirty="0"/>
              <a:t>                      </a:t>
            </a:r>
            <a:r>
              <a:rPr lang="ru-RU" sz="2400" dirty="0"/>
              <a:t>0.6253    0.4813    0.5262    0.0429    1.4214   -0.3240</a:t>
            </a:r>
          </a:p>
          <a:p>
            <a:pPr marL="0" indent="0">
              <a:buNone/>
            </a:pPr>
            <a:r>
              <a:rPr lang="ru-RU" sz="2400" dirty="0"/>
              <a:t>    </a:t>
            </a:r>
            <a:r>
              <a:rPr lang="en-US" sz="2400" dirty="0"/>
              <a:t>                      </a:t>
            </a:r>
            <a:r>
              <a:rPr lang="ru-RU" sz="2400" dirty="0"/>
              <a:t>1.1428    1.1230    1.3682   -0.1288    0.3384    0.9721</a:t>
            </a:r>
          </a:p>
          <a:p>
            <a:pPr marL="0" indent="0">
              <a:buNone/>
            </a:pPr>
            <a:r>
              <a:rPr lang="ru-RU" sz="2400" dirty="0"/>
              <a:t>   </a:t>
            </a:r>
            <a:r>
              <a:rPr lang="en-US" sz="2400" dirty="0"/>
              <a:t>                      </a:t>
            </a:r>
            <a:r>
              <a:rPr lang="ru-RU" sz="2400" dirty="0"/>
              <a:t>-0.9009   -0.4813   -0.3157   -0.8155   -0.2031   -0.7561</a:t>
            </a:r>
          </a:p>
          <a:p>
            <a:pPr marL="0" indent="0">
              <a:buNone/>
            </a:pPr>
            <a:r>
              <a:rPr lang="ru-RU" sz="2400" dirty="0"/>
              <a:t>   </a:t>
            </a:r>
            <a:r>
              <a:rPr lang="en-US" sz="2400" dirty="0"/>
              <a:t>                      </a:t>
            </a:r>
            <a:r>
              <a:rPr lang="ru-RU" sz="2400" dirty="0"/>
              <a:t>-0.2535   -0.4813   -0.3157    0.2146   -0.7445    0.5401</a:t>
            </a:r>
          </a:p>
          <a:p>
            <a:pPr marL="0" indent="0">
              <a:buNone/>
            </a:pPr>
            <a:r>
              <a:rPr lang="ru-RU" sz="2400" dirty="0"/>
              <a:t>    </a:t>
            </a:r>
            <a:r>
              <a:rPr lang="en-US" sz="2400" dirty="0"/>
              <a:t>                       </a:t>
            </a:r>
            <a:r>
              <a:rPr lang="ru-RU" sz="2400" dirty="0"/>
              <a:t>1.6273    1.7646    1.3682    </a:t>
            </a:r>
            <a:r>
              <a:rPr lang="ru-RU" sz="2400" b="1" dirty="0"/>
              <a:t>2.2747</a:t>
            </a:r>
            <a:r>
              <a:rPr lang="ru-RU" sz="2400" dirty="0"/>
              <a:t>    1.4214    1.8362</a:t>
            </a:r>
          </a:p>
          <a:p>
            <a:pPr marL="0" indent="0">
              <a:buNone/>
            </a:pPr>
            <a:r>
              <a:rPr lang="ru-RU" sz="2400" dirty="0"/>
              <a:t>   </a:t>
            </a:r>
            <a:r>
              <a:rPr lang="en-US" sz="2400" dirty="0"/>
              <a:t>                       </a:t>
            </a:r>
            <a:r>
              <a:rPr lang="ru-RU" sz="2400" dirty="0"/>
              <a:t>-0.5095   -0.8021   -0.3157   -0.1288   -0.7445  -0.7561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100" dirty="0">
                <a:solidFill>
                  <a:srgbClr val="FF0000"/>
                </a:solidFill>
              </a:rPr>
              <a:t>В основном числа между -1 и 1, но бывают и ±2 (</a:t>
            </a:r>
            <a:r>
              <a:rPr lang="en-US" sz="2100" dirty="0">
                <a:solidFill>
                  <a:srgbClr val="FF0000"/>
                </a:solidFill>
              </a:rPr>
              <a:t>~5%) , </a:t>
            </a:r>
            <a:r>
              <a:rPr lang="ru-RU" sz="2100" dirty="0">
                <a:solidFill>
                  <a:srgbClr val="FF0000"/>
                </a:solidFill>
              </a:rPr>
              <a:t>и ±</a:t>
            </a:r>
            <a:r>
              <a:rPr lang="en-US" sz="2100" dirty="0">
                <a:solidFill>
                  <a:srgbClr val="FF0000"/>
                </a:solidFill>
              </a:rPr>
              <a:t>3 (~0.3%)</a:t>
            </a:r>
            <a:endParaRPr lang="ru-RU" sz="2100" dirty="0">
              <a:solidFill>
                <a:srgbClr val="FF0000"/>
              </a:solidFill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6BFB40-A875-4725-BF4D-451876DA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85C761-02A5-4DB7-AC8B-A66F34A5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C8AB1-D8CC-4354-B18A-E31A930F63DC}"/>
              </a:ext>
            </a:extLst>
          </p:cNvPr>
          <p:cNvSpPr txBox="1"/>
          <p:nvPr/>
        </p:nvSpPr>
        <p:spPr>
          <a:xfrm>
            <a:off x="4121063" y="2974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E7EBC-B4D7-4541-92C0-4DC8C183DFCB}"/>
              </a:ext>
            </a:extLst>
          </p:cNvPr>
          <p:cNvSpPr txBox="1"/>
          <p:nvPr/>
        </p:nvSpPr>
        <p:spPr>
          <a:xfrm>
            <a:off x="0" y="1877538"/>
            <a:ext cx="2246128" cy="3126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dirty="0"/>
              <a:t>    </a:t>
            </a:r>
            <a:r>
              <a:rPr lang="en-US" sz="2000" dirty="0"/>
              <a:t>'Ashburton’</a:t>
            </a:r>
            <a:r>
              <a:rPr lang="ru-RU" sz="2000" dirty="0"/>
              <a:t> </a:t>
            </a:r>
            <a:endParaRPr lang="en-US" sz="2000" dirty="0"/>
          </a:p>
          <a:p>
            <a:pPr>
              <a:spcAft>
                <a:spcPts val="500"/>
              </a:spcAft>
            </a:pPr>
            <a:r>
              <a:rPr lang="en-US" sz="2000" dirty="0"/>
              <a:t>    '</a:t>
            </a:r>
            <a:r>
              <a:rPr lang="en-US" sz="2000" dirty="0" err="1"/>
              <a:t>Bere</a:t>
            </a:r>
            <a:r>
              <a:rPr lang="en-US" sz="2000" dirty="0"/>
              <a:t> Alston'</a:t>
            </a:r>
          </a:p>
          <a:p>
            <a:pPr>
              <a:spcAft>
                <a:spcPts val="500"/>
              </a:spcAft>
            </a:pPr>
            <a:r>
              <a:rPr lang="en-US" sz="2000" dirty="0"/>
              <a:t>    '</a:t>
            </a:r>
            <a:r>
              <a:rPr lang="en-US" sz="2000" dirty="0" err="1"/>
              <a:t>Bodmin</a:t>
            </a:r>
            <a:r>
              <a:rPr lang="en-US" sz="20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000" dirty="0"/>
              <a:t>    '</a:t>
            </a:r>
            <a:r>
              <a:rPr lang="en-US" sz="2000" dirty="0" err="1"/>
              <a:t>Brixham</a:t>
            </a:r>
            <a:r>
              <a:rPr lang="en-US" sz="20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000" dirty="0"/>
              <a:t>    '</a:t>
            </a:r>
            <a:r>
              <a:rPr lang="en-US" sz="2000" dirty="0" err="1"/>
              <a:t>Buckfastleigh</a:t>
            </a:r>
            <a:r>
              <a:rPr lang="en-US" sz="2000" dirty="0"/>
              <a:t>’</a:t>
            </a:r>
          </a:p>
          <a:p>
            <a:pPr>
              <a:spcAft>
                <a:spcPts val="500"/>
              </a:spcAft>
            </a:pPr>
            <a:r>
              <a:rPr lang="en-US" sz="2000" dirty="0"/>
              <a:t>    '</a:t>
            </a:r>
            <a:r>
              <a:rPr lang="en-US" sz="2000" dirty="0" err="1"/>
              <a:t>Torpoint</a:t>
            </a:r>
            <a:r>
              <a:rPr lang="en-US" sz="20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000" dirty="0"/>
              <a:t>    '</a:t>
            </a:r>
            <a:r>
              <a:rPr lang="en-US" sz="2000" dirty="0" err="1"/>
              <a:t>Totnes</a:t>
            </a:r>
            <a:r>
              <a:rPr lang="en-US" sz="20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000" dirty="0"/>
              <a:t>    'Truro</a:t>
            </a:r>
            <a:r>
              <a:rPr lang="en-US" sz="2400" dirty="0"/>
              <a:t>'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3071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4A6D0-C83C-4CC6-8BE8-6C5AEC04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2" y="116024"/>
            <a:ext cx="9011344" cy="1143000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«Города </a:t>
            </a:r>
            <a:r>
              <a:rPr lang="en-US" sz="3600" dirty="0"/>
              <a:t>UK West Country</a:t>
            </a:r>
            <a:r>
              <a:rPr lang="ru-RU" sz="3600" dirty="0"/>
              <a:t>»</a:t>
            </a:r>
            <a:r>
              <a:rPr lang="en-US" sz="3600" dirty="0"/>
              <a:t> </a:t>
            </a:r>
            <a:r>
              <a:rPr lang="ru-RU" sz="3600" dirty="0"/>
              <a:t>(таблица </a:t>
            </a:r>
            <a:r>
              <a:rPr lang="en-US" sz="3600" dirty="0"/>
              <a:t>45x6), 4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BA380-B4D9-478B-A019-17A2E4BC2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579296" cy="500141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                   </a:t>
            </a:r>
            <a:r>
              <a:rPr lang="ru-RU" sz="2800" b="1" dirty="0">
                <a:solidFill>
                  <a:srgbClr val="FF0000"/>
                </a:solidFill>
              </a:rPr>
              <a:t>нормализация размахом</a:t>
            </a:r>
            <a:endParaRPr lang="en-US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ru-RU" dirty="0"/>
              <a:t>          </a:t>
            </a:r>
            <a:r>
              <a:rPr lang="en-US" sz="2400" b="1" dirty="0" err="1"/>
              <a:t>Pop.Res</a:t>
            </a:r>
            <a:r>
              <a:rPr lang="en-US" sz="2400" b="1" dirty="0"/>
              <a:t>   </a:t>
            </a:r>
            <a:r>
              <a:rPr lang="en-US" sz="2400" b="1" dirty="0" err="1"/>
              <a:t>PSchool</a:t>
            </a:r>
            <a:r>
              <a:rPr lang="en-US" sz="2400" b="1" dirty="0"/>
              <a:t>  Doctor  </a:t>
            </a:r>
            <a:r>
              <a:rPr lang="ru-RU" sz="2400" b="1" dirty="0"/>
              <a:t>   </a:t>
            </a:r>
            <a:r>
              <a:rPr lang="en-US" sz="2400" b="1" dirty="0"/>
              <a:t>Bank </a:t>
            </a:r>
            <a:r>
              <a:rPr lang="ru-RU" sz="2400" b="1" dirty="0"/>
              <a:t>    </a:t>
            </a:r>
            <a:r>
              <a:rPr lang="en-US" sz="2400" b="1" dirty="0"/>
              <a:t> Petrol</a:t>
            </a:r>
            <a:r>
              <a:rPr lang="ru-RU" sz="2400" b="1" dirty="0"/>
              <a:t> </a:t>
            </a:r>
            <a:r>
              <a:rPr lang="en-US" sz="2400" b="1" dirty="0"/>
              <a:t>  </a:t>
            </a:r>
            <a:r>
              <a:rPr lang="en-US" sz="2400" b="1" dirty="0" err="1"/>
              <a:t>PostOf</a:t>
            </a:r>
            <a:endParaRPr lang="en-US" sz="2400" b="1" dirty="0"/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ru-RU" dirty="0"/>
              <a:t>           </a:t>
            </a:r>
            <a:r>
              <a:rPr lang="en-US" dirty="0"/>
              <a:t> </a:t>
            </a:r>
            <a:r>
              <a:rPr lang="ru-RU" dirty="0"/>
              <a:t>     </a:t>
            </a:r>
            <a:r>
              <a:rPr lang="en-US" sz="2400" dirty="0"/>
              <a:t>-0.2946   -0.3125   -0.4583  -0.2083   -0.0750   -0.2917</a:t>
            </a:r>
          </a:p>
          <a:p>
            <a:pPr marL="0" indent="0">
              <a:buNone/>
            </a:pPr>
            <a:r>
              <a:rPr lang="en-US" sz="2400" dirty="0"/>
              <a:t>                         -0.3728   -0.3125   -0.4583   -0.2639   -0.4750  -0.2917</a:t>
            </a:r>
          </a:p>
          <a:p>
            <a:pPr marL="0" indent="0">
              <a:buNone/>
            </a:pPr>
            <a:r>
              <a:rPr lang="en-US" sz="2400" dirty="0"/>
              <a:t>                           0.2410    0.1875    0.2083    0.0139    0.5250   -0.1250</a:t>
            </a:r>
          </a:p>
          <a:p>
            <a:pPr marL="0" indent="0">
              <a:buNone/>
            </a:pPr>
            <a:r>
              <a:rPr lang="en-US" sz="2400" dirty="0"/>
              <a:t>                           0.4405    0.4375    0.5417   -0.0417    0.1250    0.3750</a:t>
            </a:r>
          </a:p>
          <a:p>
            <a:pPr marL="0" indent="0">
              <a:buNone/>
            </a:pPr>
            <a:r>
              <a:rPr lang="en-US" sz="2400" dirty="0"/>
              <a:t>                         -0.3472   -0.1875   -0.1250   -0.2639   -0.0750   -0.2917</a:t>
            </a:r>
          </a:p>
          <a:p>
            <a:pPr marL="0" indent="0">
              <a:buNone/>
            </a:pPr>
            <a:r>
              <a:rPr lang="en-US" sz="2400" dirty="0"/>
              <a:t>                         -0.0977   -0.1875   -0.1250    0.0694   -0.2750    0.2083</a:t>
            </a:r>
          </a:p>
          <a:p>
            <a:pPr marL="0" indent="0">
              <a:buNone/>
            </a:pPr>
            <a:r>
              <a:rPr lang="en-US" sz="2400" dirty="0"/>
              <a:t>                           0.6272    0.6875    0.5417    0.7361    0.5250    0.7083</a:t>
            </a:r>
          </a:p>
          <a:p>
            <a:pPr marL="0" indent="0">
              <a:buNone/>
            </a:pPr>
            <a:r>
              <a:rPr lang="en-US" sz="2400" dirty="0"/>
              <a:t>                         </a:t>
            </a:r>
            <a:r>
              <a:rPr lang="ru-RU" sz="2400" dirty="0"/>
              <a:t> </a:t>
            </a:r>
            <a:r>
              <a:rPr lang="en-US" sz="2400" dirty="0"/>
              <a:t>-0.1964   -0.3125   -0.1250   -0.0417   -0.2750   -0.2917</a:t>
            </a:r>
          </a:p>
          <a:p>
            <a:pPr marL="0" indent="0">
              <a:buNone/>
            </a:pPr>
            <a:r>
              <a:rPr lang="ru-RU" sz="2400" dirty="0"/>
              <a:t>        </a:t>
            </a:r>
            <a:r>
              <a:rPr lang="ru-RU" sz="2400" dirty="0">
                <a:solidFill>
                  <a:srgbClr val="FF0000"/>
                </a:solidFill>
              </a:rPr>
              <a:t>Все числа в пределах </a:t>
            </a:r>
            <a:r>
              <a:rPr lang="en-US" sz="2400" dirty="0">
                <a:solidFill>
                  <a:srgbClr val="FF0000"/>
                </a:solidFill>
              </a:rPr>
              <a:t>±</a:t>
            </a:r>
            <a:r>
              <a:rPr lang="ru-RU" sz="2400" dirty="0">
                <a:solidFill>
                  <a:srgbClr val="FF0000"/>
                </a:solidFill>
              </a:rPr>
              <a:t> 1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        Вопрос: </a:t>
            </a:r>
            <a:r>
              <a:rPr lang="ru-RU" sz="2400" b="1" dirty="0">
                <a:solidFill>
                  <a:srgbClr val="FF0000"/>
                </a:solidFill>
              </a:rPr>
              <a:t>Чему равно среднее в 1-м столбце? А в 3-м?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6BFB40-A875-4725-BF4D-451876DA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85C761-02A5-4DB7-AC8B-A66F34A5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C8AB1-D8CC-4354-B18A-E31A930F63DC}"/>
              </a:ext>
            </a:extLst>
          </p:cNvPr>
          <p:cNvSpPr txBox="1"/>
          <p:nvPr/>
        </p:nvSpPr>
        <p:spPr>
          <a:xfrm>
            <a:off x="4121063" y="2974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E7EBC-B4D7-4541-92C0-4DC8C183DFCB}"/>
              </a:ext>
            </a:extLst>
          </p:cNvPr>
          <p:cNvSpPr txBox="1"/>
          <p:nvPr/>
        </p:nvSpPr>
        <p:spPr>
          <a:xfrm>
            <a:off x="88454" y="1595985"/>
            <a:ext cx="2452916" cy="3280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dirty="0"/>
              <a:t>    </a:t>
            </a:r>
            <a:r>
              <a:rPr lang="en-US" sz="2200" dirty="0"/>
              <a:t>'Ashburton’</a:t>
            </a:r>
            <a:r>
              <a:rPr lang="ru-RU" sz="2200" dirty="0"/>
              <a:t> </a:t>
            </a:r>
            <a:endParaRPr lang="en-US" sz="2200" dirty="0"/>
          </a:p>
          <a:p>
            <a:pPr>
              <a:spcAft>
                <a:spcPts val="500"/>
              </a:spcAft>
            </a:pPr>
            <a:r>
              <a:rPr lang="en-US" sz="2200" dirty="0"/>
              <a:t>    '</a:t>
            </a:r>
            <a:r>
              <a:rPr lang="en-US" sz="2200" dirty="0" err="1"/>
              <a:t>Bere</a:t>
            </a:r>
            <a:r>
              <a:rPr lang="en-US" sz="2200" dirty="0"/>
              <a:t> Alston'</a:t>
            </a:r>
          </a:p>
          <a:p>
            <a:pPr>
              <a:spcAft>
                <a:spcPts val="500"/>
              </a:spcAft>
            </a:pPr>
            <a:r>
              <a:rPr lang="en-US" sz="2200" dirty="0"/>
              <a:t>    '</a:t>
            </a:r>
            <a:r>
              <a:rPr lang="en-US" sz="2200" dirty="0" err="1"/>
              <a:t>Bodmin</a:t>
            </a:r>
            <a:r>
              <a:rPr lang="en-US" sz="22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200" dirty="0"/>
              <a:t>    '</a:t>
            </a:r>
            <a:r>
              <a:rPr lang="en-US" sz="2200" dirty="0" err="1"/>
              <a:t>Brixham</a:t>
            </a:r>
            <a:r>
              <a:rPr lang="en-US" sz="22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200" dirty="0"/>
              <a:t>    '</a:t>
            </a:r>
            <a:r>
              <a:rPr lang="en-US" sz="2200" dirty="0" err="1"/>
              <a:t>Buckfastleigh</a:t>
            </a:r>
            <a:r>
              <a:rPr lang="en-US" sz="2200" dirty="0"/>
              <a:t>’</a:t>
            </a:r>
          </a:p>
          <a:p>
            <a:pPr>
              <a:spcAft>
                <a:spcPts val="500"/>
              </a:spcAft>
            </a:pPr>
            <a:r>
              <a:rPr lang="en-US" sz="2200" dirty="0"/>
              <a:t>    '</a:t>
            </a:r>
            <a:r>
              <a:rPr lang="en-US" sz="2200" dirty="0" err="1"/>
              <a:t>Torpoint</a:t>
            </a:r>
            <a:r>
              <a:rPr lang="en-US" sz="22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200" dirty="0"/>
              <a:t>    'Totnes'</a:t>
            </a:r>
          </a:p>
          <a:p>
            <a:pPr>
              <a:spcAft>
                <a:spcPts val="500"/>
              </a:spcAft>
            </a:pPr>
            <a:r>
              <a:rPr lang="en-US" sz="2200" dirty="0"/>
              <a:t>    'Truro'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186635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4A6D0-C83C-4CC6-8BE8-6C5AEC04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2" y="116024"/>
            <a:ext cx="9011344" cy="1143000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«Города </a:t>
            </a:r>
            <a:r>
              <a:rPr lang="en-US" sz="3600" dirty="0"/>
              <a:t>UK West Country</a:t>
            </a:r>
            <a:r>
              <a:rPr lang="ru-RU" sz="3600" dirty="0"/>
              <a:t>»</a:t>
            </a:r>
            <a:r>
              <a:rPr lang="en-US" sz="3600" dirty="0"/>
              <a:t> </a:t>
            </a:r>
            <a:r>
              <a:rPr lang="ru-RU" sz="3600" dirty="0"/>
              <a:t>(таблица </a:t>
            </a:r>
            <a:r>
              <a:rPr lang="en-US" sz="3600" dirty="0"/>
              <a:t>45x6), 5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BA380-B4D9-478B-A019-17A2E4BC2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579296" cy="50014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200" b="1" dirty="0">
                <a:solidFill>
                  <a:srgbClr val="FF0000"/>
                </a:solidFill>
              </a:rPr>
              <a:t>Нормализация для ранжирования</a:t>
            </a:r>
            <a:endParaRPr lang="en-US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ru-RU" dirty="0"/>
              <a:t>               </a:t>
            </a:r>
            <a:r>
              <a:rPr lang="en-US" sz="2400" b="1" dirty="0" err="1"/>
              <a:t>Pop.R</a:t>
            </a:r>
            <a:r>
              <a:rPr lang="en-US" sz="2400" b="1" dirty="0"/>
              <a:t>   </a:t>
            </a:r>
            <a:r>
              <a:rPr lang="en-US" sz="2400" b="1" dirty="0" err="1"/>
              <a:t>PScho</a:t>
            </a:r>
            <a:r>
              <a:rPr lang="en-US" sz="2400" b="1" dirty="0"/>
              <a:t>  </a:t>
            </a:r>
            <a:r>
              <a:rPr lang="en-US" sz="2400" b="1" dirty="0" err="1"/>
              <a:t>Doct</a:t>
            </a:r>
            <a:r>
              <a:rPr lang="en-US" sz="2400" b="1" dirty="0"/>
              <a:t>  </a:t>
            </a:r>
            <a:r>
              <a:rPr lang="ru-RU" sz="2400" b="1" dirty="0"/>
              <a:t> </a:t>
            </a:r>
            <a:r>
              <a:rPr lang="en-US" sz="2400" b="1" dirty="0"/>
              <a:t>Bank  </a:t>
            </a:r>
            <a:r>
              <a:rPr lang="ru-RU" sz="2400" b="1" dirty="0"/>
              <a:t>  </a:t>
            </a:r>
            <a:r>
              <a:rPr lang="en-US" sz="2400" b="1" dirty="0"/>
              <a:t>Petr     </a:t>
            </a:r>
            <a:r>
              <a:rPr lang="en-US" sz="2400" b="1" dirty="0" err="1"/>
              <a:t>PostOf</a:t>
            </a:r>
            <a:endParaRPr lang="en-US" sz="2400" b="1" dirty="0"/>
          </a:p>
          <a:p>
            <a:pPr marL="0" indent="0">
              <a:buNone/>
            </a:pPr>
            <a:r>
              <a:rPr lang="en-US" sz="2600" dirty="0"/>
              <a:t>                             </a:t>
            </a:r>
            <a:r>
              <a:rPr lang="en-US" sz="2200" dirty="0"/>
              <a:t>7.8174         0         0    </a:t>
            </a:r>
            <a:r>
              <a:rPr lang="ru-RU" sz="2200" dirty="0"/>
              <a:t>  </a:t>
            </a:r>
            <a:r>
              <a:rPr lang="en-US" sz="2200" dirty="0"/>
              <a:t>  5.56     40.00     </a:t>
            </a:r>
            <a:r>
              <a:rPr lang="ru-RU" sz="2200" dirty="0"/>
              <a:t> </a:t>
            </a:r>
            <a:r>
              <a:rPr lang="en-US" sz="2200" dirty="0"/>
              <a:t>    0</a:t>
            </a:r>
          </a:p>
          <a:p>
            <a:pPr marL="0" indent="0">
              <a:buNone/>
            </a:pPr>
            <a:r>
              <a:rPr lang="en-US" sz="2200" dirty="0"/>
              <a:t>                                   0                  0         0         0           0                0</a:t>
            </a:r>
          </a:p>
          <a:p>
            <a:pPr marL="0" indent="0">
              <a:buNone/>
            </a:pPr>
            <a:r>
              <a:rPr lang="en-US" sz="2200" dirty="0"/>
              <a:t>                                  61.37     50.00     66.67  </a:t>
            </a:r>
            <a:r>
              <a:rPr lang="ru-RU" sz="2200" dirty="0"/>
              <a:t>  </a:t>
            </a:r>
            <a:r>
              <a:rPr lang="en-US" sz="2200" dirty="0"/>
              <a:t>27.78  100.00     </a:t>
            </a:r>
            <a:r>
              <a:rPr lang="ru-RU" sz="2200" dirty="0"/>
              <a:t> </a:t>
            </a:r>
            <a:r>
              <a:rPr lang="en-US" sz="2200" dirty="0"/>
              <a:t>16.67</a:t>
            </a:r>
          </a:p>
          <a:p>
            <a:pPr marL="0" indent="0">
              <a:buNone/>
            </a:pPr>
            <a:r>
              <a:rPr lang="en-US" sz="2200" dirty="0"/>
              <a:t>                                   81.32    75.00    100.00  </a:t>
            </a:r>
            <a:r>
              <a:rPr lang="ru-RU" sz="2200" dirty="0"/>
              <a:t> </a:t>
            </a:r>
            <a:r>
              <a:rPr lang="en-US" sz="2200" dirty="0"/>
              <a:t>22.22   60.00     </a:t>
            </a:r>
            <a:r>
              <a:rPr lang="ru-RU" sz="2200" dirty="0"/>
              <a:t> </a:t>
            </a:r>
            <a:r>
              <a:rPr lang="en-US" sz="2200" dirty="0"/>
              <a:t> 66.67</a:t>
            </a:r>
          </a:p>
          <a:p>
            <a:pPr marL="0" indent="0">
              <a:buNone/>
            </a:pPr>
            <a:r>
              <a:rPr lang="en-US" sz="2200" dirty="0"/>
              <a:t>                                     2.55    12.50       33.33       0      40.00         0</a:t>
            </a:r>
          </a:p>
          <a:p>
            <a:pPr marL="0" indent="0">
              <a:buNone/>
            </a:pPr>
            <a:r>
              <a:rPr lang="en-US" sz="2200" dirty="0"/>
              <a:t>                                   27.51    12.50       33.33   33.33   20.00     50.000</a:t>
            </a:r>
          </a:p>
          <a:p>
            <a:pPr marL="0" indent="0">
              <a:buNone/>
            </a:pPr>
            <a:r>
              <a:rPr lang="en-US" sz="2200" dirty="0"/>
              <a:t>                                  100.00   100.00   100.00  100.00  100.00  </a:t>
            </a:r>
            <a:r>
              <a:rPr lang="ru-RU" sz="2200" dirty="0"/>
              <a:t> </a:t>
            </a:r>
            <a:r>
              <a:rPr lang="en-US" sz="2200" dirty="0"/>
              <a:t>100.00</a:t>
            </a:r>
          </a:p>
          <a:p>
            <a:pPr marL="0" indent="0">
              <a:buNone/>
            </a:pPr>
            <a:r>
              <a:rPr lang="en-US" sz="2200" dirty="0"/>
              <a:t>                                    17.64         0          33.33  22.22    20.00        0</a:t>
            </a:r>
            <a:endParaRPr lang="ru-RU" sz="2200" dirty="0"/>
          </a:p>
          <a:p>
            <a:pPr marL="0" indent="0">
              <a:buNone/>
            </a:pPr>
            <a:r>
              <a:rPr lang="ru-RU" sz="2600" dirty="0">
                <a:solidFill>
                  <a:srgbClr val="FF0000"/>
                </a:solidFill>
              </a:rPr>
              <a:t>Все числа положительные. А здесь – как бы в процентах</a:t>
            </a:r>
            <a:r>
              <a:rPr lang="ru-RU" sz="2200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6BFB40-A875-4725-BF4D-451876DA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85C761-02A5-4DB7-AC8B-A66F34A5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C8AB1-D8CC-4354-B18A-E31A930F63DC}"/>
              </a:ext>
            </a:extLst>
          </p:cNvPr>
          <p:cNvSpPr txBox="1"/>
          <p:nvPr/>
        </p:nvSpPr>
        <p:spPr>
          <a:xfrm>
            <a:off x="4121063" y="2974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E7EBC-B4D7-4541-92C0-4DC8C183DFCB}"/>
              </a:ext>
            </a:extLst>
          </p:cNvPr>
          <p:cNvSpPr txBox="1"/>
          <p:nvPr/>
        </p:nvSpPr>
        <p:spPr>
          <a:xfrm>
            <a:off x="353510" y="1877538"/>
            <a:ext cx="2259080" cy="3495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dirty="0"/>
              <a:t>    'Ashburton'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 '</a:t>
            </a:r>
            <a:r>
              <a:rPr lang="en-US" sz="2400" dirty="0" err="1"/>
              <a:t>Bere</a:t>
            </a:r>
            <a:r>
              <a:rPr lang="en-US" sz="2400" dirty="0"/>
              <a:t> Alston'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 '</a:t>
            </a:r>
            <a:r>
              <a:rPr lang="en-US" sz="2400" dirty="0" err="1"/>
              <a:t>Bodmin</a:t>
            </a:r>
            <a:r>
              <a:rPr lang="en-US" sz="24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 '</a:t>
            </a:r>
            <a:r>
              <a:rPr lang="en-US" sz="2400" dirty="0" err="1"/>
              <a:t>Brixham</a:t>
            </a:r>
            <a:r>
              <a:rPr lang="en-US" sz="24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 '</a:t>
            </a:r>
            <a:r>
              <a:rPr lang="en-US" sz="2400" dirty="0" err="1"/>
              <a:t>Buckfastleigh</a:t>
            </a:r>
            <a:r>
              <a:rPr lang="en-US" sz="2400" dirty="0"/>
              <a:t>’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 '</a:t>
            </a:r>
            <a:r>
              <a:rPr lang="en-US" sz="2400" dirty="0" err="1"/>
              <a:t>Torpoint</a:t>
            </a:r>
            <a:r>
              <a:rPr lang="en-US" sz="24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 '</a:t>
            </a:r>
            <a:r>
              <a:rPr lang="en-US" sz="2400" dirty="0" err="1"/>
              <a:t>Totnes</a:t>
            </a:r>
            <a:r>
              <a:rPr lang="en-US" sz="2400" dirty="0"/>
              <a:t>'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    'Truro'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7117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8676B-C335-4815-8AA6-F8669E19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63" y="147226"/>
            <a:ext cx="8003232" cy="1281113"/>
          </a:xfrm>
        </p:spPr>
        <p:txBody>
          <a:bodyPr>
            <a:normAutofit/>
          </a:bodyPr>
          <a:lstStyle/>
          <a:p>
            <a:r>
              <a:rPr lang="ru-RU" dirty="0"/>
              <a:t>Визуализировать эти данные: </a:t>
            </a:r>
            <a:br>
              <a:rPr lang="ru-RU" dirty="0"/>
            </a:br>
            <a:r>
              <a:rPr lang="ru-RU" dirty="0"/>
              <a:t>         что это значит?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E267D7-574E-40F2-B849-CA81111E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28800"/>
            <a:ext cx="8579296" cy="4497363"/>
          </a:xfrm>
        </p:spPr>
        <p:txBody>
          <a:bodyPr>
            <a:normAutofit/>
          </a:bodyPr>
          <a:lstStyle/>
          <a:p>
            <a:r>
              <a:rPr lang="ru-RU" sz="4000" dirty="0"/>
              <a:t>Представить города (объекты) на </a:t>
            </a:r>
            <a:r>
              <a:rPr lang="en-US" sz="4000" dirty="0"/>
              <a:t>2D </a:t>
            </a:r>
            <a:r>
              <a:rPr lang="ru-RU" sz="4000" dirty="0"/>
              <a:t>плоскости так, </a:t>
            </a:r>
            <a:r>
              <a:rPr lang="en-US" sz="4000" dirty="0"/>
              <a:t> </a:t>
            </a:r>
            <a:r>
              <a:rPr lang="ru-RU" sz="4000" dirty="0"/>
              <a:t>чтобы </a:t>
            </a:r>
            <a:r>
              <a:rPr lang="ru-RU" sz="4000" b="1" dirty="0"/>
              <a:t>похожие</a:t>
            </a:r>
            <a:r>
              <a:rPr lang="en-US" sz="4000" b="1" dirty="0"/>
              <a:t> </a:t>
            </a:r>
            <a:r>
              <a:rPr lang="ru-RU" sz="4000" dirty="0"/>
              <a:t>города отображались в</a:t>
            </a:r>
            <a:r>
              <a:rPr lang="en-US" sz="4000" dirty="0"/>
              <a:t> </a:t>
            </a:r>
            <a:r>
              <a:rPr lang="ru-RU" sz="4000" b="1" dirty="0"/>
              <a:t>соседние</a:t>
            </a:r>
            <a:r>
              <a:rPr lang="en-US" sz="4000" b="1" dirty="0"/>
              <a:t> </a:t>
            </a:r>
            <a:r>
              <a:rPr lang="ru-RU" sz="4000" dirty="0"/>
              <a:t>точки</a:t>
            </a:r>
            <a:r>
              <a:rPr lang="en-US" sz="4000" dirty="0"/>
              <a:t>, </a:t>
            </a:r>
            <a:r>
              <a:rPr lang="ru-RU" sz="4000" dirty="0"/>
              <a:t>а</a:t>
            </a:r>
            <a:r>
              <a:rPr lang="en-US" sz="4000" dirty="0"/>
              <a:t> </a:t>
            </a:r>
            <a:r>
              <a:rPr lang="ru-RU" sz="4000" b="1" dirty="0"/>
              <a:t>непохожие</a:t>
            </a:r>
            <a:r>
              <a:rPr lang="en-US" sz="4000" dirty="0"/>
              <a:t> </a:t>
            </a:r>
            <a:r>
              <a:rPr lang="ru-RU" sz="4000" dirty="0"/>
              <a:t>города – в </a:t>
            </a:r>
            <a:r>
              <a:rPr lang="ru-RU" sz="4000" b="1" dirty="0"/>
              <a:t>далекие </a:t>
            </a:r>
            <a:r>
              <a:rPr lang="ru-RU" sz="4000" dirty="0"/>
              <a:t>друг от друга</a:t>
            </a:r>
            <a:r>
              <a:rPr lang="en-US" sz="4000" dirty="0"/>
              <a:t> </a:t>
            </a:r>
            <a:r>
              <a:rPr lang="ru-RU" sz="4000" dirty="0"/>
              <a:t>точки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0611D02-0DAA-46AF-B3ED-3F16626E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F9D39A-BDC1-42C7-8C59-CE864FB8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56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0C9C8-38D5-4DB9-946E-75719843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123452"/>
            <a:ext cx="6589199" cy="1280890"/>
          </a:xfrm>
        </p:spPr>
        <p:txBody>
          <a:bodyPr/>
          <a:lstStyle/>
          <a:p>
            <a:r>
              <a:rPr lang="en-US" dirty="0"/>
              <a:t>Approximation approach,</a:t>
            </a:r>
            <a:r>
              <a:rPr lang="ru-RU" dirty="0"/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17638"/>
                <a:ext cx="9036496" cy="50356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data matrix  </a:t>
                </a:r>
                <a:r>
                  <a:rPr lang="en-US" b="1" i="1" dirty="0"/>
                  <a:t>Y</a:t>
                </a:r>
                <a:r>
                  <a:rPr lang="en-US" b="1" dirty="0"/>
                  <a:t>=(</a:t>
                </a:r>
                <a:r>
                  <a:rPr lang="en-US" b="1" i="1" dirty="0" err="1"/>
                  <a:t>y</a:t>
                </a:r>
                <a:r>
                  <a:rPr lang="en-US" b="1" i="1" baseline="-30000" dirty="0" err="1"/>
                  <a:t>iv</a:t>
                </a:r>
                <a:r>
                  <a:rPr lang="en-US" b="1" dirty="0"/>
                  <a:t>), </a:t>
                </a:r>
                <a:r>
                  <a:rPr lang="en-US" dirty="0" err="1"/>
                  <a:t>i</a:t>
                </a:r>
                <a:r>
                  <a:rPr lang="en-US" dirty="0"/>
                  <a:t>=1,2,…, N   (=45)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v=1,2,…, V  (=6)</a:t>
                </a:r>
              </a:p>
              <a:p>
                <a:pPr marL="0" indent="0">
                  <a:buNone/>
                </a:pPr>
                <a:r>
                  <a:rPr lang="ru-RU" dirty="0"/>
                  <a:t>     </a:t>
                </a:r>
                <a:r>
                  <a:rPr lang="en-US" dirty="0"/>
                  <a:t>find Nx1  vectors </a:t>
                </a:r>
                <a:r>
                  <a:rPr lang="en-US" b="1" i="1" dirty="0"/>
                  <a:t>z1</a:t>
                </a:r>
                <a:r>
                  <a:rPr lang="en-US" b="1" dirty="0"/>
                  <a:t>=(</a:t>
                </a:r>
                <a:r>
                  <a:rPr lang="en-US" b="1" i="1" dirty="0"/>
                  <a:t>z</a:t>
                </a:r>
                <a:r>
                  <a:rPr lang="en-US" b="1" i="1" baseline="-25000" dirty="0"/>
                  <a:t>i1</a:t>
                </a:r>
                <a:r>
                  <a:rPr lang="en-US" b="1" dirty="0"/>
                  <a:t>), </a:t>
                </a:r>
                <a:r>
                  <a:rPr lang="en-US" b="1" i="1" dirty="0"/>
                  <a:t>z2</a:t>
                </a:r>
                <a:r>
                  <a:rPr lang="en-US" b="1" dirty="0"/>
                  <a:t>=(</a:t>
                </a:r>
                <a:r>
                  <a:rPr lang="en-US" b="1" i="1" dirty="0"/>
                  <a:t>z</a:t>
                </a:r>
                <a:r>
                  <a:rPr lang="en-US" b="1" i="1" baseline="-25000" dirty="0"/>
                  <a:t>i2</a:t>
                </a:r>
                <a:r>
                  <a:rPr lang="en-US" b="1" dirty="0"/>
                  <a:t>) </a:t>
                </a:r>
                <a:r>
                  <a:rPr lang="en-US" dirty="0"/>
                  <a:t>so that residuals in equations</a:t>
                </a:r>
              </a:p>
              <a:p>
                <a:pPr marL="0" indent="0">
                  <a:buNone/>
                </a:pPr>
                <a:r>
                  <a:rPr lang="en-US" i="1" dirty="0"/>
                  <a:t>                        </a:t>
                </a:r>
                <a:endParaRPr lang="ru-RU" i="1" dirty="0"/>
              </a:p>
              <a:p>
                <a:pPr marL="0" indent="0">
                  <a:buNone/>
                </a:pPr>
                <a:r>
                  <a:rPr lang="ru-RU" i="1" dirty="0"/>
                  <a:t>                           </a:t>
                </a:r>
                <a:r>
                  <a:rPr lang="en-US" sz="2800" i="1" dirty="0"/>
                  <a:t>   </a:t>
                </a:r>
                <a:r>
                  <a:rPr lang="en-US" sz="2800" i="1" dirty="0" err="1"/>
                  <a:t>y</a:t>
                </a:r>
                <a:r>
                  <a:rPr lang="en-US" sz="2800" i="1" baseline="-25000" dirty="0" err="1"/>
                  <a:t>iv</a:t>
                </a:r>
                <a:r>
                  <a:rPr lang="en-US" sz="2800" i="1" dirty="0"/>
                  <a:t>=c</a:t>
                </a:r>
                <a:r>
                  <a:rPr lang="en-US" sz="2800" i="1" baseline="-25000" dirty="0"/>
                  <a:t>v1</a:t>
                </a:r>
                <a:r>
                  <a:rPr lang="en-US" sz="2800" i="1" dirty="0"/>
                  <a:t>z</a:t>
                </a:r>
                <a:r>
                  <a:rPr lang="en-US" sz="2800" i="1" baseline="-25000" dirty="0"/>
                  <a:t>i1</a:t>
                </a:r>
                <a:r>
                  <a:rPr lang="en-US" sz="2800" i="1" dirty="0"/>
                  <a:t> + c</a:t>
                </a:r>
                <a:r>
                  <a:rPr lang="en-US" sz="2800" i="1" baseline="-25000" dirty="0"/>
                  <a:t>v2</a:t>
                </a:r>
                <a:r>
                  <a:rPr lang="en-US" sz="2800" i="1" dirty="0"/>
                  <a:t>z</a:t>
                </a:r>
                <a:r>
                  <a:rPr lang="en-US" sz="2800" i="1" baseline="-25000" dirty="0"/>
                  <a:t>i2</a:t>
                </a:r>
                <a:r>
                  <a:rPr lang="en-US" sz="2800" i="1" dirty="0"/>
                  <a:t> + </a:t>
                </a:r>
                <a:r>
                  <a:rPr lang="en-US" sz="2800" i="1" dirty="0" err="1"/>
                  <a:t>e</a:t>
                </a:r>
                <a:r>
                  <a:rPr lang="en-US" sz="2800" i="1" baseline="-25000" dirty="0" err="1"/>
                  <a:t>iv</a:t>
                </a:r>
                <a:endParaRPr lang="en-US" sz="2800" i="1" baseline="-2500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                                       </a:t>
                </a:r>
                <a:r>
                  <a:rPr lang="en-US" b="1" dirty="0"/>
                  <a:t>are least-squares minimized</a:t>
                </a:r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sz="2800" b="0" dirty="0"/>
                  <a:t>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𝑖𝑣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𝑖𝑣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800" dirty="0"/>
                  <a:t>  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</a:t>
                </a:r>
                <a:r>
                  <a:rPr lang="en-US" sz="2400" dirty="0"/>
                  <a:t>Vectors </a:t>
                </a:r>
                <a:r>
                  <a:rPr lang="en-US" sz="2400" b="1" i="1" dirty="0"/>
                  <a:t>z1 </a:t>
                </a:r>
                <a:r>
                  <a:rPr lang="en-US" sz="2400" i="1" dirty="0"/>
                  <a:t>and</a:t>
                </a:r>
                <a:r>
                  <a:rPr lang="en-US" sz="2400" b="1" i="1" dirty="0"/>
                  <a:t> z2 </a:t>
                </a:r>
                <a:r>
                  <a:rPr lang="en-US" sz="2400" dirty="0"/>
                  <a:t>form a 2D projection of the data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17638"/>
                <a:ext cx="9036496" cy="5035698"/>
              </a:xfrm>
              <a:blipFill>
                <a:blip r:embed="rId2"/>
                <a:stretch>
                  <a:fillRect l="-472" t="-7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18AA2D-0CA0-4C2B-A109-A2BD5BA3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402D6A-D827-4F6A-A2FC-B92D2DA7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10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0E45-3FBC-E9DE-93B8-93EB9B85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78293-75DD-AB97-4060-7E953C63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123452"/>
            <a:ext cx="6589199" cy="1280890"/>
          </a:xfrm>
        </p:spPr>
        <p:txBody>
          <a:bodyPr/>
          <a:lstStyle/>
          <a:p>
            <a:r>
              <a:rPr lang="en-US" dirty="0"/>
              <a:t>Approximation approach,</a:t>
            </a:r>
            <a:r>
              <a:rPr lang="ru-RU" dirty="0"/>
              <a:t> </a:t>
            </a:r>
            <a:r>
              <a:rPr lang="en-US" dirty="0"/>
              <a:t>2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16C32B5-BEB0-C698-A9D0-D99234D047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17638"/>
                <a:ext cx="9036496" cy="50356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data matrix  </a:t>
                </a:r>
                <a:r>
                  <a:rPr lang="en-US" b="1" i="1" dirty="0"/>
                  <a:t>Y</a:t>
                </a:r>
                <a:r>
                  <a:rPr lang="en-US" b="1" dirty="0"/>
                  <a:t>=(</a:t>
                </a:r>
                <a:r>
                  <a:rPr lang="en-US" b="1" i="1" dirty="0" err="1"/>
                  <a:t>y</a:t>
                </a:r>
                <a:r>
                  <a:rPr lang="en-US" b="1" i="1" baseline="-30000" dirty="0" err="1"/>
                  <a:t>iv</a:t>
                </a:r>
                <a:r>
                  <a:rPr lang="en-US" b="1" dirty="0"/>
                  <a:t>), </a:t>
                </a:r>
                <a:r>
                  <a:rPr lang="en-US" dirty="0" err="1"/>
                  <a:t>i</a:t>
                </a:r>
                <a:r>
                  <a:rPr lang="en-US" dirty="0"/>
                  <a:t>=1,2,…, N   (=45)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v=1,2,…, V  (=6)</a:t>
                </a:r>
              </a:p>
              <a:p>
                <a:pPr marL="0" indent="0">
                  <a:buNone/>
                </a:pPr>
                <a:r>
                  <a:rPr lang="ru-RU" dirty="0"/>
                  <a:t>     </a:t>
                </a:r>
                <a:r>
                  <a:rPr lang="en-US" dirty="0"/>
                  <a:t>find Nx1  vectors </a:t>
                </a:r>
                <a:r>
                  <a:rPr lang="en-US" b="1" i="1" dirty="0"/>
                  <a:t>z1</a:t>
                </a:r>
                <a:r>
                  <a:rPr lang="en-US" b="1" dirty="0"/>
                  <a:t>=(</a:t>
                </a:r>
                <a:r>
                  <a:rPr lang="en-US" b="1" i="1" dirty="0"/>
                  <a:t>z</a:t>
                </a:r>
                <a:r>
                  <a:rPr lang="en-US" b="1" i="1" baseline="-25000" dirty="0"/>
                  <a:t>i1</a:t>
                </a:r>
                <a:r>
                  <a:rPr lang="en-US" b="1" dirty="0"/>
                  <a:t>), </a:t>
                </a:r>
                <a:r>
                  <a:rPr lang="en-US" b="1" i="1" dirty="0"/>
                  <a:t>z2</a:t>
                </a:r>
                <a:r>
                  <a:rPr lang="en-US" b="1" dirty="0"/>
                  <a:t>=(</a:t>
                </a:r>
                <a:r>
                  <a:rPr lang="en-US" b="1" i="1" dirty="0"/>
                  <a:t>z</a:t>
                </a:r>
                <a:r>
                  <a:rPr lang="en-US" b="1" i="1" baseline="-25000" dirty="0"/>
                  <a:t>i2</a:t>
                </a:r>
                <a:r>
                  <a:rPr lang="en-US" b="1" dirty="0"/>
                  <a:t>) </a:t>
                </a:r>
                <a:r>
                  <a:rPr lang="en-US" dirty="0"/>
                  <a:t> in</a:t>
                </a:r>
                <a:r>
                  <a:rPr lang="en-US" i="1" dirty="0"/>
                  <a:t>                        </a:t>
                </a:r>
                <a:endParaRPr lang="ru-RU" i="1" dirty="0"/>
              </a:p>
              <a:p>
                <a:pPr marL="0" indent="0">
                  <a:buNone/>
                </a:pPr>
                <a:r>
                  <a:rPr lang="ru-RU" i="1" dirty="0"/>
                  <a:t>                           </a:t>
                </a:r>
                <a:r>
                  <a:rPr lang="en-US" sz="2800" i="1" dirty="0"/>
                  <a:t>   </a:t>
                </a:r>
                <a:r>
                  <a:rPr lang="en-US" sz="2800" i="1" dirty="0" err="1"/>
                  <a:t>y</a:t>
                </a:r>
                <a:r>
                  <a:rPr lang="en-US" sz="2800" i="1" baseline="-25000" dirty="0" err="1"/>
                  <a:t>iv</a:t>
                </a:r>
                <a:r>
                  <a:rPr lang="en-US" sz="2800" i="1" dirty="0"/>
                  <a:t>=c</a:t>
                </a:r>
                <a:r>
                  <a:rPr lang="en-US" sz="2800" i="1" baseline="-25000" dirty="0"/>
                  <a:t>v1</a:t>
                </a:r>
                <a:r>
                  <a:rPr lang="en-US" sz="2800" i="1" dirty="0"/>
                  <a:t>z</a:t>
                </a:r>
                <a:r>
                  <a:rPr lang="en-US" sz="2800" i="1" baseline="-25000" dirty="0"/>
                  <a:t>i1</a:t>
                </a:r>
                <a:r>
                  <a:rPr lang="en-US" sz="2800" i="1" dirty="0"/>
                  <a:t> + c</a:t>
                </a:r>
                <a:r>
                  <a:rPr lang="en-US" sz="2800" i="1" baseline="-25000" dirty="0"/>
                  <a:t>v2</a:t>
                </a:r>
                <a:r>
                  <a:rPr lang="en-US" sz="2800" i="1" dirty="0"/>
                  <a:t>z</a:t>
                </a:r>
                <a:r>
                  <a:rPr lang="en-US" sz="2800" i="1" baseline="-25000" dirty="0"/>
                  <a:t>i2</a:t>
                </a:r>
                <a:r>
                  <a:rPr lang="en-US" sz="2800" i="1" dirty="0"/>
                  <a:t> + </a:t>
                </a:r>
                <a:r>
                  <a:rPr lang="en-US" sz="2800" i="1" dirty="0" err="1"/>
                  <a:t>e</a:t>
                </a:r>
                <a:r>
                  <a:rPr lang="en-US" sz="2800" i="1" baseline="-25000" dirty="0" err="1"/>
                  <a:t>iv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                                       </a:t>
                </a:r>
                <a:r>
                  <a:rPr lang="en-US" b="1" dirty="0"/>
                  <a:t>to minimize</a:t>
                </a:r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sz="2800" b="0" dirty="0"/>
                  <a:t>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𝑖𝑣</m:t>
                            </m:r>
                          </m:sub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𝑖𝑣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800" dirty="0"/>
                  <a:t>  </a:t>
                </a:r>
              </a:p>
              <a:p>
                <a:pPr marL="0" indent="0">
                  <a:buNone/>
                </a:pPr>
                <a:r>
                  <a:rPr lang="en-US" sz="2800" dirty="0"/>
                  <a:t>     </a:t>
                </a:r>
                <a:r>
                  <a:rPr lang="ru-RU" sz="2400" dirty="0"/>
                  <a:t>Что плохого в такой постановке? </a:t>
                </a:r>
              </a:p>
              <a:p>
                <a:pPr marL="0" indent="0">
                  <a:buNone/>
                </a:pPr>
                <a:r>
                  <a:rPr lang="ru-RU" sz="2400" dirty="0"/>
                  <a:t>                                 </a:t>
                </a:r>
                <a:r>
                  <a:rPr lang="ru-RU" sz="2400" b="1" dirty="0">
                    <a:solidFill>
                      <a:srgbClr val="FF0000"/>
                    </a:solidFill>
                  </a:rPr>
                  <a:t>Неоднозначность решения:</a:t>
                </a: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FF0000"/>
                    </a:solidFill>
                  </a:rPr>
                  <a:t>Скажем, если (с1,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z1)</a:t>
                </a:r>
                <a:r>
                  <a:rPr lang="ru-RU" sz="2400" dirty="0">
                    <a:solidFill>
                      <a:srgbClr val="FF0000"/>
                    </a:solidFill>
                  </a:rPr>
                  <a:t> – решение, то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ru-RU" sz="2400" dirty="0">
                    <a:solidFill>
                      <a:srgbClr val="FF0000"/>
                    </a:solidFill>
                  </a:rPr>
                  <a:t>(с1/6, 6</a:t>
                </a:r>
                <a:r>
                  <a:rPr lang="en-US" sz="2400" dirty="0">
                    <a:solidFill>
                      <a:srgbClr val="FF0000"/>
                    </a:solidFill>
                  </a:rPr>
                  <a:t>z1) </a:t>
                </a:r>
                <a:r>
                  <a:rPr lang="ru-RU" sz="2400" dirty="0">
                    <a:solidFill>
                      <a:srgbClr val="FF0000"/>
                    </a:solidFill>
                  </a:rPr>
                  <a:t>– тоже решение, и вообще (</a:t>
                </a:r>
                <a:r>
                  <a:rPr lang="ru-RU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*</a:t>
                </a:r>
                <a:r>
                  <a:rPr lang="ru-RU" sz="2400" dirty="0">
                    <a:solidFill>
                      <a:srgbClr val="FF0000"/>
                    </a:solidFill>
                  </a:rPr>
                  <a:t>с1,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z1</a:t>
                </a:r>
                <a:r>
                  <a:rPr lang="ru-RU" sz="2400" dirty="0">
                    <a:solidFill>
                      <a:srgbClr val="FF0000"/>
                    </a:solidFill>
                  </a:rPr>
                  <a:t>/</a:t>
                </a:r>
                <a:r>
                  <a:rPr lang="ru-RU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</a:t>
                </a:r>
                <a:r>
                  <a:rPr lang="en-US" sz="2400" dirty="0">
                    <a:solidFill>
                      <a:srgbClr val="FF0000"/>
                    </a:solidFill>
                  </a:rPr>
                  <a:t>)</a:t>
                </a:r>
                <a:r>
                  <a:rPr lang="ru-RU" sz="2400" dirty="0">
                    <a:solidFill>
                      <a:srgbClr val="FF0000"/>
                    </a:solidFill>
                  </a:rPr>
                  <a:t> для любого </a:t>
                </a:r>
                <a:r>
                  <a:rPr lang="ru-RU" sz="24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 </a:t>
                </a:r>
                <a:r>
                  <a:rPr lang="ru-RU" sz="2400" dirty="0">
                    <a:solidFill>
                      <a:srgbClr val="FF0000"/>
                    </a:solidFill>
                  </a:rPr>
                  <a:t>– тоже!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16C32B5-BEB0-C698-A9D0-D99234D04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17638"/>
                <a:ext cx="9036496" cy="5035698"/>
              </a:xfrm>
              <a:blipFill>
                <a:blip r:embed="rId2"/>
                <a:stretch>
                  <a:fillRect l="-1012" t="-7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3D3E22-FACB-9F4E-1CCC-6F3392690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E4F651-741B-89F4-0A19-16957B50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549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0C9C8-38D5-4DB9-946E-75719843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28" y="87623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Civilized reformulation</a:t>
            </a:r>
            <a:endParaRPr lang="ru-RU" sz="27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08720"/>
                <a:ext cx="9144000" cy="554461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                           Given a data matrix  </a:t>
                </a:r>
                <a:r>
                  <a:rPr lang="en-US" i="1" dirty="0"/>
                  <a:t>Y</a:t>
                </a:r>
                <a:r>
                  <a:rPr lang="en-US" dirty="0"/>
                  <a:t>=(</a:t>
                </a:r>
                <a:r>
                  <a:rPr lang="en-US" i="1" dirty="0" err="1"/>
                  <a:t>y</a:t>
                </a:r>
                <a:r>
                  <a:rPr lang="en-US" i="1" baseline="-30000" dirty="0" err="1"/>
                  <a:t>iv</a:t>
                </a:r>
                <a:r>
                  <a:rPr lang="en-US" dirty="0"/>
                  <a:t>), </a:t>
                </a:r>
                <a:r>
                  <a:rPr lang="en-US" dirty="0" err="1"/>
                  <a:t>i</a:t>
                </a:r>
                <a:r>
                  <a:rPr lang="en-US" dirty="0"/>
                  <a:t>=1,2,…, N (45)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v=1,2,…, V  (6)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              find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normed </a:t>
                </a:r>
                <a:r>
                  <a:rPr lang="en-US" dirty="0"/>
                  <a:t>vectors </a:t>
                </a:r>
                <a:r>
                  <a:rPr lang="en-US" i="1" dirty="0"/>
                  <a:t>N</a:t>
                </a:r>
                <a:r>
                  <a:rPr lang="en-US" dirty="0">
                    <a:sym typeface="Symbol" panose="05050102010706020507" pitchFamily="18" charset="2"/>
                  </a:rPr>
                  <a:t></a:t>
                </a:r>
                <a:r>
                  <a:rPr lang="en-US" i="1" dirty="0"/>
                  <a:t>1,</a:t>
                </a:r>
                <a:r>
                  <a:rPr lang="en-US" dirty="0"/>
                  <a:t>     </a:t>
                </a:r>
                <a:r>
                  <a:rPr lang="en-US" i="1" dirty="0"/>
                  <a:t>z</a:t>
                </a:r>
                <a:r>
                  <a:rPr lang="en-US" i="1" baseline="-25000" dirty="0"/>
                  <a:t>1</a:t>
                </a:r>
                <a:r>
                  <a:rPr lang="en-US" dirty="0"/>
                  <a:t>=(</a:t>
                </a:r>
                <a:r>
                  <a:rPr lang="en-US" i="1" dirty="0"/>
                  <a:t>z</a:t>
                </a:r>
                <a:r>
                  <a:rPr lang="en-US" i="1" baseline="-25000" dirty="0"/>
                  <a:t>i1</a:t>
                </a:r>
                <a:r>
                  <a:rPr lang="en-US" dirty="0"/>
                  <a:t>), </a:t>
                </a:r>
                <a:r>
                  <a:rPr lang="en-US" i="1" dirty="0"/>
                  <a:t>z</a:t>
                </a:r>
                <a:r>
                  <a:rPr lang="en-US" i="1" baseline="-25000" dirty="0"/>
                  <a:t>2</a:t>
                </a:r>
                <a:r>
                  <a:rPr lang="en-US" dirty="0"/>
                  <a:t>=(</a:t>
                </a:r>
                <a:r>
                  <a:rPr lang="en-US" i="1" dirty="0"/>
                  <a:t>z</a:t>
                </a:r>
                <a:r>
                  <a:rPr lang="en-US" i="1" baseline="-25000" dirty="0"/>
                  <a:t>i2</a:t>
                </a:r>
                <a:r>
                  <a:rPr lang="en-US" dirty="0"/>
                  <a:t>),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</a:t>
                </a:r>
                <a:r>
                  <a:rPr lang="en-US" b="1" dirty="0"/>
                  <a:t>normed</a:t>
                </a:r>
                <a:r>
                  <a:rPr lang="en-US" dirty="0"/>
                  <a:t> vectors </a:t>
                </a:r>
                <a:r>
                  <a:rPr lang="en-US" i="1" dirty="0"/>
                  <a:t>V</a:t>
                </a:r>
                <a:r>
                  <a:rPr lang="en-US" i="1" dirty="0">
                    <a:sym typeface="Symbol" panose="05050102010706020507" pitchFamily="18" charset="2"/>
                  </a:rPr>
                  <a:t>1, </a:t>
                </a:r>
                <a:r>
                  <a:rPr lang="en-US" dirty="0"/>
                  <a:t> 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1</a:t>
                </a:r>
                <a:r>
                  <a:rPr lang="en-US" dirty="0"/>
                  <a:t>=(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v1</a:t>
                </a:r>
                <a:r>
                  <a:rPr lang="en-US" dirty="0"/>
                  <a:t>), 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2</a:t>
                </a:r>
                <a:r>
                  <a:rPr lang="en-US" dirty="0"/>
                  <a:t>=(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v2</a:t>
                </a:r>
                <a:r>
                  <a:rPr lang="en-US" dirty="0"/>
                  <a:t>),  and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positive </a:t>
                </a:r>
                <a:r>
                  <a:rPr lang="en-US" i="1" dirty="0">
                    <a:sym typeface="Symbol" panose="05050102010706020507" pitchFamily="18" charset="2"/>
                  </a:rPr>
                  <a:t>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ym typeface="Symbol" panose="05050102010706020507" pitchFamily="18" charset="2"/>
                  </a:rPr>
                  <a:t> and </a:t>
                </a:r>
                <a:r>
                  <a:rPr lang="en-US" i="1" dirty="0">
                    <a:sym typeface="Symbol" panose="05050102010706020507" pitchFamily="18" charset="2"/>
                  </a:rPr>
                  <a:t>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/>
                  <a:t>so that</a:t>
                </a:r>
              </a:p>
              <a:p>
                <a:pPr marL="0" indent="0">
                  <a:buNone/>
                </a:pPr>
                <a:r>
                  <a:rPr lang="en-US" sz="2800" b="1" i="1" dirty="0"/>
                  <a:t>                      </a:t>
                </a:r>
                <a:r>
                  <a:rPr lang="en-US" sz="2800" b="1" i="1" dirty="0" err="1"/>
                  <a:t>y</a:t>
                </a:r>
                <a:r>
                  <a:rPr lang="en-US" sz="2800" b="1" i="1" baseline="-25000" dirty="0" err="1"/>
                  <a:t>iv</a:t>
                </a:r>
                <a:r>
                  <a:rPr lang="en-US" sz="2800" b="1" i="1" dirty="0"/>
                  <a:t>=</a:t>
                </a:r>
                <a:r>
                  <a:rPr lang="en-US" sz="2800" b="1" i="1" dirty="0">
                    <a:sym typeface="Symbol" panose="05050102010706020507" pitchFamily="18" charset="2"/>
                  </a:rPr>
                  <a:t> </a:t>
                </a:r>
                <a:r>
                  <a:rPr lang="en-US" sz="2800" b="1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sz="2800" b="1" i="1" dirty="0"/>
                  <a:t>c</a:t>
                </a:r>
                <a:r>
                  <a:rPr lang="en-US" sz="2800" b="1" i="1" baseline="-25000" dirty="0"/>
                  <a:t>v1</a:t>
                </a:r>
                <a:r>
                  <a:rPr lang="en-US" sz="2800" b="1" i="1" dirty="0"/>
                  <a:t>z</a:t>
                </a:r>
                <a:r>
                  <a:rPr lang="en-US" sz="2800" b="1" i="1" baseline="-25000" dirty="0"/>
                  <a:t>i1</a:t>
                </a:r>
                <a:r>
                  <a:rPr lang="en-US" sz="2800" b="1" i="1" dirty="0"/>
                  <a:t> + 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</a:t>
                </a:r>
                <a:r>
                  <a:rPr lang="en-US" sz="2800" b="1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US" sz="2800" b="1" i="1" dirty="0"/>
                  <a:t>c</a:t>
                </a:r>
                <a:r>
                  <a:rPr lang="en-US" sz="2800" b="1" i="1" baseline="-25000" dirty="0"/>
                  <a:t>v2</a:t>
                </a:r>
                <a:r>
                  <a:rPr lang="en-US" sz="2800" b="1" i="1" dirty="0"/>
                  <a:t>z</a:t>
                </a:r>
                <a:r>
                  <a:rPr lang="en-US" sz="2800" b="1" i="1" baseline="-25000" dirty="0"/>
                  <a:t>i2</a:t>
                </a:r>
                <a:r>
                  <a:rPr lang="en-US" sz="2800" b="1" i="1" dirty="0"/>
                  <a:t> + </a:t>
                </a:r>
                <a:r>
                  <a:rPr lang="en-US" sz="2800" b="1" i="1" dirty="0" err="1"/>
                  <a:t>e</a:t>
                </a:r>
                <a:r>
                  <a:rPr lang="en-US" sz="2800" b="1" i="1" baseline="-25000" dirty="0" err="1"/>
                  <a:t>iv</a:t>
                </a:r>
                <a:endParaRPr lang="en-US" sz="2800" b="1" i="1" dirty="0"/>
              </a:p>
              <a:p>
                <a:pPr marL="0" indent="0">
                  <a:buNone/>
                </a:pPr>
                <a:r>
                  <a:rPr lang="en-US" sz="2400" b="1" i="1" dirty="0"/>
                  <a:t>               L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𝒊𝒗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1" i="1" dirty="0"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sym typeface="Symbol" panose="05050102010706020507" pitchFamily="18" charset="2"/>
                                  </a:rPr>
                                  <m:t>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1" i="1" baseline="-25000" dirty="0">
                                    <a:sym typeface="Symbol" panose="05050102010706020507" pitchFamily="18" charset="2"/>
                                  </a:rPr>
                                  <m:t>1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1" i="1" dirty="0"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1" i="1" dirty="0">
                                    <a:sym typeface="Symbol" panose="05050102010706020507" pitchFamily="18" charset="2"/>
                                  </a:rPr>
                                  <m:t>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1" i="1" baseline="-25000" dirty="0" smtClean="0"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𝒊𝒗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nary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𝒎𝒊𝒏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r>
                  <a:rPr lang="en-US" sz="2400" dirty="0"/>
                  <a:t>       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Returning to the original problem: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</a:t>
                </a:r>
                <a:r>
                  <a:rPr lang="en-US" sz="2800" b="1" dirty="0"/>
                  <a:t>z1=</a:t>
                </a:r>
                <a:r>
                  <a:rPr lang="en-US" sz="2800" b="1" i="1" dirty="0"/>
                  <a:t> 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</a:t>
                </a:r>
                <a:r>
                  <a:rPr lang="en-US" sz="2800" b="1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sz="2800" b="1" i="1" baseline="30000" dirty="0">
                    <a:sym typeface="Symbol" panose="05050102010706020507" pitchFamily="18" charset="2"/>
                  </a:rPr>
                  <a:t>1/2</a:t>
                </a:r>
                <a:r>
                  <a:rPr lang="en-US" sz="2800" b="1" i="1" dirty="0"/>
                  <a:t>z</a:t>
                </a:r>
                <a:r>
                  <a:rPr lang="en-US" sz="2800" b="1" i="1" baseline="-25000" dirty="0"/>
                  <a:t>1  </a:t>
                </a:r>
                <a:r>
                  <a:rPr lang="en-US" sz="2800" b="1" i="1" dirty="0"/>
                  <a:t>,    </a:t>
                </a:r>
                <a:r>
                  <a:rPr lang="en-US" sz="2800" b="1" dirty="0"/>
                  <a:t>z2=</a:t>
                </a:r>
                <a:r>
                  <a:rPr lang="en-US" sz="2800" b="1" i="1" dirty="0"/>
                  <a:t> 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</a:t>
                </a:r>
                <a:r>
                  <a:rPr lang="en-US" sz="2800" b="1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US" sz="2800" b="1" i="1" baseline="30000" dirty="0">
                    <a:sym typeface="Symbol" panose="05050102010706020507" pitchFamily="18" charset="2"/>
                  </a:rPr>
                  <a:t>1/2</a:t>
                </a:r>
                <a:r>
                  <a:rPr lang="en-US" sz="2800" b="1" i="1" dirty="0"/>
                  <a:t>z</a:t>
                </a:r>
                <a:r>
                  <a:rPr lang="en-US" sz="2800" b="1" i="1" baseline="-25000" dirty="0"/>
                  <a:t>2      </a:t>
                </a:r>
                <a:r>
                  <a:rPr lang="en-US" sz="2800" i="1" baseline="-25000" dirty="0"/>
                  <a:t>.</a:t>
                </a:r>
                <a:r>
                  <a:rPr lang="en-US" sz="2800" i="1" dirty="0"/>
                  <a:t> </a:t>
                </a:r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08720"/>
                <a:ext cx="9144000" cy="5544616"/>
              </a:xfrm>
              <a:blipFill>
                <a:blip r:embed="rId2"/>
                <a:stretch>
                  <a:fillRect l="-467" t="-5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18AA2D-0CA0-4C2B-A109-A2BD5BA3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402D6A-D827-4F6A-A2FC-B92D2DA7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571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0C9C8-38D5-4DB9-946E-75719843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995"/>
            <a:ext cx="8229600" cy="3641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Civilized formulation and solution</a:t>
            </a:r>
            <a:r>
              <a:rPr lang="ru-RU" b="1" dirty="0"/>
              <a:t>,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692695"/>
                <a:ext cx="8892480" cy="602877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            Given </a:t>
                </a:r>
                <a:r>
                  <a:rPr lang="en-US" i="1" dirty="0"/>
                  <a:t>Y</a:t>
                </a:r>
                <a:r>
                  <a:rPr lang="en-US" dirty="0"/>
                  <a:t>=(</a:t>
                </a:r>
                <a:r>
                  <a:rPr lang="en-US" i="1" dirty="0" err="1"/>
                  <a:t>y</a:t>
                </a:r>
                <a:r>
                  <a:rPr lang="en-US" i="1" baseline="-30000" dirty="0" err="1"/>
                  <a:t>iv</a:t>
                </a:r>
                <a:r>
                  <a:rPr lang="en-US" dirty="0"/>
                  <a:t>), find </a:t>
                </a:r>
                <a:r>
                  <a:rPr lang="en-US" b="1" dirty="0"/>
                  <a:t>normed</a:t>
                </a:r>
                <a:r>
                  <a:rPr lang="en-US" dirty="0"/>
                  <a:t> vectors </a:t>
                </a:r>
                <a:r>
                  <a:rPr lang="en-US" i="1" dirty="0"/>
                  <a:t>N</a:t>
                </a:r>
                <a:r>
                  <a:rPr lang="en-US" i="1" dirty="0">
                    <a:sym typeface="Symbol" panose="05050102010706020507" pitchFamily="18" charset="2"/>
                  </a:rPr>
                  <a:t>1,</a:t>
                </a:r>
                <a:r>
                  <a:rPr lang="en-US" dirty="0"/>
                  <a:t> </a:t>
                </a:r>
                <a:r>
                  <a:rPr lang="en-US" i="1" dirty="0"/>
                  <a:t>z1</a:t>
                </a:r>
                <a:r>
                  <a:rPr lang="en-US" dirty="0"/>
                  <a:t>=(</a:t>
                </a:r>
                <a:r>
                  <a:rPr lang="en-US" i="1" dirty="0"/>
                  <a:t>z</a:t>
                </a:r>
                <a:r>
                  <a:rPr lang="en-US" i="1" baseline="-25000" dirty="0"/>
                  <a:t>i1</a:t>
                </a:r>
                <a:r>
                  <a:rPr lang="en-US" dirty="0"/>
                  <a:t>), </a:t>
                </a:r>
                <a:r>
                  <a:rPr lang="en-US" i="1" dirty="0"/>
                  <a:t>z2</a:t>
                </a:r>
                <a:r>
                  <a:rPr lang="en-US" dirty="0"/>
                  <a:t>=(</a:t>
                </a:r>
                <a:r>
                  <a:rPr lang="en-US" i="1" dirty="0"/>
                  <a:t>z</a:t>
                </a:r>
                <a:r>
                  <a:rPr lang="en-US" i="1" baseline="-25000" dirty="0"/>
                  <a:t>i2</a:t>
                </a:r>
                <a:r>
                  <a:rPr lang="en-US" dirty="0"/>
                  <a:t>), </a:t>
                </a:r>
                <a:r>
                  <a:rPr lang="en-US" b="1" dirty="0"/>
                  <a:t>normed</a:t>
                </a:r>
                <a:r>
                  <a:rPr lang="en-US" dirty="0"/>
                  <a:t>      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vectors </a:t>
                </a:r>
                <a:r>
                  <a:rPr lang="en-US" i="1" dirty="0"/>
                  <a:t>V</a:t>
                </a:r>
                <a:r>
                  <a:rPr lang="en-US" i="1" dirty="0">
                    <a:sym typeface="Symbol" panose="05050102010706020507" pitchFamily="18" charset="2"/>
                  </a:rPr>
                  <a:t>1, </a:t>
                </a:r>
                <a:r>
                  <a:rPr lang="en-US" dirty="0"/>
                  <a:t> 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1</a:t>
                </a:r>
                <a:r>
                  <a:rPr lang="en-US" dirty="0"/>
                  <a:t>=(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v1</a:t>
                </a:r>
                <a:r>
                  <a:rPr lang="en-US" dirty="0"/>
                  <a:t>), 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2</a:t>
                </a:r>
                <a:r>
                  <a:rPr lang="en-US" dirty="0"/>
                  <a:t>=(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v2</a:t>
                </a:r>
                <a:r>
                  <a:rPr lang="en-US" dirty="0"/>
                  <a:t>), and positive </a:t>
                </a:r>
                <a:r>
                  <a:rPr lang="en-US" i="1" dirty="0">
                    <a:sym typeface="Symbol" panose="05050102010706020507" pitchFamily="18" charset="2"/>
                  </a:rPr>
                  <a:t>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ym typeface="Symbol" panose="05050102010706020507" pitchFamily="18" charset="2"/>
                  </a:rPr>
                  <a:t> and </a:t>
                </a:r>
                <a:r>
                  <a:rPr lang="en-US" i="1" dirty="0">
                    <a:sym typeface="Symbol" panose="05050102010706020507" pitchFamily="18" charset="2"/>
                  </a:rPr>
                  <a:t>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2    </a:t>
                </a:r>
                <a:r>
                  <a:rPr lang="en-US" dirty="0">
                    <a:sym typeface="Symbol" panose="05050102010706020507" pitchFamily="18" charset="2"/>
                  </a:rPr>
                  <a:t>so that errors in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sz="2800" i="1" dirty="0"/>
                  <a:t>                           </a:t>
                </a:r>
                <a:r>
                  <a:rPr lang="en-US" sz="2800" i="1" dirty="0" err="1"/>
                  <a:t>y</a:t>
                </a:r>
                <a:r>
                  <a:rPr lang="en-US" sz="2800" i="1" baseline="-25000" dirty="0" err="1"/>
                  <a:t>iv</a:t>
                </a:r>
                <a:r>
                  <a:rPr lang="en-US" sz="2800" i="1" dirty="0"/>
                  <a:t>=</a:t>
                </a:r>
                <a:r>
                  <a:rPr lang="en-US" sz="2800" i="1" dirty="0">
                    <a:sym typeface="Symbol" panose="05050102010706020507" pitchFamily="18" charset="2"/>
                  </a:rPr>
                  <a:t> </a:t>
                </a:r>
                <a:r>
                  <a:rPr lang="en-US" sz="2800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sz="2800" i="1" dirty="0"/>
                  <a:t>c</a:t>
                </a:r>
                <a:r>
                  <a:rPr lang="en-US" sz="2800" i="1" baseline="-25000" dirty="0"/>
                  <a:t>v1</a:t>
                </a:r>
                <a:r>
                  <a:rPr lang="en-US" sz="2800" i="1" dirty="0"/>
                  <a:t>*z</a:t>
                </a:r>
                <a:r>
                  <a:rPr lang="en-US" sz="2800" i="1" baseline="-25000" dirty="0"/>
                  <a:t>i1</a:t>
                </a:r>
                <a:r>
                  <a:rPr lang="en-US" sz="2800" i="1" dirty="0"/>
                  <a:t> + </a:t>
                </a:r>
                <a:r>
                  <a:rPr lang="en-US" sz="2800" i="1" dirty="0">
                    <a:sym typeface="Symbol" panose="05050102010706020507" pitchFamily="18" charset="2"/>
                  </a:rPr>
                  <a:t></a:t>
                </a:r>
                <a:r>
                  <a:rPr lang="en-US" sz="2800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US" sz="2800" i="1" dirty="0"/>
                  <a:t>c</a:t>
                </a:r>
                <a:r>
                  <a:rPr lang="en-US" sz="2800" i="1" baseline="-25000" dirty="0"/>
                  <a:t>v2</a:t>
                </a:r>
                <a:r>
                  <a:rPr lang="en-US" sz="2800" i="1" dirty="0"/>
                  <a:t>z</a:t>
                </a:r>
                <a:r>
                  <a:rPr lang="en-US" sz="2800" i="1" baseline="-25000" dirty="0"/>
                  <a:t>i2</a:t>
                </a:r>
                <a:r>
                  <a:rPr lang="en-US" sz="2800" i="1" dirty="0"/>
                  <a:t> + </a:t>
                </a:r>
                <a:r>
                  <a:rPr lang="en-US" sz="2800" i="1" dirty="0" err="1"/>
                  <a:t>e</a:t>
                </a:r>
                <a:r>
                  <a:rPr lang="en-US" sz="2800" i="1" baseline="-25000" dirty="0" err="1"/>
                  <a:t>iv</a:t>
                </a:r>
                <a:endParaRPr lang="en-US" sz="2800" i="1" baseline="-25000" dirty="0"/>
              </a:p>
              <a:p>
                <a:pPr marL="0" indent="0">
                  <a:buNone/>
                </a:pPr>
                <a:r>
                  <a:rPr lang="en-US" dirty="0"/>
                  <a:t>are least-squares minimized</a:t>
                </a: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</a:t>
                </a:r>
                <a:r>
                  <a:rPr lang="en-US" sz="2400" i="1" dirty="0"/>
                  <a:t>L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baseline="-2500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 baseline="-250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baseline="-2500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 baseline="-2500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𝑖𝑣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i="1" dirty="0">
                                <a:sym typeface="Symbol" panose="05050102010706020507" pitchFamily="18" charset="2"/>
                              </a:rPr>
                              <m:t></m:t>
                            </m:r>
                            <m:r>
                              <m:rPr>
                                <m:nor/>
                              </m:rPr>
                              <a:rPr lang="en-US" sz="2400" i="1" baseline="-25000" dirty="0">
                                <a:sym typeface="Symbol" panose="05050102010706020507" pitchFamily="18" charset="2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i="1" dirty="0">
                                    <a:sym typeface="Symbol" panose="05050102010706020507" pitchFamily="18" charset="2"/>
                                  </a:rPr>
                                  <m:t>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0" i="1" baseline="-25000" dirty="0" smtClean="0"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  <a:r>
                  <a:rPr lang="ru-RU" b="1" dirty="0">
                    <a:solidFill>
                      <a:srgbClr val="FF0000"/>
                    </a:solidFill>
                  </a:rPr>
                  <a:t>Это ГЕНЕРАТИВНАЯ модель.</a:t>
                </a:r>
              </a:p>
              <a:p>
                <a:pPr marL="0" indent="0">
                  <a:buNone/>
                </a:pPr>
                <a:r>
                  <a:rPr lang="ru-RU" dirty="0"/>
                  <a:t>  Здесь: </a:t>
                </a:r>
                <a:r>
                  <a:rPr lang="en-US" dirty="0"/>
                  <a:t>z1, z2 – </a:t>
                </a:r>
                <a:r>
                  <a:rPr lang="ru-RU" dirty="0"/>
                  <a:t>координаты точек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 err="1">
                    <a:sym typeface="Symbol" panose="05050102010706020507" pitchFamily="18" charset="2"/>
                  </a:rPr>
                  <a:t>I</a:t>
                </a:r>
                <a:r>
                  <a:rPr lang="ru-RU" dirty="0"/>
                  <a:t>,</a:t>
                </a:r>
              </a:p>
              <a:p>
                <a:pPr marL="0" indent="0">
                  <a:buNone/>
                </a:pPr>
                <a:r>
                  <a:rPr lang="ru-RU" dirty="0"/>
                  <a:t>  представляющих объекты</a:t>
                </a:r>
                <a:r>
                  <a:rPr lang="en-US" dirty="0"/>
                  <a:t> (</a:t>
                </a:r>
                <a:r>
                  <a:rPr lang="en-US" dirty="0">
                    <a:sym typeface="Symbol" panose="05050102010706020507" pitchFamily="18" charset="2"/>
                  </a:rPr>
                  <a:t>z</a:t>
                </a:r>
                <a:r>
                  <a:rPr lang="ru-RU" dirty="0"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ym typeface="Symbol" panose="05050102010706020507" pitchFamily="18" charset="2"/>
                  </a:rPr>
                  <a:t></a:t>
                </a:r>
                <a:r>
                  <a:rPr lang="en-US" baseline="30000" dirty="0">
                    <a:sym typeface="Symbol" panose="05050102010706020507" pitchFamily="18" charset="2"/>
                  </a:rPr>
                  <a:t>2 </a:t>
                </a:r>
                <a:r>
                  <a:rPr lang="ru-RU" dirty="0"/>
                  <a:t>=1</a:t>
                </a:r>
                <a:r>
                  <a:rPr lang="en-US" dirty="0"/>
                  <a:t>, </a:t>
                </a:r>
                <a:r>
                  <a:rPr lang="en-US" dirty="0">
                    <a:sym typeface="Symbol" panose="05050102010706020507" pitchFamily="18" charset="2"/>
                  </a:rPr>
                  <a:t>z2</a:t>
                </a:r>
                <a:r>
                  <a:rPr lang="en-US" baseline="30000" dirty="0">
                    <a:sym typeface="Symbol" panose="05050102010706020507" pitchFamily="18" charset="2"/>
                  </a:rPr>
                  <a:t>2 </a:t>
                </a:r>
                <a:r>
                  <a:rPr lang="ru-RU" dirty="0"/>
                  <a:t>=1</a:t>
                </a:r>
                <a:r>
                  <a:rPr lang="en-US" dirty="0"/>
                  <a:t>)</a:t>
                </a:r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c1, c2 – </a:t>
                </a:r>
                <a:r>
                  <a:rPr lang="ru-RU" dirty="0"/>
                  <a:t>«нагрузки» на признаки, веса признаков (</a:t>
                </a:r>
                <a:r>
                  <a:rPr lang="en-US" dirty="0">
                    <a:sym typeface="Symbol" panose="05050102010706020507" pitchFamily="18" charset="2"/>
                  </a:rPr>
                  <a:t>c</a:t>
                </a:r>
                <a:r>
                  <a:rPr lang="ru-RU" dirty="0"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ym typeface="Symbol" panose="05050102010706020507" pitchFamily="18" charset="2"/>
                  </a:rPr>
                  <a:t></a:t>
                </a:r>
                <a:r>
                  <a:rPr lang="en-US" baseline="30000" dirty="0">
                    <a:sym typeface="Symbol" panose="05050102010706020507" pitchFamily="18" charset="2"/>
                  </a:rPr>
                  <a:t>2 </a:t>
                </a:r>
                <a:r>
                  <a:rPr lang="ru-RU" dirty="0"/>
                  <a:t>=1</a:t>
                </a:r>
                <a:r>
                  <a:rPr lang="en-US" dirty="0"/>
                  <a:t>, </a:t>
                </a:r>
                <a:r>
                  <a:rPr lang="en-US" dirty="0">
                    <a:sym typeface="Symbol" panose="05050102010706020507" pitchFamily="18" charset="2"/>
                  </a:rPr>
                  <a:t>c2</a:t>
                </a:r>
                <a:r>
                  <a:rPr lang="en-US" baseline="30000" dirty="0">
                    <a:sym typeface="Symbol" panose="05050102010706020507" pitchFamily="18" charset="2"/>
                  </a:rPr>
                  <a:t>2 </a:t>
                </a:r>
                <a:r>
                  <a:rPr lang="ru-RU" dirty="0"/>
                  <a:t>=1)</a:t>
                </a:r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:r>
                  <a:rPr lang="ru-RU" dirty="0"/>
                  <a:t>     </a:t>
                </a:r>
                <a:r>
                  <a:rPr lang="en-US" dirty="0"/>
                  <a:t>   Matrix</a:t>
                </a:r>
                <a:r>
                  <a:rPr lang="ru-RU" dirty="0"/>
                  <a:t> </a:t>
                </a:r>
                <a:r>
                  <a:rPr lang="en-US" dirty="0"/>
                  <a:t>format: </a:t>
                </a:r>
                <a:r>
                  <a:rPr lang="en-US" b="1" dirty="0"/>
                  <a:t>L=</a:t>
                </a:r>
                <a:r>
                  <a:rPr lang="en-US" b="1" dirty="0">
                    <a:sym typeface="Symbol" panose="05050102010706020507" pitchFamily="18" charset="2"/>
                  </a:rPr>
                  <a:t>Y-ZMC</a:t>
                </a:r>
                <a:r>
                  <a:rPr lang="en-US" b="1" baseline="30000" dirty="0">
                    <a:sym typeface="Symbol" panose="05050102010706020507" pitchFamily="18" charset="2"/>
                  </a:rPr>
                  <a:t>T</a:t>
                </a:r>
                <a:r>
                  <a:rPr lang="en-US" b="1" dirty="0">
                    <a:sym typeface="Symbol" panose="05050102010706020507" pitchFamily="18" charset="2"/>
                  </a:rPr>
                  <a:t></a:t>
                </a:r>
                <a:r>
                  <a:rPr lang="en-US" b="1" baseline="30000" dirty="0">
                    <a:sym typeface="Symbol" panose="05050102010706020507" pitchFamily="18" charset="2"/>
                  </a:rPr>
                  <a:t>2</a:t>
                </a:r>
                <a:r>
                  <a:rPr lang="en-US" dirty="0">
                    <a:sym typeface="Symbol" panose="05050102010706020507" pitchFamily="18" charset="2"/>
                  </a:rPr>
                  <a:t>, </a:t>
                </a:r>
                <a:r>
                  <a:rPr lang="en-US" b="1" dirty="0">
                    <a:sym typeface="Symbol" panose="05050102010706020507" pitchFamily="18" charset="2"/>
                  </a:rPr>
                  <a:t>Z</a:t>
                </a:r>
                <a:r>
                  <a:rPr lang="en-US" dirty="0">
                    <a:sym typeface="Symbol" panose="05050102010706020507" pitchFamily="18" charset="2"/>
                  </a:rPr>
                  <a:t>- </a:t>
                </a:r>
                <a:r>
                  <a:rPr lang="ru-RU" dirty="0">
                    <a:sym typeface="Symbol" panose="05050102010706020507" pitchFamily="18" charset="2"/>
                  </a:rPr>
                  <a:t>матрица со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ru-RU" dirty="0">
                    <a:sym typeface="Symbol" panose="05050102010706020507" pitchFamily="18" charset="2"/>
                  </a:rPr>
                  <a:t>столбцами </a:t>
                </a:r>
                <a:r>
                  <a:rPr lang="en-US" dirty="0">
                    <a:sym typeface="Symbol" panose="05050102010706020507" pitchFamily="18" charset="2"/>
                  </a:rPr>
                  <a:t>z1</a:t>
                </a:r>
                <a:r>
                  <a:rPr lang="ru-RU" dirty="0">
                    <a:sym typeface="Symbol" panose="05050102010706020507" pitchFamily="18" charset="2"/>
                  </a:rPr>
                  <a:t> и</a:t>
                </a:r>
                <a:r>
                  <a:rPr lang="en-US" dirty="0">
                    <a:sym typeface="Symbol" panose="05050102010706020507" pitchFamily="18" charset="2"/>
                  </a:rPr>
                  <a:t> z2</a:t>
                </a:r>
                <a:r>
                  <a:rPr lang="ru-RU" dirty="0">
                    <a:sym typeface="Symbol" panose="05050102010706020507" pitchFamily="18" charset="2"/>
                  </a:rPr>
                  <a:t>,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sym typeface="Symbol" panose="05050102010706020507" pitchFamily="18" charset="2"/>
                  </a:rPr>
                  <a:t>              C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ru-RU" dirty="0">
                    <a:sym typeface="Symbol" panose="05050102010706020507" pitchFamily="18" charset="2"/>
                  </a:rPr>
                  <a:t>- матрица со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ru-RU" dirty="0">
                    <a:sym typeface="Symbol" panose="05050102010706020507" pitchFamily="18" charset="2"/>
                  </a:rPr>
                  <a:t>столбцами </a:t>
                </a:r>
                <a:r>
                  <a:rPr lang="en-US" dirty="0">
                    <a:sym typeface="Symbol" panose="05050102010706020507" pitchFamily="18" charset="2"/>
                  </a:rPr>
                  <a:t>c1 </a:t>
                </a:r>
                <a:r>
                  <a:rPr lang="ru-RU" dirty="0">
                    <a:sym typeface="Symbol" panose="05050102010706020507" pitchFamily="18" charset="2"/>
                  </a:rPr>
                  <a:t>и </a:t>
                </a:r>
                <a:r>
                  <a:rPr lang="en-US" dirty="0">
                    <a:sym typeface="Symbol" panose="05050102010706020507" pitchFamily="18" charset="2"/>
                  </a:rPr>
                  <a:t>c2</a:t>
                </a:r>
                <a:r>
                  <a:rPr lang="ru-RU" dirty="0">
                    <a:sym typeface="Symbol" panose="05050102010706020507" pitchFamily="18" charset="2"/>
                  </a:rPr>
                  <a:t>,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sym typeface="Symbol" panose="05050102010706020507" pitchFamily="18" charset="2"/>
                  </a:rPr>
                  <a:t>              M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ru-RU" dirty="0">
                    <a:sym typeface="Symbol" panose="05050102010706020507" pitchFamily="18" charset="2"/>
                  </a:rPr>
                  <a:t>– диагональная матрица </a:t>
                </a:r>
                <a:r>
                  <a:rPr lang="en-US" dirty="0">
                    <a:sym typeface="Symbol" panose="05050102010706020507" pitchFamily="18" charset="2"/>
                  </a:rPr>
                  <a:t>c </a:t>
                </a:r>
                <a:r>
                  <a:rPr lang="ru-RU" baseline="-25000" dirty="0"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ru-RU" dirty="0">
                    <a:sym typeface="Symbol" panose="05050102010706020507" pitchFamily="18" charset="2"/>
                  </a:rPr>
                  <a:t>и </a:t>
                </a:r>
                <a:r>
                  <a:rPr lang="en-US" dirty="0">
                    <a:sym typeface="Symbol" panose="05050102010706020507" pitchFamily="18" charset="2"/>
                  </a:rPr>
                  <a:t></a:t>
                </a:r>
                <a:r>
                  <a:rPr lang="ru-RU" baseline="-25000" dirty="0">
                    <a:sym typeface="Symbol" panose="05050102010706020507" pitchFamily="18" charset="2"/>
                  </a:rPr>
                  <a:t>2</a:t>
                </a:r>
                <a:endParaRPr lang="en-US" baseline="-250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692695"/>
                <a:ext cx="8892480" cy="6028779"/>
              </a:xfrm>
              <a:blipFill>
                <a:blip r:embed="rId2"/>
                <a:stretch>
                  <a:fillRect l="-548" t="-6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18AA2D-0CA0-4C2B-A109-A2BD5BA3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402D6A-D827-4F6A-A2FC-B92D2DA7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843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0C9C8-38D5-4DB9-946E-75719843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995"/>
            <a:ext cx="8229600" cy="706090"/>
          </a:xfrm>
        </p:spPr>
        <p:txBody>
          <a:bodyPr>
            <a:normAutofit/>
          </a:bodyPr>
          <a:lstStyle/>
          <a:p>
            <a:r>
              <a:rPr lang="en-US" b="1" dirty="0"/>
              <a:t>Civilized formulation and solution, 2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692695"/>
                <a:ext cx="9144000" cy="602877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                   Find  </a:t>
                </a:r>
                <a:r>
                  <a:rPr lang="en-US" b="1" dirty="0"/>
                  <a:t>normed</a:t>
                </a:r>
                <a:r>
                  <a:rPr lang="en-US" dirty="0"/>
                  <a:t> </a:t>
                </a:r>
                <a:r>
                  <a:rPr lang="en-US" b="1" i="1" dirty="0"/>
                  <a:t>z1</a:t>
                </a:r>
                <a:r>
                  <a:rPr lang="en-US" b="1" dirty="0"/>
                  <a:t>=(</a:t>
                </a:r>
                <a:r>
                  <a:rPr lang="en-US" b="1" i="1" dirty="0"/>
                  <a:t>z</a:t>
                </a:r>
                <a:r>
                  <a:rPr lang="en-US" b="1" i="1" baseline="-25000" dirty="0"/>
                  <a:t>i1</a:t>
                </a:r>
                <a:r>
                  <a:rPr lang="en-US" b="1" dirty="0"/>
                  <a:t>), </a:t>
                </a:r>
                <a:r>
                  <a:rPr lang="en-US" b="1" i="1" dirty="0"/>
                  <a:t>z2</a:t>
                </a:r>
                <a:r>
                  <a:rPr lang="en-US" b="1" dirty="0"/>
                  <a:t>=(</a:t>
                </a:r>
                <a:r>
                  <a:rPr lang="en-US" b="1" i="1" dirty="0"/>
                  <a:t>z</a:t>
                </a:r>
                <a:r>
                  <a:rPr lang="en-US" b="1" i="1" baseline="-25000" dirty="0"/>
                  <a:t>i2</a:t>
                </a:r>
                <a:r>
                  <a:rPr lang="en-US" b="1" dirty="0"/>
                  <a:t>)</a:t>
                </a:r>
                <a:r>
                  <a:rPr lang="en-US" dirty="0"/>
                  <a:t>, </a:t>
                </a:r>
                <a:r>
                  <a:rPr lang="en-US" b="1" dirty="0"/>
                  <a:t>normed</a:t>
                </a:r>
                <a:r>
                  <a:rPr lang="en-US" dirty="0"/>
                  <a:t> </a:t>
                </a:r>
                <a:r>
                  <a:rPr lang="en-US" b="1" i="1" dirty="0"/>
                  <a:t>c</a:t>
                </a:r>
                <a:r>
                  <a:rPr lang="en-US" b="1" i="1" baseline="-25000" dirty="0"/>
                  <a:t>1</a:t>
                </a:r>
                <a:r>
                  <a:rPr lang="en-US" b="1" dirty="0"/>
                  <a:t>=(</a:t>
                </a:r>
                <a:r>
                  <a:rPr lang="en-US" b="1" i="1" dirty="0"/>
                  <a:t>c</a:t>
                </a:r>
                <a:r>
                  <a:rPr lang="en-US" b="1" i="1" baseline="-25000" dirty="0"/>
                  <a:t>v1</a:t>
                </a:r>
                <a:r>
                  <a:rPr lang="en-US" b="1" dirty="0"/>
                  <a:t>), </a:t>
                </a:r>
                <a:r>
                  <a:rPr lang="en-US" b="1" i="1" dirty="0"/>
                  <a:t>c</a:t>
                </a:r>
                <a:r>
                  <a:rPr lang="en-US" b="1" i="1" baseline="-25000" dirty="0"/>
                  <a:t>2</a:t>
                </a:r>
                <a:r>
                  <a:rPr lang="en-US" b="1" dirty="0"/>
                  <a:t>=(</a:t>
                </a:r>
                <a:r>
                  <a:rPr lang="en-US" b="1" i="1" dirty="0"/>
                  <a:t>c</a:t>
                </a:r>
                <a:r>
                  <a:rPr lang="en-US" b="1" i="1" baseline="-25000" dirty="0"/>
                  <a:t>v2</a:t>
                </a:r>
                <a:r>
                  <a:rPr lang="en-US" b="1" dirty="0"/>
                  <a:t>)</a:t>
                </a:r>
                <a:r>
                  <a:rPr lang="en-US" dirty="0"/>
                  <a:t>, and                 </a:t>
                </a:r>
              </a:p>
              <a:p>
                <a:r>
                  <a:rPr lang="en-US" dirty="0"/>
                  <a:t>                   positive</a:t>
                </a:r>
                <a:r>
                  <a:rPr lang="en-US" b="1" dirty="0"/>
                  <a:t> </a:t>
                </a:r>
                <a:r>
                  <a:rPr lang="en-US" b="1" i="1" dirty="0">
                    <a:sym typeface="Symbol" panose="05050102010706020507" pitchFamily="18" charset="2"/>
                  </a:rPr>
                  <a:t></a:t>
                </a:r>
                <a:r>
                  <a:rPr lang="en-US" b="1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ym typeface="Symbol" panose="05050102010706020507" pitchFamily="18" charset="2"/>
                  </a:rPr>
                  <a:t> and </a:t>
                </a:r>
                <a:r>
                  <a:rPr lang="en-US" b="1" i="1" dirty="0">
                    <a:sym typeface="Symbol" panose="05050102010706020507" pitchFamily="18" charset="2"/>
                  </a:rPr>
                  <a:t></a:t>
                </a:r>
                <a:r>
                  <a:rPr lang="en-US" b="1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so that errors in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                                        </a:t>
                </a:r>
                <a:r>
                  <a:rPr lang="en-US" sz="2200" b="1" i="1" dirty="0" err="1"/>
                  <a:t>y</a:t>
                </a:r>
                <a:r>
                  <a:rPr lang="en-US" sz="2200" b="1" i="1" baseline="-25000" dirty="0" err="1"/>
                  <a:t>iv</a:t>
                </a:r>
                <a:r>
                  <a:rPr lang="en-US" sz="2200" b="1" i="1" dirty="0"/>
                  <a:t>=</a:t>
                </a:r>
                <a:r>
                  <a:rPr lang="en-US" sz="2200" b="1" i="1" dirty="0">
                    <a:sym typeface="Symbol" panose="05050102010706020507" pitchFamily="18" charset="2"/>
                  </a:rPr>
                  <a:t> </a:t>
                </a:r>
                <a:r>
                  <a:rPr lang="en-US" sz="2200" b="1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sz="2200" b="1" i="1" dirty="0"/>
                  <a:t>c</a:t>
                </a:r>
                <a:r>
                  <a:rPr lang="en-US" sz="2200" b="1" i="1" baseline="-25000" dirty="0"/>
                  <a:t>v1</a:t>
                </a:r>
                <a:r>
                  <a:rPr lang="en-US" sz="2200" b="1" i="1" dirty="0"/>
                  <a:t>*z</a:t>
                </a:r>
                <a:r>
                  <a:rPr lang="en-US" sz="2200" b="1" i="1" baseline="-25000" dirty="0"/>
                  <a:t>i1</a:t>
                </a:r>
                <a:r>
                  <a:rPr lang="en-US" sz="2200" b="1" i="1" dirty="0"/>
                  <a:t> + </a:t>
                </a:r>
                <a:r>
                  <a:rPr lang="en-US" sz="2200" b="1" i="1" dirty="0">
                    <a:sym typeface="Symbol" panose="05050102010706020507" pitchFamily="18" charset="2"/>
                  </a:rPr>
                  <a:t></a:t>
                </a:r>
                <a:r>
                  <a:rPr lang="en-US" sz="2200" b="1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US" sz="2200" b="1" i="1" dirty="0"/>
                  <a:t>c</a:t>
                </a:r>
                <a:r>
                  <a:rPr lang="en-US" sz="2200" b="1" i="1" baseline="-25000" dirty="0"/>
                  <a:t>v2</a:t>
                </a:r>
                <a:r>
                  <a:rPr lang="en-US" sz="2200" b="1" i="1" dirty="0"/>
                  <a:t>z</a:t>
                </a:r>
                <a:r>
                  <a:rPr lang="en-US" sz="2200" b="1" i="1" baseline="-25000" dirty="0"/>
                  <a:t>i2</a:t>
                </a:r>
                <a:r>
                  <a:rPr lang="en-US" sz="2200" b="1" i="1" dirty="0"/>
                  <a:t> + </a:t>
                </a:r>
                <a:r>
                  <a:rPr lang="en-US" sz="2200" b="1" i="1" dirty="0" err="1"/>
                  <a:t>e</a:t>
                </a:r>
                <a:r>
                  <a:rPr lang="en-US" sz="2200" b="1" i="1" baseline="-25000" dirty="0" err="1"/>
                  <a:t>iv</a:t>
                </a:r>
                <a:endParaRPr lang="en-US" sz="2200" b="1" i="1" baseline="-25000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are least-squares minimized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</a:t>
                </a:r>
                <a:r>
                  <a:rPr lang="en-US" sz="2200" b="1" i="1" dirty="0"/>
                  <a:t>L</a:t>
                </a:r>
                <a14:m>
                  <m:oMath xmlns:m="http://schemas.openxmlformats.org/officeDocument/2006/math">
                    <m:r>
                      <a:rPr lang="en-US" sz="22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𝒊𝒗</m:t>
                                </m:r>
                              </m:sub>
                            </m:sSub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200" b="1" i="1" dirty="0">
                                <a:sym typeface="Symbol" panose="05050102010706020507" pitchFamily="18" charset="2"/>
                              </a:rPr>
                              <m:t></m:t>
                            </m:r>
                            <m:r>
                              <m:rPr>
                                <m:nor/>
                              </m:rPr>
                              <a:rPr lang="en-US" sz="2200" b="1" i="1" baseline="-25000" dirty="0">
                                <a:sym typeface="Symbol" panose="05050102010706020507" pitchFamily="18" charset="2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b="1" i="1" dirty="0"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200" b="1" i="1" dirty="0">
                                    <a:sym typeface="Symbol" panose="05050102010706020507" pitchFamily="18" charset="2"/>
                                  </a:rPr>
                                  <m:t></m:t>
                                </m:r>
                                <m:r>
                                  <m:rPr>
                                    <m:nor/>
                                  </m:rPr>
                                  <a:rPr lang="en-US" sz="2200" b="1" i="1" baseline="-25000" dirty="0" smtClean="0"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  <m: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2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200" b="1" i="1">
                                <a:latin typeface="Cambria Math" panose="02040503050406030204" pitchFamily="18" charset="0"/>
                              </a:rPr>
                              <m:t>𝒊𝒗</m:t>
                            </m:r>
                          </m:sub>
                          <m:sup>
                            <m:r>
                              <a:rPr lang="en-US" sz="2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nary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𝒎𝒊𝒏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sub>
                    </m:sSub>
                  </m:oMath>
                </a14:m>
                <a:endParaRPr lang="en-US" sz="2200" b="1" dirty="0"/>
              </a:p>
              <a:p>
                <a:pPr marL="0" indent="0">
                  <a:buNone/>
                </a:pPr>
                <a:r>
                  <a:rPr lang="en-US" dirty="0"/>
                  <a:t>           [                  In matrix notation: </a:t>
                </a:r>
                <a:r>
                  <a:rPr lang="en-US" sz="2600" b="1" dirty="0"/>
                  <a:t>L=</a:t>
                </a:r>
                <a:r>
                  <a:rPr lang="en-US" sz="2600" b="1" dirty="0">
                    <a:sym typeface="Symbol" panose="05050102010706020507" pitchFamily="18" charset="2"/>
                  </a:rPr>
                  <a:t>Y-ZMC</a:t>
                </a:r>
                <a:r>
                  <a:rPr lang="en-US" sz="2600" b="1" baseline="30000" dirty="0">
                    <a:sym typeface="Symbol" panose="05050102010706020507" pitchFamily="18" charset="2"/>
                  </a:rPr>
                  <a:t>T</a:t>
                </a:r>
                <a:r>
                  <a:rPr lang="en-US" sz="2600" b="1" dirty="0">
                    <a:sym typeface="Symbol" panose="05050102010706020507" pitchFamily="18" charset="2"/>
                  </a:rPr>
                  <a:t></a:t>
                </a:r>
                <a:r>
                  <a:rPr lang="en-US" sz="2600" b="1" baseline="30000" dirty="0">
                    <a:sym typeface="Symbol" panose="05050102010706020507" pitchFamily="18" charset="2"/>
                  </a:rPr>
                  <a:t>2</a:t>
                </a:r>
                <a:r>
                  <a:rPr lang="en-US" b="1" dirty="0"/>
                  <a:t>  </a:t>
                </a:r>
                <a:endParaRPr lang="ru-RU" b="1" dirty="0"/>
              </a:p>
              <a:p>
                <a:pPr marL="0" indent="0">
                  <a:buNone/>
                </a:pPr>
                <a:r>
                  <a:rPr lang="ru-RU" sz="2200" b="1" dirty="0">
                    <a:solidFill>
                      <a:srgbClr val="FF0000"/>
                    </a:solidFill>
                  </a:rPr>
                  <a:t>Вопрос: можете объяснить, что за матрицы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Y, Z, M ,C?</a:t>
                </a:r>
              </a:p>
              <a:p>
                <a:pPr marL="0" indent="0">
                  <a:buNone/>
                </a:pPr>
                <a:r>
                  <a:rPr lang="en-US" sz="2800" b="1" dirty="0"/>
                  <a:t>               Solution:  </a:t>
                </a:r>
                <a:r>
                  <a:rPr lang="en-US" sz="2800" dirty="0"/>
                  <a:t>Optimal triplets (</a:t>
                </a:r>
                <a:r>
                  <a:rPr lang="en-US" sz="2800" i="1" dirty="0">
                    <a:sym typeface="Symbol" panose="05050102010706020507" pitchFamily="18" charset="2"/>
                  </a:rPr>
                  <a:t></a:t>
                </a:r>
                <a:r>
                  <a:rPr lang="en-US" sz="2800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US" sz="2800" i="1" dirty="0"/>
                  <a:t>,z</a:t>
                </a:r>
                <a:r>
                  <a:rPr lang="en-US" sz="2800" i="1" baseline="-25000" dirty="0"/>
                  <a:t>1</a:t>
                </a:r>
                <a:r>
                  <a:rPr lang="en-US" sz="2800" i="1" dirty="0"/>
                  <a:t>,c</a:t>
                </a:r>
                <a:r>
                  <a:rPr lang="en-US" sz="2800" i="1" baseline="-25000" dirty="0"/>
                  <a:t>1</a:t>
                </a:r>
                <a:r>
                  <a:rPr lang="en-US" sz="2800" i="1" dirty="0"/>
                  <a:t>) </a:t>
                </a:r>
                <a:r>
                  <a:rPr lang="en-US" sz="2800" dirty="0"/>
                  <a:t>and</a:t>
                </a:r>
                <a:r>
                  <a:rPr lang="en-US" sz="2800" i="1" dirty="0"/>
                  <a:t> </a:t>
                </a:r>
                <a:r>
                  <a:rPr lang="en-US" sz="2800" dirty="0"/>
                  <a:t>(</a:t>
                </a:r>
                <a:r>
                  <a:rPr lang="en-US" sz="2800" i="1" dirty="0">
                    <a:sym typeface="Symbol" panose="05050102010706020507" pitchFamily="18" charset="2"/>
                  </a:rPr>
                  <a:t></a:t>
                </a:r>
                <a:r>
                  <a:rPr lang="en-US" sz="2800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US" sz="2800" i="1" dirty="0"/>
                  <a:t>,z</a:t>
                </a:r>
                <a:r>
                  <a:rPr lang="en-US" sz="2800" i="1" baseline="-25000" dirty="0"/>
                  <a:t>2</a:t>
                </a:r>
                <a:r>
                  <a:rPr lang="en-US" sz="2800" i="1" dirty="0"/>
                  <a:t>,c</a:t>
                </a:r>
                <a:r>
                  <a:rPr lang="en-US" sz="2800" i="1" baseline="-25000" dirty="0"/>
                  <a:t>2</a:t>
                </a:r>
                <a:r>
                  <a:rPr lang="en-US" sz="2800" i="1" dirty="0"/>
                  <a:t>)</a:t>
                </a:r>
              </a:p>
              <a:p>
                <a:pPr marL="0" indent="0">
                  <a:buNone/>
                </a:pPr>
                <a:r>
                  <a:rPr lang="en-US" sz="2800" i="1" dirty="0"/>
                  <a:t>                are </a:t>
                </a:r>
                <a:r>
                  <a:rPr lang="en-US" sz="2800" b="1" i="1" dirty="0"/>
                  <a:t>singular </a:t>
                </a:r>
                <a:r>
                  <a:rPr lang="en-US" sz="2800" i="1" dirty="0"/>
                  <a:t>triplets at </a:t>
                </a:r>
                <a:r>
                  <a:rPr lang="en-US" sz="2800" b="1" i="1" dirty="0"/>
                  <a:t>maximum</a:t>
                </a:r>
                <a:r>
                  <a:rPr lang="en-US" sz="2800" i="1" dirty="0"/>
                  <a:t> singular</a:t>
                </a:r>
              </a:p>
              <a:p>
                <a:pPr marL="0" indent="0">
                  <a:buNone/>
                </a:pPr>
                <a:r>
                  <a:rPr lang="en-US" sz="2800" i="1" dirty="0"/>
                  <a:t>                values of Y,   so that Data scatter T(Y)</a:t>
                </a:r>
              </a:p>
              <a:p>
                <a:pPr marL="0" indent="0">
                  <a:buNone/>
                </a:pPr>
                <a:r>
                  <a:rPr lang="en-US" sz="2800" i="1" dirty="0"/>
                  <a:t>                              </a:t>
                </a:r>
                <a:r>
                  <a:rPr lang="en-US" sz="2800" b="1" i="1" dirty="0"/>
                  <a:t>    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𝒊𝒗</m:t>
                            </m:r>
                          </m:sub>
                          <m:sup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dirty="0"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sz="2800" b="1" i="1" dirty="0">
                            <a:sym typeface="Symbol" panose="05050102010706020507" pitchFamily="18" charset="2"/>
                          </a:rPr>
                          <m:t></m:t>
                        </m:r>
                      </m:e>
                      <m:sub>
                        <m:r>
                          <a:rPr lang="en-US" sz="2800" b="1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𝟏</m:t>
                        </m:r>
                      </m:sub>
                      <m:sup>
                        <m:r>
                          <a:rPr lang="en-US" sz="2800" b="1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sz="2800" b="1" dirty="0"/>
                  <a:t>+</a:t>
                </a:r>
                <a:r>
                  <a:rPr lang="en-US" sz="2800" b="1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dirty="0"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sz="2800" b="1" i="1" dirty="0">
                            <a:sym typeface="Symbol" panose="05050102010706020507" pitchFamily="18" charset="2"/>
                          </a:rPr>
                          <m:t></m:t>
                        </m:r>
                      </m:e>
                      <m:sub>
                        <m:r>
                          <a:rPr lang="en-US" sz="2800" b="1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</m:sub>
                      <m:sup>
                        <m:r>
                          <a:rPr lang="en-US" sz="2800" b="1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sz="2800" b="1" dirty="0"/>
                  <a:t>+ </a:t>
                </a:r>
                <a:r>
                  <a:rPr lang="en-US" sz="2800" b="1" i="1" dirty="0"/>
                  <a:t>L</a:t>
                </a:r>
                <a:endParaRPr lang="ru-RU" sz="2800" b="1" i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B1CF1E-4278-429E-922C-6DCA7B2D3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2695"/>
                <a:ext cx="9144000" cy="6028779"/>
              </a:xfrm>
              <a:blipFill>
                <a:blip r:embed="rId2"/>
                <a:stretch>
                  <a:fillRect l="-667" t="-303" r="-7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18AA2D-0CA0-4C2B-A109-A2BD5BA3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402D6A-D827-4F6A-A2FC-B92D2DA7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05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484784"/>
            <a:ext cx="8964488" cy="3284984"/>
          </a:xfrm>
        </p:spPr>
        <p:txBody>
          <a:bodyPr>
            <a:noAutofit/>
          </a:bodyPr>
          <a:lstStyle/>
          <a:p>
            <a:r>
              <a:rPr lang="en-US" sz="3200" b="1" dirty="0"/>
              <a:t>                  </a:t>
            </a:r>
            <a:r>
              <a:rPr lang="ru-RU" sz="2800" b="1" dirty="0"/>
              <a:t>Сингулярные тройки, </a:t>
            </a:r>
            <a:br>
              <a:rPr lang="en-US" sz="2800" b="1" dirty="0"/>
            </a:br>
            <a:r>
              <a:rPr lang="en-US" sz="2800" b="1" dirty="0"/>
              <a:t>          </a:t>
            </a:r>
            <a:r>
              <a:rPr lang="ru-RU" sz="2800" b="1" dirty="0"/>
              <a:t>связь с задачей о собственных значениях. 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                 </a:t>
            </a:r>
            <a:r>
              <a:rPr lang="ru-RU" sz="2800" b="1" dirty="0"/>
              <a:t>Сингулярное и спектральное </a:t>
            </a:r>
            <a:br>
              <a:rPr lang="en-US" sz="2800" b="1" dirty="0"/>
            </a:br>
            <a:r>
              <a:rPr lang="en-US" sz="2800" b="1" dirty="0"/>
              <a:t>                      </a:t>
            </a:r>
            <a:r>
              <a:rPr lang="ru-RU" sz="2800" b="1" dirty="0"/>
              <a:t>разложения матриц. 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                               (a bit of </a:t>
            </a:r>
            <a:r>
              <a:rPr lang="en-US" sz="2800" b="1" dirty="0" err="1"/>
              <a:t>Maths</a:t>
            </a:r>
            <a:r>
              <a:rPr lang="en-US" sz="2800" b="1" dirty="0"/>
              <a:t>)</a:t>
            </a:r>
            <a:br>
              <a:rPr lang="en-US" sz="2800" b="1" dirty="0"/>
            </a:b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9C4-C576-4FF8-9753-4225908504F0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740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Сингулярная тройка</a:t>
            </a:r>
            <a:endParaRPr lang="ru-RU" sz="27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5513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            NV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dirty="0">
                    <a:sym typeface="Symbol"/>
                  </a:rPr>
                  <a:t>data matrix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=[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iv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</a:t>
                </a:r>
                <a:r>
                  <a:rPr lang="en-US" sz="2800" b="1" dirty="0">
                    <a:sym typeface="Symbol"/>
                  </a:rPr>
                  <a:t> transforms </a:t>
                </a:r>
              </a:p>
              <a:p>
                <a:r>
                  <a:rPr lang="en-US" sz="2800" b="1" i="1" dirty="0">
                    <a:sym typeface="Symbol"/>
                  </a:rPr>
                  <a:t>              V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</a:t>
                </a:r>
                <a:r>
                  <a:rPr lang="en-US" sz="2800" b="1" i="1" dirty="0">
                    <a:sym typeface="Symbol"/>
                  </a:rPr>
                  <a:t>1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c </a:t>
                </a:r>
                <a:r>
                  <a:rPr lang="en-US" sz="2800" b="1" dirty="0">
                    <a:sym typeface="Symbol"/>
                  </a:rPr>
                  <a:t>into </a:t>
                </a:r>
                <a:r>
                  <a:rPr lang="en-US" sz="2800" b="1" i="1" dirty="0">
                    <a:sym typeface="Symbol"/>
                  </a:rPr>
                  <a:t>N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</a:t>
                </a:r>
                <a:r>
                  <a:rPr lang="en-US" sz="2800" b="1" i="1" dirty="0">
                    <a:sym typeface="Symbol"/>
                  </a:rPr>
                  <a:t>1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z=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 panose="05050102010706020507" pitchFamily="18" charset="2"/>
                  </a:rPr>
                  <a:t>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   VN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</a:t>
                </a:r>
                <a:r>
                  <a:rPr lang="en-US" sz="2800" b="1" dirty="0">
                    <a:sym typeface="Symbol"/>
                  </a:rPr>
                  <a:t>transpose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=[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vi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</a:t>
                </a:r>
                <a:r>
                  <a:rPr lang="en-US" sz="2800" b="1" dirty="0">
                    <a:sym typeface="Symbol"/>
                  </a:rPr>
                  <a:t> transforms </a:t>
                </a:r>
                <a:r>
                  <a:rPr lang="en-US" sz="2800" b="1" i="1" dirty="0">
                    <a:sym typeface="Symbol"/>
                  </a:rPr>
                  <a:t>Nx1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z 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               </a:t>
                </a:r>
                <a:r>
                  <a:rPr lang="en-US" sz="2800" b="1" dirty="0">
                    <a:sym typeface="Symbol"/>
                  </a:rPr>
                  <a:t>into </a:t>
                </a:r>
                <a:r>
                  <a:rPr lang="en-US" sz="2800" b="1" i="1" dirty="0">
                    <a:sym typeface="Symbol"/>
                  </a:rPr>
                  <a:t>Vx1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𝒄</m:t>
                        </m:r>
                      </m:e>
                    </m:acc>
                    <m:r>
                      <a:rPr lang="en-US" sz="2800" b="1" i="1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=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baseline="30000" dirty="0" err="1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 panose="05050102010706020507" pitchFamily="18" charset="2"/>
                  </a:rPr>
                  <a:t>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</a:t>
                </a:r>
                <a:endParaRPr lang="en-US" sz="3200" b="1" dirty="0">
                  <a:sym typeface="Symbol"/>
                </a:endParaRPr>
              </a:p>
              <a:p>
                <a:endParaRPr lang="en-US" sz="3200" b="1" dirty="0">
                  <a:sym typeface="Symbol"/>
                </a:endParaRPr>
              </a:p>
              <a:p>
                <a:r>
                  <a:rPr lang="en-US" sz="3200" b="1" dirty="0">
                    <a:sym typeface="Symbol"/>
                  </a:rPr>
                  <a:t>            A triplet (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, c, z) </a:t>
                </a:r>
                <a:r>
                  <a:rPr lang="en-US" sz="3200" b="1" dirty="0">
                    <a:sym typeface="Symbol"/>
                  </a:rPr>
                  <a:t>is singular for  </a:t>
                </a:r>
                <a:r>
                  <a:rPr lang="en-US" sz="3200" b="1" i="1" dirty="0">
                    <a:sym typeface="Symbol"/>
                  </a:rPr>
                  <a:t>Y  </a:t>
                </a:r>
                <a:r>
                  <a:rPr lang="en-US" sz="3200" b="1" dirty="0">
                    <a:sym typeface="Symbol"/>
                  </a:rPr>
                  <a:t> </a:t>
                </a:r>
                <a:r>
                  <a:rPr lang="en-US" sz="3200" b="1" dirty="0" err="1">
                    <a:sym typeface="Symbol"/>
                  </a:rPr>
                  <a:t>iff</a:t>
                </a:r>
                <a:r>
                  <a:rPr lang="en-US" sz="3200" b="1" dirty="0">
                    <a:sym typeface="Symbol"/>
                  </a:rPr>
                  <a:t> </a:t>
                </a:r>
              </a:p>
              <a:p>
                <a:r>
                  <a:rPr lang="en-US" sz="3200" b="1" dirty="0">
                    <a:sym typeface="Symbol"/>
                  </a:rPr>
                  <a:t>                            </a:t>
                </a:r>
                <a:r>
                  <a:rPr lang="ru-RU" sz="3200" b="1" dirty="0">
                    <a:sym typeface="Symbol"/>
                  </a:rPr>
                  <a:t>(</a:t>
                </a:r>
                <a:r>
                  <a:rPr lang="en-US" sz="3200" b="1" dirty="0">
                    <a:sym typeface="Symbol"/>
                  </a:rPr>
                  <a:t>if and only if)</a:t>
                </a:r>
                <a:r>
                  <a:rPr lang="en-US" sz="3200" b="1" i="1" dirty="0">
                    <a:sym typeface="Symbol"/>
                  </a:rPr>
                  <a:t>:</a:t>
                </a:r>
              </a:p>
              <a:p>
                <a:r>
                  <a:rPr lang="en-US" sz="3600" b="1" dirty="0">
                    <a:solidFill>
                      <a:schemeClr val="tx2"/>
                    </a:solidFill>
                    <a:sym typeface="Symbol"/>
                  </a:rPr>
                  <a:t>                     </a:t>
                </a:r>
              </a:p>
              <a:p>
                <a:r>
                  <a:rPr lang="en-US" sz="3600" b="1" dirty="0">
                    <a:solidFill>
                      <a:schemeClr val="tx2"/>
                    </a:solidFill>
                    <a:sym typeface="Symbol"/>
                  </a:rPr>
                  <a:t>                  </a:t>
                </a:r>
                <a:r>
                  <a:rPr lang="ru-RU" sz="3600" b="1" dirty="0">
                    <a:solidFill>
                      <a:schemeClr val="tx2"/>
                    </a:solidFill>
                    <a:sym typeface="Symbol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3600" b="1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600" b="1" i="1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Yc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3600" b="1" i="0" dirty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= 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</m:t>
                            </m:r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z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3600" b="1" i="0" baseline="30000" dirty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z </m:t>
                            </m:r>
                            <m:r>
                              <m:rPr>
                                <m:nor/>
                              </m:rPr>
                              <a:rPr lang="en-US" sz="3600" b="1" i="0" dirty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= 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sym typeface="Symbol"/>
                              </a:rPr>
                              <m:t>c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3600" b="1" dirty="0">
                    <a:sym typeface="Symbol"/>
                  </a:rPr>
                  <a:t>        (*)</a:t>
                </a:r>
                <a:endParaRPr lang="en-US" sz="3600" b="1" dirty="0"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5513882"/>
              </a:xfrm>
              <a:prstGeom prst="rect">
                <a:avLst/>
              </a:prstGeom>
              <a:blipFill>
                <a:blip r:embed="rId3"/>
                <a:stretch>
                  <a:fillRect t="-1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890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0011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Сингулярные значения </a:t>
            </a:r>
            <a:r>
              <a:rPr lang="en-US" sz="3200" b="1" i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и собственные числа</a:t>
            </a: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i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r>
              <a:rPr lang="en-US" sz="3200" b="1" i="1" dirty="0">
                <a:solidFill>
                  <a:schemeClr val="tx2"/>
                </a:solidFill>
                <a:sym typeface="Symbol"/>
              </a:rPr>
              <a:t>=Y</a:t>
            </a:r>
            <a:r>
              <a:rPr lang="en-US" sz="3200" b="1" baseline="30000" dirty="0">
                <a:solidFill>
                  <a:schemeClr val="tx2"/>
                </a:solidFill>
                <a:sym typeface="Symbol"/>
              </a:rPr>
              <a:t>T</a:t>
            </a:r>
            <a:r>
              <a:rPr lang="en-US" sz="3200" b="1" i="1" dirty="0">
                <a:solidFill>
                  <a:schemeClr val="tx2"/>
                </a:solidFill>
                <a:sym typeface="Symbol"/>
              </a:rPr>
              <a:t>Y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, </a:t>
            </a:r>
            <a:endParaRPr lang="ru-RU" sz="27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5940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                      </a:t>
                </a:r>
                <a:r>
                  <a:rPr lang="ru-RU" sz="2800" b="1" dirty="0">
                    <a:solidFill>
                      <a:schemeClr val="tx2"/>
                    </a:solidFill>
                    <a:sym typeface="Symbol"/>
                  </a:rPr>
                  <a:t>Рассмотрим</a:t>
                </a:r>
              </a:p>
              <a:p>
                <a:r>
                  <a:rPr lang="ru-RU" sz="2800" b="1" i="1" dirty="0">
                    <a:solidFill>
                      <a:schemeClr val="tx2"/>
                    </a:solidFill>
                    <a:sym typeface="Symbol"/>
                  </a:rPr>
                  <a:t>                           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 </a:t>
                </a:r>
                <a:r>
                  <a:rPr lang="ru-RU" sz="2800" b="1" i="1" dirty="0">
                    <a:solidFill>
                      <a:schemeClr val="tx2"/>
                    </a:solidFill>
                    <a:sym typeface="Symbol"/>
                  </a:rPr>
                  <a:t>               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A=Y</a:t>
                </a:r>
                <a:r>
                  <a:rPr lang="en-US" sz="28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Y</a:t>
                </a:r>
              </a:p>
              <a:p>
                <a:r>
                  <a:rPr lang="ru-RU" sz="3200" b="1" dirty="0">
                    <a:solidFill>
                      <a:schemeClr val="tx2"/>
                    </a:solidFill>
                    <a:sym typeface="Symbol"/>
                  </a:rPr>
                  <a:t>Собственное число</a:t>
                </a:r>
                <a:r>
                  <a:rPr lang="en-US" sz="3200" b="1" dirty="0">
                    <a:sym typeface="Symbol"/>
                  </a:rPr>
                  <a:t> 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 &gt;0</a:t>
                </a:r>
                <a:r>
                  <a:rPr lang="ru-RU" sz="3200" b="1" i="1" dirty="0">
                    <a:solidFill>
                      <a:schemeClr val="tx2"/>
                    </a:solidFill>
                    <a:sym typeface="Symbol"/>
                  </a:rPr>
                  <a:t>: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         </a:t>
                </a:r>
                <a:endParaRPr lang="ru-RU" sz="3200" b="1" i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ru-RU" sz="3200" b="1" i="1" dirty="0">
                    <a:solidFill>
                      <a:schemeClr val="tx2"/>
                    </a:solidFill>
                    <a:sym typeface="Symbol"/>
                  </a:rPr>
                  <a:t>             </a:t>
                </a:r>
                <a:r>
                  <a:rPr lang="en-US" sz="3200" b="1" i="1" dirty="0" err="1">
                    <a:solidFill>
                      <a:schemeClr val="tx2"/>
                    </a:solidFill>
                    <a:sym typeface="Symbol"/>
                  </a:rPr>
                  <a:t>Ac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3200" b="1" dirty="0">
                    <a:sym typeface="Symbol"/>
                  </a:rPr>
                  <a:t>= 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c   </a:t>
                </a:r>
                <a:r>
                  <a:rPr lang="en-US" sz="3200" b="1" dirty="0">
                    <a:solidFill>
                      <a:schemeClr val="tx2"/>
                    </a:solidFill>
                    <a:sym typeface="Symbol"/>
                  </a:rPr>
                  <a:t>:</a:t>
                </a:r>
                <a:r>
                  <a:rPr lang="en-US" sz="3200" b="1" i="1" dirty="0">
                    <a:sym typeface="Symbol"/>
                  </a:rPr>
                  <a:t>     </a:t>
                </a:r>
                <a:r>
                  <a:rPr lang="en-US" sz="3200" b="1" dirty="0">
                    <a:sym typeface="Symbol"/>
                  </a:rPr>
                  <a:t>eigen-couple</a:t>
                </a:r>
                <a:r>
                  <a:rPr lang="en-US" sz="3200" b="1" dirty="0">
                    <a:solidFill>
                      <a:schemeClr val="tx2"/>
                    </a:solidFill>
                    <a:sym typeface="Symbol"/>
                  </a:rPr>
                  <a:t> (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, c</a:t>
                </a:r>
                <a:r>
                  <a:rPr lang="en-US" sz="3200" b="1" dirty="0">
                    <a:solidFill>
                      <a:schemeClr val="tx2"/>
                    </a:solidFill>
                    <a:sym typeface="Symbol"/>
                  </a:rPr>
                  <a:t>)</a:t>
                </a:r>
                <a:endParaRPr lang="en-US" sz="3200" b="1" dirty="0">
                  <a:sym typeface="Symbol"/>
                </a:endParaRPr>
              </a:p>
              <a:p>
                <a:r>
                  <a:rPr lang="ru-RU" sz="3200" b="1" dirty="0">
                    <a:sym typeface="Symbol"/>
                  </a:rPr>
                  <a:t>Переведем «на язык </a:t>
                </a:r>
                <a:r>
                  <a:rPr lang="en-US" sz="3200" b="1" dirty="0">
                    <a:sym typeface="Symbol"/>
                  </a:rPr>
                  <a:t>Y</a:t>
                </a:r>
                <a:r>
                  <a:rPr lang="ru-RU" sz="3200" b="1" dirty="0">
                    <a:sym typeface="Symbol"/>
                  </a:rPr>
                  <a:t>»</a:t>
                </a:r>
                <a:r>
                  <a:rPr lang="en-US" sz="3200" b="1" dirty="0">
                    <a:sym typeface="Symbol"/>
                  </a:rPr>
                  <a:t>:</a:t>
                </a:r>
              </a:p>
              <a:p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           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36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(</a:t>
                </a:r>
                <a:r>
                  <a:rPr lang="en-US" sz="3600" b="1" i="1" dirty="0" err="1">
                    <a:solidFill>
                      <a:schemeClr val="tx2"/>
                    </a:solidFill>
                    <a:sym typeface="Symbol"/>
                  </a:rPr>
                  <a:t>Yc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) </a:t>
                </a:r>
                <a:r>
                  <a:rPr lang="en-US" sz="3600" b="1" dirty="0">
                    <a:sym typeface="Symbol"/>
                  </a:rPr>
                  <a:t>=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c = </a:t>
                </a:r>
                <a:r>
                  <a:rPr lang="en-US" sz="3600" b="1" i="1" baseline="30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3600" b="1" dirty="0">
                    <a:sym typeface="Symbol"/>
                  </a:rPr>
                  <a:t>   where  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=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36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  <m:t></m:t>
                        </m:r>
                      </m:e>
                    </m:rad>
                  </m:oMath>
                </a14:m>
                <a:r>
                  <a:rPr lang="en-US" sz="3600" b="1" dirty="0">
                    <a:sym typeface="Symbol"/>
                  </a:rPr>
                  <a:t> </a:t>
                </a:r>
              </a:p>
              <a:p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           Y</a:t>
                </a:r>
                <a:r>
                  <a:rPr lang="en-US" sz="36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(</a:t>
                </a:r>
                <a:r>
                  <a:rPr lang="en-US" sz="3600" b="1" i="1" dirty="0" err="1">
                    <a:solidFill>
                      <a:schemeClr val="tx2"/>
                    </a:solidFill>
                    <a:sym typeface="Symbol"/>
                  </a:rPr>
                  <a:t>Yc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/) </a:t>
                </a:r>
                <a:r>
                  <a:rPr lang="en-US" sz="3600" b="1" dirty="0">
                    <a:sym typeface="Symbol"/>
                  </a:rPr>
                  <a:t>=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c</a:t>
                </a:r>
                <a:endParaRPr lang="en-US" sz="3600" b="1" dirty="0">
                  <a:sym typeface="Symbol"/>
                </a:endParaRPr>
              </a:p>
              <a:p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           </a:t>
                </a:r>
                <a:r>
                  <a:rPr lang="en-US" sz="4000" b="1" i="1" dirty="0">
                    <a:sym typeface="Symbol"/>
                  </a:rPr>
                  <a:t>Yz </a:t>
                </a:r>
                <a:r>
                  <a:rPr lang="en-US" sz="4000" b="1" dirty="0">
                    <a:sym typeface="Symbol"/>
                  </a:rPr>
                  <a:t>= </a:t>
                </a:r>
                <a:r>
                  <a:rPr lang="en-US" sz="4000" b="1" i="1" dirty="0">
                    <a:sym typeface="Symbol"/>
                  </a:rPr>
                  <a:t>c,    z=</a:t>
                </a:r>
                <a:r>
                  <a:rPr lang="en-US" sz="4000" b="1" i="1" dirty="0" err="1">
                    <a:sym typeface="Symbol"/>
                  </a:rPr>
                  <a:t>Yc</a:t>
                </a:r>
                <a:r>
                  <a:rPr lang="en-US" sz="4000" b="1" i="1" dirty="0">
                    <a:sym typeface="Symbol"/>
                  </a:rPr>
                  <a:t>/    </a:t>
                </a:r>
                <a:r>
                  <a:rPr lang="en-US" sz="4000" b="1" dirty="0">
                    <a:sym typeface="Symbol"/>
                  </a:rPr>
                  <a:t>(*)</a:t>
                </a:r>
              </a:p>
              <a:p>
                <a:r>
                  <a:rPr lang="en-US" sz="3200" b="1" dirty="0">
                    <a:sym typeface="Symbol"/>
                  </a:rPr>
                  <a:t>            (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, c, z) </a:t>
                </a:r>
                <a:r>
                  <a:rPr lang="ru-RU" sz="3200" b="1" i="1" dirty="0">
                    <a:solidFill>
                      <a:schemeClr val="tx2"/>
                    </a:solidFill>
                    <a:sym typeface="Symbol"/>
                  </a:rPr>
                  <a:t>- </a:t>
                </a:r>
                <a:r>
                  <a:rPr lang="ru-RU" sz="3200" b="1" dirty="0">
                    <a:sym typeface="Symbol"/>
                  </a:rPr>
                  <a:t>сингулярная тройка</a:t>
                </a:r>
                <a:r>
                  <a:rPr lang="en-US" sz="3200" b="1" dirty="0">
                    <a:sym typeface="Symbol"/>
                  </a:rPr>
                  <a:t> </a:t>
                </a:r>
                <a:r>
                  <a:rPr lang="ru-RU" sz="3200" b="1" dirty="0">
                    <a:sym typeface="Symbol"/>
                  </a:rPr>
                  <a:t>для </a:t>
                </a:r>
                <a:r>
                  <a:rPr lang="en-US" sz="3200" b="1" dirty="0">
                    <a:sym typeface="Symbol"/>
                  </a:rPr>
                  <a:t>Y</a:t>
                </a:r>
                <a:r>
                  <a:rPr lang="en-US" sz="3200" b="1" i="1" dirty="0">
                    <a:sym typeface="Symbol"/>
                  </a:rPr>
                  <a:t>:</a:t>
                </a:r>
              </a:p>
              <a:p>
                <a:r>
                  <a:rPr lang="en-US" sz="3600" b="1" dirty="0">
                    <a:solidFill>
                      <a:schemeClr val="tx2"/>
                    </a:solidFill>
                    <a:sym typeface="Symbol"/>
                  </a:rPr>
                  <a:t>            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36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6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Yc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3600" b="1" i="0" dirty="0">
                                <a:sym typeface="Symbol"/>
                              </a:rPr>
                              <m:t>= 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</m:t>
                            </m:r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z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z </m:t>
                            </m:r>
                            <m:r>
                              <m:rPr>
                                <m:nor/>
                              </m:rPr>
                              <a:rPr lang="en-US" sz="3600" b="1" i="0" dirty="0">
                                <a:sym typeface="Symbol"/>
                              </a:rPr>
                              <m:t>= 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c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3600" b="1" dirty="0">
                    <a:sym typeface="Symbol"/>
                  </a:rPr>
                  <a:t>  (*)                       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5940922"/>
              </a:xfrm>
              <a:prstGeom prst="rect">
                <a:avLst/>
              </a:prstGeom>
              <a:blipFill>
                <a:blip r:embed="rId3"/>
                <a:stretch>
                  <a:fillRect l="-1667" t="-1026" r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55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Сингулярные значения</a:t>
            </a: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i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</a:t>
            </a:r>
            <a:br>
              <a:rPr lang="en-US" sz="3200" b="1" i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i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и собственные числа</a:t>
            </a: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i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, 2</a:t>
            </a:r>
            <a:endParaRPr lang="ru-RU" sz="27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5021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  <a:sym typeface="Symbol"/>
                  </a:rPr>
                  <a:t>                       </a:t>
                </a:r>
                <a:r>
                  <a:rPr lang="ru-RU" sz="2800" b="1" dirty="0">
                    <a:solidFill>
                      <a:srgbClr val="C00000"/>
                    </a:solidFill>
                    <a:sym typeface="Symbol"/>
                  </a:rPr>
                  <a:t>Доказано</a:t>
                </a:r>
                <a:r>
                  <a:rPr lang="en-US" sz="2800" b="1" dirty="0">
                    <a:solidFill>
                      <a:srgbClr val="C00000"/>
                    </a:solidFill>
                    <a:sym typeface="Symbol"/>
                  </a:rPr>
                  <a:t>:</a:t>
                </a:r>
              </a:p>
              <a:p>
                <a:r>
                  <a:rPr lang="en-US" sz="3200" b="1" dirty="0">
                    <a:sym typeface="Symbol"/>
                  </a:rPr>
                  <a:t>A triplet </a:t>
                </a:r>
                <a:r>
                  <a:rPr lang="en-US" sz="3600" b="1" dirty="0">
                    <a:sym typeface="Symbol"/>
                  </a:rPr>
                  <a:t>(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, c, z) </a:t>
                </a:r>
                <a:r>
                  <a:rPr lang="en-US" sz="3600" b="1" dirty="0">
                    <a:sym typeface="Symbol"/>
                  </a:rPr>
                  <a:t>is singular for  </a:t>
                </a:r>
                <a:r>
                  <a:rPr lang="en-US" sz="3600" b="1" i="1" dirty="0">
                    <a:sym typeface="Symbol"/>
                  </a:rPr>
                  <a:t>Y</a:t>
                </a:r>
                <a:r>
                  <a:rPr lang="en-US" sz="3200" b="1" dirty="0">
                    <a:sym typeface="Symbol"/>
                  </a:rPr>
                  <a:t>, that is,</a:t>
                </a:r>
              </a:p>
              <a:p>
                <a:r>
                  <a:rPr lang="en-US" sz="3600" b="1" dirty="0">
                    <a:solidFill>
                      <a:schemeClr val="tx2"/>
                    </a:solidFill>
                    <a:sym typeface="Symbol"/>
                  </a:rPr>
                  <a:t>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36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6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c </m:t>
                            </m:r>
                            <m:r>
                              <m:rPr>
                                <m:nor/>
                              </m:rPr>
                              <a:rPr lang="en-US" sz="3600" b="1" i="0" dirty="0">
                                <a:sym typeface="Symbol"/>
                              </a:rPr>
                              <m:t>= 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z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36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=Y</m:t>
                            </m:r>
                            <m:r>
                              <m:rPr>
                                <m:nor/>
                              </m:rPr>
                              <a:rPr lang="en-US" sz="3600" b="1" i="0" baseline="30000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Y z </m:t>
                            </m:r>
                            <m:r>
                              <m:rPr>
                                <m:nor/>
                              </m:rPr>
                              <a:rPr lang="en-US" sz="3600" b="1" i="0" dirty="0">
                                <a:sym typeface="Symbol"/>
                              </a:rPr>
                              <m:t>= </m:t>
                            </m:r>
                            <m:r>
                              <m:rPr>
                                <m:nor/>
                              </m:rPr>
                              <a:rPr lang="en-US" sz="3600" b="1" i="1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c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3600" b="1" dirty="0">
                    <a:sym typeface="Symbol"/>
                  </a:rPr>
                  <a:t>                        (*)                         </a:t>
                </a:r>
              </a:p>
              <a:p>
                <a:r>
                  <a:rPr lang="en-US" sz="3200" b="1" dirty="0">
                    <a:sym typeface="Symbol"/>
                  </a:rPr>
                  <a:t>                       if and only if</a:t>
                </a:r>
                <a:r>
                  <a:rPr lang="en-US" sz="3200" b="1" i="1" dirty="0">
                    <a:sym typeface="Symbol"/>
                  </a:rPr>
                  <a:t> </a:t>
                </a:r>
              </a:p>
              <a:p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      c </a:t>
                </a:r>
                <a:r>
                  <a:rPr lang="en-US" sz="3600" b="1" dirty="0">
                    <a:sym typeface="Symbol"/>
                  </a:rPr>
                  <a:t>is eigenvector of </a:t>
                </a:r>
                <a:r>
                  <a:rPr lang="en-US" sz="3600" b="1" i="1" dirty="0">
                    <a:sym typeface="Symbol"/>
                  </a:rPr>
                  <a:t>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A=YY   </a:t>
                </a:r>
              </a:p>
              <a:p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     </a:t>
                </a:r>
                <a:r>
                  <a:rPr lang="en-US" sz="3200" b="1" dirty="0">
                    <a:sym typeface="Symbol"/>
                  </a:rPr>
                  <a:t>corresponding to eigenvalue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 = </a:t>
                </a:r>
                <a:r>
                  <a:rPr lang="en-US" sz="3600" b="1" i="1" baseline="30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3200" b="1" dirty="0">
                    <a:sym typeface="Symbol"/>
                  </a:rPr>
                  <a:t> </a:t>
                </a:r>
                <a:r>
                  <a:rPr lang="ru-RU" sz="3200" b="1" i="1" dirty="0">
                    <a:sym typeface="Symbol"/>
                  </a:rPr>
                  <a:t>;</a:t>
                </a:r>
              </a:p>
              <a:p>
                <a:r>
                  <a:rPr lang="ru-RU" sz="3200" b="1" i="1" dirty="0">
                    <a:sym typeface="Symbol"/>
                  </a:rPr>
                  <a:t>При этом</a:t>
                </a:r>
                <a:r>
                  <a:rPr lang="ru-RU" sz="3200" b="1" dirty="0">
                    <a:sym typeface="Symbol"/>
                  </a:rPr>
                  <a:t> 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ru-RU" sz="3200" b="1" dirty="0">
                    <a:sym typeface="Symbol"/>
                  </a:rPr>
                  <a:t> определяется уравнением:</a:t>
                </a:r>
                <a:r>
                  <a:rPr lang="en-US" sz="3200" b="1" dirty="0">
                    <a:sym typeface="Symbol"/>
                  </a:rPr>
                  <a:t>     </a:t>
                </a:r>
                <a:endParaRPr lang="ru-RU" sz="3200" b="1" dirty="0">
                  <a:sym typeface="Symbol"/>
                </a:endParaRPr>
              </a:p>
              <a:p>
                <a:r>
                  <a:rPr lang="ru-RU" sz="3200" b="1" i="1" dirty="0">
                    <a:solidFill>
                      <a:schemeClr val="tx2"/>
                    </a:solidFill>
                    <a:sym typeface="Symbol"/>
                  </a:rPr>
                  <a:t>                        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z= </a:t>
                </a:r>
                <a:r>
                  <a:rPr lang="en-US" sz="3600" b="1" i="1" dirty="0" err="1">
                    <a:solidFill>
                      <a:schemeClr val="tx2"/>
                    </a:solidFill>
                    <a:sym typeface="Symbol"/>
                  </a:rPr>
                  <a:t>Yc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/</a:t>
                </a:r>
                <a:r>
                  <a:rPr lang="ru-RU" sz="3600" b="1" i="1" dirty="0">
                    <a:solidFill>
                      <a:schemeClr val="tx2"/>
                    </a:solidFill>
                    <a:sym typeface="Symbol"/>
                  </a:rPr>
                  <a:t>                </a:t>
                </a:r>
                <a:r>
                  <a:rPr lang="ru-RU" sz="3600" b="1" dirty="0">
                    <a:solidFill>
                      <a:schemeClr val="tx2"/>
                    </a:solidFill>
                    <a:sym typeface="Symbol"/>
                  </a:rPr>
                  <a:t>(**)</a:t>
                </a:r>
                <a:endParaRPr lang="en-US" sz="3600" b="1" dirty="0"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5021439"/>
              </a:xfrm>
              <a:prstGeom prst="rect">
                <a:avLst/>
              </a:prstGeom>
              <a:blipFill>
                <a:blip r:embed="rId3"/>
                <a:stretch>
                  <a:fillRect l="-1667" t="-1214" r="-33933" b="-2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640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</a:t>
            </a:r>
            <a: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Сингулярные значения и </a:t>
            </a:r>
            <a:b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</a:t>
            </a:r>
            <a: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собственные числа, 3</a:t>
            </a:r>
            <a:endParaRPr lang="ru-RU" sz="27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8586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        </a:t>
                </a:r>
                <a:r>
                  <a:rPr lang="en-US" sz="2800" b="1" i="1" dirty="0">
                    <a:sym typeface="Symbol"/>
                  </a:rPr>
                  <a:t>D</a:t>
                </a:r>
                <a:r>
                  <a:rPr lang="en-US" sz="2800" b="1" dirty="0">
                    <a:sym typeface="Symbol"/>
                  </a:rPr>
                  <a:t>ata matrix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=[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iv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</a:t>
                </a:r>
                <a:r>
                  <a:rPr lang="en-US" sz="2800" b="1" dirty="0">
                    <a:sym typeface="Symbol"/>
                  </a:rPr>
                  <a:t> transforms </a:t>
                </a:r>
                <a:r>
                  <a:rPr lang="en-US" sz="2800" b="1" i="1" dirty="0">
                    <a:sym typeface="Symbol"/>
                  </a:rPr>
                  <a:t>c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</a:t>
                </a:r>
                <a:r>
                  <a:rPr lang="en-US" sz="2800" b="1" i="1" dirty="0">
                    <a:sym typeface="Symbol"/>
                  </a:rPr>
                  <a:t> R</a:t>
                </a:r>
                <a:r>
                  <a:rPr lang="en-US" sz="2800" b="1" i="1" baseline="30000" dirty="0">
                    <a:sym typeface="Symbol"/>
                  </a:rPr>
                  <a:t>V </a:t>
                </a:r>
              </a:p>
              <a:p>
                <a:r>
                  <a:rPr lang="en-US" sz="2800" b="1" i="1" baseline="30000" dirty="0">
                    <a:sym typeface="Symbol"/>
                  </a:rPr>
                  <a:t>                               </a:t>
                </a:r>
                <a:r>
                  <a:rPr lang="en-US" sz="2800" b="1" dirty="0">
                    <a:sym typeface="Symbol"/>
                  </a:rPr>
                  <a:t>in   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z=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 panose="05050102010706020507" pitchFamily="18" charset="2"/>
                  </a:rPr>
                  <a:t>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</a:t>
                </a:r>
                <a:r>
                  <a:rPr lang="en-US" sz="2800" b="1" i="1" dirty="0">
                    <a:sym typeface="Symbol"/>
                  </a:rPr>
                  <a:t> R</a:t>
                </a:r>
                <a:r>
                  <a:rPr lang="en-US" sz="2800" b="1" i="1" baseline="30000" dirty="0">
                    <a:sym typeface="Symbol"/>
                  </a:rPr>
                  <a:t>N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T</a:t>
                </a:r>
                <a:r>
                  <a:rPr lang="en-US" sz="2800" b="1" dirty="0">
                    <a:sym typeface="Symbol"/>
                  </a:rPr>
                  <a:t>ranspose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=[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vi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</a:t>
                </a:r>
                <a:r>
                  <a:rPr lang="en-US" sz="2800" b="1" dirty="0">
                    <a:sym typeface="Symbol"/>
                  </a:rPr>
                  <a:t> transforms z</a:t>
                </a:r>
                <a:r>
                  <a:rPr lang="en-US" sz="2800" b="1" i="1" dirty="0">
                    <a:sym typeface="Symbol" panose="05050102010706020507" pitchFamily="18" charset="2"/>
                  </a:rPr>
                  <a:t></a:t>
                </a:r>
                <a:r>
                  <a:rPr lang="en-US" sz="2800" b="1" i="1" dirty="0">
                    <a:sym typeface="Symbol"/>
                  </a:rPr>
                  <a:t> R</a:t>
                </a:r>
                <a:r>
                  <a:rPr lang="en-US" sz="2800" b="1" i="1" baseline="30000" dirty="0">
                    <a:sym typeface="Symbol"/>
                  </a:rPr>
                  <a:t>N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dirty="0">
                    <a:sym typeface="Symbol"/>
                  </a:rPr>
                  <a:t>in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𝒄</m:t>
                        </m:r>
                      </m:e>
                    </m:acc>
                    <m:r>
                      <a:rPr lang="en-US" sz="2800" b="1" i="1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=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baseline="30000" dirty="0" err="1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 panose="05050102010706020507" pitchFamily="18" charset="2"/>
                  </a:rPr>
                  <a:t>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</a:t>
                </a: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</a:t>
                </a:r>
              </a:p>
              <a:p>
                <a:r>
                  <a:rPr lang="en-US" sz="2400" b="1" dirty="0">
                    <a:sym typeface="Symbol"/>
                  </a:rPr>
                  <a:t>                 (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, c, z) Y-</a:t>
                </a:r>
                <a:r>
                  <a:rPr lang="en-US" sz="2400" b="1" dirty="0">
                    <a:sym typeface="Symbol"/>
                  </a:rPr>
                  <a:t>singular  </a:t>
                </a:r>
              </a:p>
              <a:p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        c </a:t>
                </a:r>
                <a:r>
                  <a:rPr lang="en-US" sz="2400" b="1" dirty="0">
                    <a:sym typeface="Symbol"/>
                  </a:rPr>
                  <a:t>is eigenvector of </a:t>
                </a:r>
                <a:r>
                  <a:rPr lang="en-US" sz="2400" b="1" i="1" dirty="0">
                    <a:sym typeface="Symbol"/>
                  </a:rPr>
                  <a:t> 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A=Y</a:t>
                </a:r>
                <a:r>
                  <a:rPr lang="en-US" sz="24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Y </a:t>
                </a:r>
                <a:r>
                  <a:rPr lang="en-US" sz="2400" b="1" dirty="0">
                    <a:sym typeface="Symbol"/>
                  </a:rPr>
                  <a:t>with eigenvalue 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 = </a:t>
                </a:r>
                <a:r>
                  <a:rPr lang="en-US" sz="2400" b="1" i="1" baseline="30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2400" b="1" dirty="0">
                    <a:sym typeface="Symbol"/>
                  </a:rPr>
                  <a:t> </a:t>
                </a:r>
              </a:p>
              <a:p>
                <a:endParaRPr lang="en-US" sz="2400" b="1" i="1" dirty="0">
                  <a:sym typeface="Symbol"/>
                </a:endParaRPr>
              </a:p>
              <a:p>
                <a:r>
                  <a:rPr lang="en-US" sz="2400" b="1" dirty="0">
                    <a:sym typeface="Symbol"/>
                  </a:rPr>
                  <a:t> </a:t>
                </a:r>
                <a:r>
                  <a:rPr lang="ru-RU" sz="3600" b="1" dirty="0">
                    <a:solidFill>
                      <a:srgbClr val="C00000"/>
                    </a:solidFill>
                    <a:sym typeface="Symbol"/>
                  </a:rPr>
                  <a:t>Унаследовано из спектрального анализа</a:t>
                </a:r>
                <a:r>
                  <a:rPr lang="en-US" sz="3600" b="1" dirty="0">
                    <a:solidFill>
                      <a:srgbClr val="C00000"/>
                    </a:solidFill>
                    <a:sym typeface="Symbol"/>
                  </a:rPr>
                  <a:t>:</a:t>
                </a:r>
              </a:p>
              <a:p>
                <a:pPr marL="742950" indent="-742950">
                  <a:buAutoNum type="arabicPeriod"/>
                </a:pPr>
                <a:r>
                  <a:rPr lang="en-US" sz="3600" b="1" dirty="0">
                    <a:sym typeface="Symbol"/>
                  </a:rPr>
                  <a:t>The number of different singular triplets is equal to the rank of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3600" b="1" dirty="0">
                    <a:sym typeface="Symbol"/>
                  </a:rPr>
                  <a:t> </a:t>
                </a:r>
              </a:p>
              <a:p>
                <a:r>
                  <a:rPr lang="en-US" sz="3600" b="1" dirty="0">
                    <a:sym typeface="Symbol"/>
                  </a:rPr>
                  <a:t>                   (=rank of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YY </a:t>
                </a:r>
                <a:r>
                  <a:rPr lang="en-US" sz="3600" b="1" dirty="0">
                    <a:sym typeface="Symbol"/>
                  </a:rPr>
                  <a:t>);</a:t>
                </a:r>
              </a:p>
              <a:p>
                <a:endParaRPr lang="en-US" sz="3600" b="1" dirty="0">
                  <a:sym typeface="Symbol"/>
                </a:endParaRPr>
              </a:p>
              <a:p>
                <a:r>
                  <a:rPr lang="en-US" sz="3600" b="1" dirty="0">
                    <a:sym typeface="Symbol"/>
                  </a:rPr>
                  <a:t>2. Different singular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3600" b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3600" b="1" dirty="0">
                    <a:sym typeface="Symbol"/>
                  </a:rPr>
                  <a:t>are </a:t>
                </a:r>
                <a:r>
                  <a:rPr lang="en-US" sz="4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sym typeface="Symbol"/>
                  </a:rPr>
                  <a:t>mutually orthogonal</a:t>
                </a:r>
                <a:r>
                  <a:rPr lang="ru-RU" sz="4000" b="1" dirty="0">
                    <a:sym typeface="Symbol"/>
                  </a:rPr>
                  <a:t>,</a:t>
                </a:r>
                <a:r>
                  <a:rPr lang="en-US" sz="4000" b="1" dirty="0">
                    <a:sym typeface="Symbol"/>
                  </a:rPr>
                  <a:t> </a:t>
                </a:r>
                <a:r>
                  <a:rPr lang="en-US" sz="3600" b="1" dirty="0">
                    <a:sym typeface="Symbol"/>
                  </a:rPr>
                  <a:t>as well as different singular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3600" b="1" dirty="0">
                    <a:sym typeface="Symbol"/>
                  </a:rPr>
                  <a:t>.</a:t>
                </a:r>
              </a:p>
              <a:p>
                <a:r>
                  <a:rPr lang="en-US" sz="3600" b="1" dirty="0">
                    <a:sym typeface="Symbol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8586966"/>
              </a:xfrm>
              <a:prstGeom prst="rect">
                <a:avLst/>
              </a:prstGeom>
              <a:blipFill>
                <a:blip r:embed="rId3"/>
                <a:stretch>
                  <a:fillRect l="-2333" t="-710" r="-28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953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</a:t>
            </a:r>
            <a: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Сингулярные значения и </a:t>
            </a:r>
            <a:b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</a:t>
            </a:r>
            <a:r>
              <a:rPr lang="ru-RU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собственные числа, </a:t>
            </a:r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endParaRPr lang="ru-RU" sz="27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0" y="908720"/>
            <a:ext cx="9144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tx2"/>
                </a:solidFill>
                <a:sym typeface="Symbol"/>
              </a:rPr>
              <a:t>              </a:t>
            </a:r>
            <a:r>
              <a:rPr lang="en-US" sz="2400" b="1" dirty="0">
                <a:sym typeface="Symbol"/>
              </a:rPr>
              <a:t>                 (</a:t>
            </a:r>
            <a:r>
              <a:rPr lang="en-US" sz="2400" b="1" i="1" dirty="0">
                <a:solidFill>
                  <a:schemeClr val="tx2"/>
                </a:solidFill>
                <a:sym typeface="Symbol"/>
              </a:rPr>
              <a:t>, c, z) is </a:t>
            </a:r>
            <a:r>
              <a:rPr lang="en-US" sz="2400" b="1" dirty="0">
                <a:sym typeface="Symbol"/>
              </a:rPr>
              <a:t>singular</a:t>
            </a:r>
            <a:r>
              <a:rPr lang="ru-RU" sz="2400" b="1" dirty="0">
                <a:sym typeface="Symbol"/>
              </a:rPr>
              <a:t> </a:t>
            </a:r>
            <a:r>
              <a:rPr lang="en-US" sz="2400" b="1" dirty="0">
                <a:sym typeface="Symbol"/>
              </a:rPr>
              <a:t>triplet for Y  </a:t>
            </a:r>
          </a:p>
          <a:p>
            <a:r>
              <a:rPr lang="en-US" sz="2400" b="1" i="1" dirty="0">
                <a:solidFill>
                  <a:schemeClr val="tx2"/>
                </a:solidFill>
                <a:sym typeface="Symbol"/>
              </a:rPr>
              <a:t>        c </a:t>
            </a:r>
            <a:r>
              <a:rPr lang="en-US" sz="2400" b="1" dirty="0">
                <a:sym typeface="Symbol"/>
              </a:rPr>
              <a:t>is eigenvector of </a:t>
            </a:r>
            <a:r>
              <a:rPr lang="en-US" sz="2400" b="1" i="1" dirty="0">
                <a:sym typeface="Symbol"/>
              </a:rPr>
              <a:t> </a:t>
            </a:r>
            <a:r>
              <a:rPr lang="en-US" sz="2400" b="1" i="1" dirty="0">
                <a:solidFill>
                  <a:schemeClr val="tx2"/>
                </a:solidFill>
                <a:sym typeface="Symbol"/>
              </a:rPr>
              <a:t>A=Y</a:t>
            </a:r>
            <a:r>
              <a:rPr lang="en-US" sz="2400" b="1" baseline="30000" dirty="0">
                <a:solidFill>
                  <a:schemeClr val="tx2"/>
                </a:solidFill>
                <a:sym typeface="Symbol"/>
              </a:rPr>
              <a:t>T</a:t>
            </a:r>
            <a:r>
              <a:rPr lang="en-US" sz="2400" b="1" i="1" dirty="0">
                <a:solidFill>
                  <a:schemeClr val="tx2"/>
                </a:solidFill>
                <a:sym typeface="Symbol"/>
              </a:rPr>
              <a:t>Y </a:t>
            </a:r>
            <a:r>
              <a:rPr lang="en-US" sz="2400" b="1" dirty="0">
                <a:sym typeface="Symbol"/>
              </a:rPr>
              <a:t>with eigenvalue </a:t>
            </a:r>
            <a:r>
              <a:rPr lang="en-US" sz="2400" b="1" i="1" dirty="0">
                <a:solidFill>
                  <a:schemeClr val="tx2"/>
                </a:solidFill>
                <a:sym typeface="Symbol"/>
              </a:rPr>
              <a:t> = </a:t>
            </a:r>
            <a:r>
              <a:rPr lang="en-US" sz="2400" b="1" i="1" baseline="30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400" b="1" dirty="0">
                <a:sym typeface="Symbol"/>
              </a:rPr>
              <a:t> </a:t>
            </a:r>
          </a:p>
          <a:p>
            <a:r>
              <a:rPr lang="en-US" sz="2400" b="1" dirty="0">
                <a:sym typeface="Symbol"/>
              </a:rPr>
              <a:t> </a:t>
            </a:r>
            <a:r>
              <a:rPr lang="ru-RU" sz="3600" b="1" dirty="0">
                <a:solidFill>
                  <a:srgbClr val="C00000"/>
                </a:solidFill>
                <a:sym typeface="Symbol"/>
              </a:rPr>
              <a:t>Унаследовано из спектрального анализа</a:t>
            </a:r>
            <a:r>
              <a:rPr lang="en-US" sz="3600" b="1" dirty="0">
                <a:solidFill>
                  <a:srgbClr val="C00000"/>
                </a:solidFill>
                <a:sym typeface="Symbol"/>
              </a:rPr>
              <a:t>:</a:t>
            </a:r>
            <a:endParaRPr lang="ru-RU" sz="3600" b="1" dirty="0">
              <a:solidFill>
                <a:srgbClr val="C00000"/>
              </a:solidFill>
              <a:sym typeface="Symbol"/>
            </a:endParaRPr>
          </a:p>
          <a:p>
            <a:endParaRPr lang="en-US" sz="3600" b="1" dirty="0">
              <a:solidFill>
                <a:srgbClr val="C00000"/>
              </a:solidFill>
              <a:sym typeface="Symbol"/>
            </a:endParaRPr>
          </a:p>
          <a:p>
            <a:r>
              <a:rPr lang="en-US" sz="2800" b="1" dirty="0">
                <a:sym typeface="Symbol"/>
              </a:rPr>
              <a:t>     1. </a:t>
            </a:r>
            <a:r>
              <a:rPr lang="ru-RU" sz="2800" b="1" dirty="0">
                <a:sym typeface="Symbol"/>
              </a:rPr>
              <a:t>Количество сингулярных троек равно </a:t>
            </a:r>
            <a:r>
              <a:rPr lang="ru-RU" sz="2800" b="1" dirty="0">
                <a:solidFill>
                  <a:srgbClr val="FF0000"/>
                </a:solidFill>
                <a:sym typeface="Symbol"/>
              </a:rPr>
              <a:t>рангу</a:t>
            </a:r>
          </a:p>
          <a:p>
            <a:r>
              <a:rPr lang="ru-RU" sz="2800" b="1" dirty="0">
                <a:sym typeface="Symbol"/>
              </a:rPr>
              <a:t>       матрицы </a:t>
            </a:r>
            <a:r>
              <a:rPr lang="en-US" sz="2800" b="1" i="1" dirty="0">
                <a:solidFill>
                  <a:schemeClr val="tx2"/>
                </a:solidFill>
                <a:sym typeface="Symbol"/>
              </a:rPr>
              <a:t>Y</a:t>
            </a:r>
            <a:r>
              <a:rPr lang="en-US" sz="2800" b="1" dirty="0">
                <a:sym typeface="Symbol"/>
              </a:rPr>
              <a:t> (=</a:t>
            </a:r>
            <a:r>
              <a:rPr lang="ru-RU" sz="2800" b="1" dirty="0">
                <a:sym typeface="Symbol"/>
              </a:rPr>
              <a:t> рангу</a:t>
            </a:r>
            <a:r>
              <a:rPr lang="en-US" sz="2800" b="1" dirty="0">
                <a:sym typeface="Symbol"/>
              </a:rPr>
              <a:t> </a:t>
            </a:r>
            <a:r>
              <a:rPr lang="en-US" sz="2800" b="1" i="1" dirty="0">
                <a:solidFill>
                  <a:schemeClr val="tx2"/>
                </a:solidFill>
                <a:sym typeface="Symbol"/>
              </a:rPr>
              <a:t>YY </a:t>
            </a:r>
            <a:r>
              <a:rPr lang="en-US" sz="2800" b="1" dirty="0">
                <a:sym typeface="Symbol"/>
              </a:rPr>
              <a:t>);</a:t>
            </a:r>
          </a:p>
          <a:p>
            <a:endParaRPr lang="en-US" sz="2800" b="1" dirty="0">
              <a:sym typeface="Symbol"/>
            </a:endParaRPr>
          </a:p>
          <a:p>
            <a:r>
              <a:rPr lang="ru-RU" sz="2800" b="1" dirty="0">
                <a:sym typeface="Symbol"/>
              </a:rPr>
              <a:t>     </a:t>
            </a:r>
            <a:r>
              <a:rPr lang="en-US" sz="2800" b="1" dirty="0">
                <a:sym typeface="Symbol"/>
              </a:rPr>
              <a:t>2. </a:t>
            </a:r>
            <a:r>
              <a:rPr lang="ru-RU" sz="2800" b="1" dirty="0">
                <a:sym typeface="Symbol"/>
              </a:rPr>
              <a:t>Сингулярные векторы</a:t>
            </a:r>
            <a:r>
              <a:rPr lang="en-US" sz="2800" b="1" dirty="0">
                <a:sym typeface="Symbol"/>
              </a:rPr>
              <a:t> </a:t>
            </a:r>
            <a:r>
              <a:rPr lang="en-US" sz="2800" b="1" i="1" dirty="0">
                <a:sym typeface="Symbol"/>
              </a:rPr>
              <a:t>c</a:t>
            </a:r>
            <a:r>
              <a:rPr lang="en-US" sz="2800" b="1" i="1" baseline="-25000" dirty="0">
                <a:solidFill>
                  <a:schemeClr val="tx2"/>
                </a:solidFill>
                <a:sym typeface="Symbol"/>
              </a:rPr>
              <a:t>s</a:t>
            </a:r>
            <a:r>
              <a:rPr lang="en-US" sz="2800" b="1" dirty="0">
                <a:solidFill>
                  <a:schemeClr val="tx2"/>
                </a:solidFill>
                <a:sym typeface="Symbol"/>
              </a:rPr>
              <a:t> </a:t>
            </a:r>
            <a:r>
              <a:rPr lang="ru-RU" sz="2800" b="1" dirty="0">
                <a:sym typeface="Symbol"/>
              </a:rPr>
              <a:t>при</a:t>
            </a:r>
          </a:p>
          <a:p>
            <a:r>
              <a:rPr lang="ru-RU" sz="2800" b="1" dirty="0">
                <a:sym typeface="Symbol"/>
              </a:rPr>
              <a:t>        несовпадающих </a:t>
            </a:r>
            <a:r>
              <a:rPr lang="ru-RU" sz="2800" b="1" dirty="0">
                <a:sym typeface="Symbol" panose="05050102010706020507" pitchFamily="18" charset="2"/>
              </a:rPr>
              <a:t></a:t>
            </a:r>
            <a:r>
              <a:rPr lang="en-US" sz="2800" b="1" i="1" baseline="-25000" dirty="0">
                <a:solidFill>
                  <a:schemeClr val="tx2"/>
                </a:solidFill>
                <a:sym typeface="Symbol"/>
              </a:rPr>
              <a:t>s</a:t>
            </a:r>
            <a:r>
              <a:rPr lang="ru-RU" sz="2800" b="1" dirty="0">
                <a:sym typeface="Symbol" panose="05050102010706020507" pitchFamily="18" charset="2"/>
              </a:rPr>
              <a:t> </a:t>
            </a:r>
            <a:r>
              <a:rPr lang="ru-RU" sz="2800" b="1" dirty="0">
                <a:solidFill>
                  <a:srgbClr val="FF0000"/>
                </a:solidFill>
                <a:sym typeface="Symbol"/>
              </a:rPr>
              <a:t>взаимно ортогональны</a:t>
            </a:r>
            <a:r>
              <a:rPr lang="ru-RU" sz="2800" b="1" dirty="0">
                <a:sym typeface="Symbol"/>
              </a:rPr>
              <a:t>,</a:t>
            </a:r>
            <a:r>
              <a:rPr lang="en-US" sz="2800" b="1" dirty="0">
                <a:sym typeface="Symbol"/>
              </a:rPr>
              <a:t> </a:t>
            </a:r>
            <a:endParaRPr lang="ru-RU" sz="2800" b="1" dirty="0">
              <a:sym typeface="Symbol"/>
            </a:endParaRPr>
          </a:p>
          <a:p>
            <a:r>
              <a:rPr lang="ru-RU" sz="2800" b="1" dirty="0">
                <a:sym typeface="Symbol"/>
              </a:rPr>
              <a:t>        как и соответствующие сингулярные</a:t>
            </a:r>
            <a:r>
              <a:rPr lang="en-US" sz="2800" b="1" dirty="0">
                <a:sym typeface="Symbol"/>
              </a:rPr>
              <a:t> </a:t>
            </a:r>
            <a:r>
              <a:rPr lang="en-US" sz="2800" b="1" i="1" dirty="0">
                <a:sym typeface="Symbol"/>
              </a:rPr>
              <a:t>z</a:t>
            </a:r>
            <a:r>
              <a:rPr lang="en-US" sz="2800" b="1" i="1" baseline="-25000" dirty="0">
                <a:solidFill>
                  <a:schemeClr val="tx2"/>
                </a:solidFill>
                <a:sym typeface="Symbol"/>
              </a:rPr>
              <a:t>s</a:t>
            </a:r>
            <a:r>
              <a:rPr lang="en-US" sz="2800" b="1" dirty="0">
                <a:sym typeface="Symbol"/>
              </a:rPr>
              <a:t>.</a:t>
            </a:r>
          </a:p>
          <a:p>
            <a:r>
              <a:rPr lang="en-US" sz="2800" b="1" dirty="0">
                <a:sym typeface="Symbo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3404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Сингулярное разложение</a:t>
            </a:r>
            <a:b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Singular value decomposition, 1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SVD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6145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ym typeface="Symbol"/>
                  </a:rPr>
                  <a:t>            Data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dirty="0">
                    <a:sym typeface="Symbol"/>
                  </a:rPr>
                  <a:t>: </a:t>
                </a:r>
              </a:p>
              <a:p>
                <a:r>
                  <a:rPr lang="en-US" sz="2800" b="1" dirty="0">
                    <a:sym typeface="Symbol"/>
                  </a:rPr>
                  <a:t>     </a:t>
                </a:r>
                <a:r>
                  <a:rPr lang="en-US" sz="2400" b="1" dirty="0">
                    <a:sym typeface="Symbol"/>
                  </a:rPr>
                  <a:t>The singular values sorted        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</a:t>
                </a:r>
                <a:r>
                  <a:rPr lang="en-US" sz="24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 </a:t>
                </a:r>
                <a:r>
                  <a:rPr lang="en-US" sz="2400" b="1" i="1" baseline="-25000" dirty="0">
                    <a:solidFill>
                      <a:schemeClr val="tx2"/>
                    </a:solidFill>
                    <a:sym typeface="Symbol"/>
                  </a:rPr>
                  <a:t> 2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  …  </a:t>
                </a:r>
                <a:r>
                  <a:rPr lang="en-US" sz="2400" b="1" i="1" baseline="-25000" dirty="0">
                    <a:solidFill>
                      <a:schemeClr val="tx2"/>
                    </a:solidFill>
                    <a:sym typeface="Symbol"/>
                  </a:rPr>
                  <a:t> r</a:t>
                </a:r>
                <a:endParaRPr lang="en-US" sz="2400" b="1" i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400" b="1" dirty="0">
                    <a:solidFill>
                      <a:schemeClr val="tx2"/>
                    </a:solidFill>
                    <a:sym typeface="Symbol"/>
                  </a:rPr>
                  <a:t>      </a:t>
                </a:r>
                <a:r>
                  <a:rPr lang="en-US" sz="2400" b="1" dirty="0">
                    <a:sym typeface="Symbol"/>
                  </a:rPr>
                  <a:t>Respective singular vectors  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4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,   c</a:t>
                </a:r>
                <a:r>
                  <a:rPr lang="en-US" sz="2400" b="1" i="1" baseline="-25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, … ,     </a:t>
                </a:r>
                <a:r>
                  <a:rPr lang="en-US" sz="2400" b="1" i="1" dirty="0" err="1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400" b="1" i="1" baseline="-25000" dirty="0" err="1">
                    <a:solidFill>
                      <a:schemeClr val="tx2"/>
                    </a:solidFill>
                    <a:sym typeface="Symbol"/>
                  </a:rPr>
                  <a:t>r</a:t>
                </a:r>
                <a:endParaRPr lang="en-US" sz="2400" b="1" i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400" b="1" dirty="0">
                    <a:sym typeface="Symbol"/>
                  </a:rPr>
                  <a:t>      Respective singular ND vectors   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4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,   z</a:t>
                </a:r>
                <a:r>
                  <a:rPr lang="en-US" sz="2400" b="1" i="1" baseline="-25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2400" b="1" i="1" dirty="0">
                    <a:solidFill>
                      <a:schemeClr val="tx2"/>
                    </a:solidFill>
                    <a:sym typeface="Symbol"/>
                  </a:rPr>
                  <a:t>, … ,    </a:t>
                </a:r>
                <a:r>
                  <a:rPr lang="en-US" sz="2400" b="1" i="1" dirty="0" err="1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400" b="1" i="1" baseline="-25000" dirty="0" err="1">
                    <a:solidFill>
                      <a:schemeClr val="tx2"/>
                    </a:solidFill>
                    <a:sym typeface="Symbol"/>
                  </a:rPr>
                  <a:t>r</a:t>
                </a:r>
                <a:endParaRPr lang="en-US" sz="2400" b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400" b="1" dirty="0">
                    <a:sym typeface="Symbol"/>
                  </a:rPr>
                  <a:t>(all normed)</a:t>
                </a:r>
              </a:p>
              <a:p>
                <a:r>
                  <a:rPr lang="en-US" sz="2400" b="1" dirty="0">
                    <a:solidFill>
                      <a:srgbClr val="C00000"/>
                    </a:solidFill>
                    <a:sym typeface="Symbol"/>
                  </a:rPr>
                  <a:t>               SVD in three equivalent formats:</a:t>
                </a:r>
              </a:p>
              <a:p>
                <a:endParaRPr lang="en-US" sz="2400" b="1" i="1" dirty="0">
                  <a:solidFill>
                    <a:schemeClr val="tx2"/>
                  </a:solidFill>
                  <a:latin typeface="Cambria Math"/>
                  <a:sym typeface="Symbol"/>
                </a:endParaRPr>
              </a:p>
              <a:p>
                <a:r>
                  <a:rPr lang="en-US" sz="2400" b="1" i="1" dirty="0">
                    <a:solidFill>
                      <a:schemeClr val="tx2"/>
                    </a:solidFill>
                    <a:latin typeface="Cambria Math"/>
                    <a:sym typeface="Symbol"/>
                  </a:rPr>
                  <a:t>                </a:t>
                </a:r>
                <a:r>
                  <a:rPr lang="en-US" sz="2400" b="1" dirty="0">
                    <a:solidFill>
                      <a:srgbClr val="7030A0"/>
                    </a:solidFill>
                    <a:latin typeface="Cambria Math"/>
                    <a:sym typeface="Symbol"/>
                  </a:rPr>
                  <a:t>(</a:t>
                </a:r>
                <a:r>
                  <a:rPr lang="en-US" sz="2400" b="1" dirty="0" err="1">
                    <a:solidFill>
                      <a:srgbClr val="7030A0"/>
                    </a:solidFill>
                    <a:latin typeface="Cambria Math"/>
                    <a:sym typeface="Symbol"/>
                  </a:rPr>
                  <a:t>i</a:t>
                </a:r>
                <a:r>
                  <a:rPr lang="en-US" sz="2400" b="1" dirty="0">
                    <a:solidFill>
                      <a:srgbClr val="7030A0"/>
                    </a:solidFill>
                    <a:latin typeface="Cambria Math"/>
                    <a:sym typeface="Symbol"/>
                  </a:rPr>
                  <a:t>)  Vector  format         </a:t>
                </a:r>
                <a:r>
                  <a:rPr lang="en-US" sz="2400" b="1" i="1" dirty="0">
                    <a:solidFill>
                      <a:schemeClr val="tx2"/>
                    </a:solidFill>
                    <a:latin typeface="Cambria Math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Symbol"/>
                      </a:rPr>
                      <m:t>𝒀</m:t>
                    </m:r>
                    <m:r>
                      <a:rPr lang="en-US" sz="2400" b="1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4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24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a:rPr lang="en-US" sz="2400" b="1" i="1" dirty="0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…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</m:oMath>
                </a14:m>
                <a:r>
                  <a:rPr lang="en-US" sz="24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endParaRPr lang="en-US" sz="2400" b="1" dirty="0">
                  <a:solidFill>
                    <a:schemeClr val="tx2"/>
                  </a:solidFill>
                  <a:sym typeface="Symbol"/>
                </a:endParaRPr>
              </a:p>
              <a:p>
                <a:endParaRPr lang="en-US" sz="2400" b="1" i="1" dirty="0">
                  <a:solidFill>
                    <a:schemeClr val="tx2"/>
                  </a:solidFill>
                  <a:latin typeface="Cambria Math"/>
                  <a:sym typeface="Symbol"/>
                </a:endParaRPr>
              </a:p>
              <a:p>
                <a:r>
                  <a:rPr lang="en-US" sz="2400" b="1" dirty="0">
                    <a:solidFill>
                      <a:srgbClr val="C00000"/>
                    </a:solidFill>
                    <a:latin typeface="Cambria Math"/>
                    <a:sym typeface="Symbol"/>
                  </a:rPr>
                  <a:t>                 Note: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1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1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1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1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4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  <a:latin typeface="Cambria Math"/>
                    <a:sym typeface="Symbol"/>
                  </a:rPr>
                  <a:t>, …,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1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1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1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1"/>
                        </a:solidFill>
                        <a:sym typeface="Symbol"/>
                      </a:rPr>
                      <m:t>r</m:t>
                    </m:r>
                  </m:oMath>
                </a14:m>
                <a:r>
                  <a:rPr lang="en-US" sz="2400" b="1" baseline="30000" dirty="0">
                    <a:solidFill>
                      <a:schemeClr val="tx2"/>
                    </a:solidFill>
                    <a:sym typeface="Symbol"/>
                  </a:rPr>
                  <a:t>T  </a:t>
                </a:r>
                <a:r>
                  <a:rPr lang="en-US" sz="2400" b="1" dirty="0">
                    <a:solidFill>
                      <a:schemeClr val="tx1"/>
                    </a:solidFill>
                    <a:latin typeface="Cambria Math"/>
                    <a:sym typeface="Symbol"/>
                  </a:rPr>
                  <a:t>are </a:t>
                </a:r>
                <a:r>
                  <a:rPr lang="en-US" sz="2400" b="1" dirty="0">
                    <a:solidFill>
                      <a:schemeClr val="tx2"/>
                    </a:solidFill>
                    <a:latin typeface="Cambria Math"/>
                    <a:sym typeface="Symbol"/>
                  </a:rPr>
                  <a:t>rank 1 matrices</a:t>
                </a:r>
              </a:p>
              <a:p>
                <a:r>
                  <a:rPr lang="en-US" sz="2400" b="1" dirty="0">
                    <a:solidFill>
                      <a:schemeClr val="tx2"/>
                    </a:solidFill>
                    <a:latin typeface="Cambria Math"/>
                    <a:sym typeface="Symbol"/>
                  </a:rPr>
                  <a:t> 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  <a:latin typeface="Cambria Math"/>
                    <a:sym typeface="Symbol"/>
                  </a:rPr>
                  <a:t>              (ii)  Entry format </a:t>
                </a:r>
                <a:r>
                  <a:rPr lang="en-US" sz="2400" b="1" dirty="0">
                    <a:solidFill>
                      <a:srgbClr val="7030A0"/>
                    </a:solidFill>
                    <a:sym typeface="Symbol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Symbol"/>
                      </a:rPr>
                      <m:t>𝒚</m:t>
                    </m:r>
                    <m:r>
                      <a:rPr lang="en-US" sz="2400" b="1" i="1" baseline="-25000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𝒊𝒗</m:t>
                    </m:r>
                    <m:r>
                      <a:rPr lang="en-US" sz="2400" b="1" i="1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i1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v1+2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i2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v2+</m:t>
                    </m:r>
                    <m:r>
                      <a:rPr lang="en-US" sz="2400" b="1" i="1" dirty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…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+</m:t>
                    </m:r>
                    <m:r>
                      <m:rPr>
                        <m:nor/>
                      </m:rPr>
                      <a:rPr lang="en-US" sz="24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24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ir</m:t>
                    </m:r>
                    <m:r>
                      <m:rPr>
                        <m:nor/>
                      </m:rPr>
                      <a:rPr lang="en-US" sz="24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4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vr</m:t>
                    </m:r>
                  </m:oMath>
                </a14:m>
                <a:r>
                  <a:rPr lang="en-US" sz="2400" b="1" dirty="0">
                    <a:solidFill>
                      <a:schemeClr val="tx2"/>
                    </a:solidFill>
                    <a:sym typeface="Symbol"/>
                  </a:rPr>
                  <a:t> </a:t>
                </a:r>
              </a:p>
              <a:p>
                <a:r>
                  <a:rPr lang="en-US" sz="2400" b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                 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:endParaRPr lang="en-US" sz="2800" b="1" baseline="-25000" dirty="0">
                  <a:solidFill>
                    <a:schemeClr val="tx2"/>
                  </a:solidFill>
                  <a:sym typeface="Symbol"/>
                </a:endParaRPr>
              </a:p>
              <a:p>
                <a:endParaRPr lang="en-US" sz="2800" b="1" baseline="-25000" dirty="0">
                  <a:solidFill>
                    <a:schemeClr val="tx2"/>
                  </a:solidFill>
                  <a:sym typeface="Symbol"/>
                </a:endParaRPr>
              </a:p>
              <a:p>
                <a:endParaRPr lang="en-US" sz="2800" b="1" baseline="-25000" dirty="0">
                  <a:solidFill>
                    <a:schemeClr val="tx2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6145272"/>
              </a:xfrm>
              <a:prstGeom prst="rect">
                <a:avLst/>
              </a:prstGeom>
              <a:blipFill>
                <a:blip r:embed="rId3"/>
                <a:stretch>
                  <a:fillRect l="-1000" t="-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175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Сингулярное разложение </a:t>
            </a:r>
            <a:b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Singular value decomposition, 2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SVD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6158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  <a:sym typeface="Symbol"/>
                  </a:rPr>
                  <a:t>              SVD in three equivalent formats: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latin typeface="Cambria Math"/>
                    <a:sym typeface="Symbol"/>
                  </a:rPr>
                  <a:t> 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dirty="0">
                    <a:solidFill>
                      <a:srgbClr val="7030A0"/>
                    </a:solidFill>
                    <a:latin typeface="Cambria Math"/>
                    <a:sym typeface="Symbol"/>
                  </a:rPr>
                  <a:t>(iii)  Matrix   format</a:t>
                </a:r>
                <a:r>
                  <a:rPr lang="en-US" sz="2800" b="1" i="1" dirty="0">
                    <a:solidFill>
                      <a:srgbClr val="7030A0"/>
                    </a:solidFill>
                    <a:sym typeface="Symbol"/>
                  </a:rPr>
                  <a:t>             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Y=ZMC</a:t>
                </a:r>
                <a:r>
                  <a:rPr lang="en-US" sz="3600" b="1" i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</a:p>
              <a:p>
                <a:endParaRPr lang="en-US" sz="3600" b="1" i="1" baseline="30000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Vr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size     C=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[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c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… 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r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 </a:t>
                </a:r>
                <a:r>
                  <a:rPr lang="en-US" sz="2800" b="1" dirty="0">
                    <a:sym typeface="Symbol"/>
                  </a:rPr>
                  <a:t>has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,  c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, …, 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c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r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   </a:t>
                </a:r>
                <a:r>
                  <a:rPr lang="en-US" sz="2800" b="1" dirty="0">
                    <a:sym typeface="Symbol"/>
                  </a:rPr>
                  <a:t>as   </a:t>
                </a:r>
              </a:p>
              <a:p>
                <a:r>
                  <a:rPr lang="en-US" sz="2800" b="1" dirty="0">
                    <a:sym typeface="Symbol"/>
                  </a:rPr>
                  <a:t>     columns, 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Nr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size     Z=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[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z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… 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r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  </a:t>
                </a:r>
                <a:r>
                  <a:rPr lang="en-US" sz="2800" b="1" dirty="0">
                    <a:sym typeface="Symbol"/>
                  </a:rPr>
                  <a:t>has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,  z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2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, …,  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z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r</a:t>
                </a:r>
                <a:r>
                  <a:rPr lang="en-US" sz="2800" b="1" i="1" baseline="-25000" dirty="0">
                    <a:solidFill>
                      <a:schemeClr val="tx2"/>
                    </a:solidFill>
                    <a:sym typeface="Symbol"/>
                  </a:rPr>
                  <a:t>   </a:t>
                </a:r>
                <a:r>
                  <a:rPr lang="en-US" sz="2800" b="1" dirty="0">
                    <a:sym typeface="Symbol"/>
                  </a:rPr>
                  <a:t>as </a:t>
                </a:r>
              </a:p>
              <a:p>
                <a:r>
                  <a:rPr lang="en-US" sz="2800" b="1" dirty="0">
                    <a:sym typeface="Symbol"/>
                  </a:rPr>
                  <a:t>      columns, </a:t>
                </a:r>
              </a:p>
              <a:p>
                <a:r>
                  <a:rPr lang="en-US" sz="2800" b="1" dirty="0">
                    <a:sym typeface="Symbol"/>
                  </a:rPr>
                  <a:t>  and</a:t>
                </a: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       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 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eqArr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b="1" i="1" dirty="0">
                                      <a:solidFill>
                                        <a:schemeClr val="tx2"/>
                                      </a:solidFill>
                                      <a:sym typeface="Symbol"/>
                                    </a:rPr>
                                    <m:t>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1" i="1" baseline="-25000" dirty="0">
                                      <a:solidFill>
                                        <a:schemeClr val="tx2"/>
                                      </a:solidFill>
                                      <a:sym typeface="Symbol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1" i="1">
                                      <a:solidFill>
                                        <a:schemeClr val="tx2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𝟎</m:t>
                                  </m:r>
                                  <m:r>
                                    <a:rPr lang="en-US" sz="2800" b="1" i="1" smtClean="0">
                                      <a:solidFill>
                                        <a:schemeClr val="tx2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US" sz="2800" b="1" i="1">
                                      <a:solidFill>
                                        <a:schemeClr val="tx2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1" i="1">
                                      <a:solidFill>
                                        <a:schemeClr val="tx2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𝟎</m:t>
                                  </m:r>
                                </m:e>
                                <m:e>
                                  <m:eqArr>
                                    <m:eqArrPr>
                                      <m:ctrlPr>
                                        <a:rPr lang="en-US" sz="2800" b="1" i="1" dirty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eqArr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800" b="1" i="1" dirty="0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800" b="1" i="1" dirty="0">
                                          <a:solidFill>
                                            <a:schemeClr val="tx2"/>
                                          </a:solidFill>
                                          <a:sym typeface="Symbol"/>
                                        </a:rPr>
                                        <m:t>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800" b="1" i="1" baseline="-25000" dirty="0" smtClean="0">
                                          <a:solidFill>
                                            <a:schemeClr val="tx2"/>
                                          </a:solidFill>
                                          <a:sym typeface="Symbol"/>
                                        </a:rPr>
                                        <m:t>2</m:t>
                                      </m:r>
                                      <m:r>
                                        <a:rPr lang="en-US" sz="2800" b="1" i="1" baseline="-25000" dirty="0" smtClean="0">
                                          <a:solidFill>
                                            <a:schemeClr val="tx2"/>
                                          </a:solidFill>
                                          <a:latin typeface="Cambria Math"/>
                                          <a:sym typeface="Symbol"/>
                                        </a:rPr>
                                        <m:t>…</m:t>
                                      </m:r>
                                    </m:e>
                                  </m:eqArr>
                                </m:e>
                                <m:e>
                                  <m:eqArr>
                                    <m:eqArrPr>
                                      <m:ctrlPr>
                                        <a:rPr lang="en-US" sz="2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  <a:sym typeface="Symbol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2800" b="1" i="1">
                                          <a:solidFill>
                                            <a:schemeClr val="tx2"/>
                                          </a:solidFill>
                                          <a:latin typeface="Cambria Math"/>
                                          <a:sym typeface="Symbol"/>
                                        </a:rPr>
                                        <m:t>𝟎</m:t>
                                      </m:r>
                                    </m:e>
                                    <m:e>
                                      <m:r>
                                        <a:rPr lang="en-US" sz="2800" b="1" i="1" smtClean="0">
                                          <a:solidFill>
                                            <a:schemeClr val="tx2"/>
                                          </a:solidFill>
                                          <a:latin typeface="Cambria Math"/>
                                          <a:sym typeface="Symbol"/>
                                        </a:rPr>
                                        <m:t>….</m:t>
                                      </m:r>
                                    </m:e>
                                  </m:eqArr>
                                </m:e>
                              </m:mr>
                              <m:mr>
                                <m:e>
                                  <m:r>
                                    <a:rPr lang="en-US" sz="2800" b="1" i="1">
                                      <a:solidFill>
                                        <a:schemeClr val="tx2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800" b="1" i="1">
                                      <a:solidFill>
                                        <a:schemeClr val="tx2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𝟎</m:t>
                                  </m:r>
                                  <m:r>
                                    <a:rPr lang="en-US" sz="2800" b="1" i="1" smtClean="0">
                                      <a:solidFill>
                                        <a:schemeClr val="tx2"/>
                                      </a:solidFill>
                                      <a:latin typeface="Cambria Math"/>
                                      <a:sym typeface="Symbol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b="1" i="1" dirty="0">
                                      <a:solidFill>
                                        <a:schemeClr val="tx2"/>
                                      </a:solidFill>
                                      <a:sym typeface="Symbol"/>
                                    </a:rPr>
                                    <m:t>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1" i="1" baseline="-25000" dirty="0" smtClean="0">
                                      <a:solidFill>
                                        <a:schemeClr val="tx2"/>
                                      </a:solidFill>
                                      <a:sym typeface="Symbol"/>
                                    </a:rPr>
                                    <m:t>r</m:t>
                                  </m:r>
                                </m:e>
                              </m:mr>
                            </m:m>
                          </m:e>
                          <m:e>
                            <m:r>
                              <m:rPr>
                                <m:nor/>
                              </m:rPr>
                              <a:rPr lang="en-US" sz="2800" b="1" i="0" dirty="0">
                                <a:solidFill>
                                  <a:schemeClr val="tx2"/>
                                </a:solidFill>
                                <a:sym typeface="Symbol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800" b="1" baseline="-25000" dirty="0">
                    <a:solidFill>
                      <a:schemeClr val="tx2"/>
                    </a:solidFill>
                    <a:sym typeface="Symbol"/>
                  </a:rPr>
                  <a:t> - diagonal matrix of singular values</a:t>
                </a:r>
              </a:p>
              <a:p>
                <a:endParaRPr lang="en-US" sz="2800" b="1" baseline="-25000" dirty="0">
                  <a:solidFill>
                    <a:schemeClr val="tx2"/>
                  </a:solidFill>
                  <a:sym typeface="Symbol"/>
                </a:endParaRPr>
              </a:p>
              <a:p>
                <a:endParaRPr lang="en-US" sz="2800" b="1" baseline="-25000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800" b="1" baseline="-25000" dirty="0">
                    <a:solidFill>
                      <a:schemeClr val="tx2"/>
                    </a:solidFill>
                    <a:sym typeface="Symbol"/>
                  </a:rPr>
                  <a:t>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6158032"/>
              </a:xfrm>
              <a:prstGeom prst="rect">
                <a:avLst/>
              </a:prstGeom>
              <a:blipFill>
                <a:blip r:embed="rId3"/>
                <a:stretch>
                  <a:fillRect t="-9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483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Сингулярное разложение </a:t>
            </a: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SVD: 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Data Approximation  1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541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ym typeface="Symbol"/>
                  </a:rPr>
                  <a:t>               Data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dirty="0">
                    <a:sym typeface="Symbol"/>
                  </a:rPr>
                  <a:t>: </a:t>
                </a:r>
                <a:r>
                  <a:rPr lang="en-US" sz="3200" b="1" dirty="0">
                    <a:sym typeface="Symbol"/>
                  </a:rPr>
                  <a:t>The singular values sorted          </a:t>
                </a:r>
              </a:p>
              <a:p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                   </a:t>
                </a:r>
                <a:r>
                  <a:rPr lang="en-US" sz="3200" b="1" i="1" baseline="-25000" dirty="0">
                    <a:solidFill>
                      <a:schemeClr val="tx2"/>
                    </a:solidFill>
                    <a:sym typeface="Symbol"/>
                  </a:rPr>
                  <a:t>1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 </a:t>
                </a:r>
                <a:r>
                  <a:rPr lang="en-US" sz="3200" b="1" i="1" baseline="-25000" dirty="0">
                    <a:solidFill>
                      <a:schemeClr val="tx2"/>
                    </a:solidFill>
                    <a:sym typeface="Symbol"/>
                  </a:rPr>
                  <a:t> 2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  …  </a:t>
                </a:r>
                <a:r>
                  <a:rPr lang="en-US" sz="3200" b="1" i="1" baseline="-25000" dirty="0">
                    <a:solidFill>
                      <a:schemeClr val="tx2"/>
                    </a:solidFill>
                    <a:sym typeface="Symbol"/>
                  </a:rPr>
                  <a:t> r</a:t>
                </a:r>
                <a:endParaRPr lang="en-US" sz="3200" b="1" i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3200" b="1" dirty="0">
                    <a:sym typeface="Symbol"/>
                  </a:rPr>
                  <a:t>    SVD:</a:t>
                </a:r>
                <a:r>
                  <a:rPr lang="en-US" sz="3200" b="1" dirty="0">
                    <a:solidFill>
                      <a:schemeClr val="tx2"/>
                    </a:solidFill>
                    <a:sym typeface="Symbol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Symbol"/>
                      </a:rPr>
                      <m:t>𝒀</m:t>
                    </m:r>
                    <m:r>
                      <a:rPr lang="en-US" sz="3200" b="1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a:rPr lang="en-US" sz="3200" b="1" i="1" dirty="0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…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</m:oMath>
                </a14:m>
                <a:r>
                  <a:rPr lang="en-US" sz="32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endParaRPr lang="en-US" sz="3200" b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     Rank r : mathematical  space dimension</a:t>
                </a:r>
              </a:p>
              <a:p>
                <a:endParaRPr lang="en-US" sz="2800" b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800" b="1" dirty="0">
                    <a:sym typeface="Symbol"/>
                  </a:rPr>
                  <a:t>     Problem: 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Given data matrix Y=[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iv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], find a matrix</a:t>
                </a: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</a:t>
                </a:r>
                <a:r>
                  <a:rPr lang="en-US" sz="2800" b="1" dirty="0" err="1">
                    <a:solidFill>
                      <a:schemeClr val="tx2"/>
                    </a:solidFill>
                    <a:sym typeface="Symbol"/>
                  </a:rPr>
                  <a:t>Yp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=[</a:t>
                </a:r>
                <a:r>
                  <a:rPr lang="en-US" sz="2800" b="1" i="1" dirty="0" err="1">
                    <a:solidFill>
                      <a:schemeClr val="tx2"/>
                    </a:solidFill>
                    <a:sym typeface="Symbol"/>
                  </a:rPr>
                  <a:t>yp</a:t>
                </a:r>
                <a:r>
                  <a:rPr lang="en-US" sz="2800" b="1" i="1" baseline="-25000" dirty="0" err="1">
                    <a:solidFill>
                      <a:schemeClr val="tx2"/>
                    </a:solidFill>
                    <a:sym typeface="Symbol"/>
                  </a:rPr>
                  <a:t>iv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] of rank 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p &lt; r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to minimize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𝒀</m:t>
                              </m:r>
                              <m:r>
                                <a:rPr lang="en-US" sz="2800" b="1" i="1">
                                  <a:solidFill>
                                    <a:schemeClr val="tx2"/>
                                  </a:solidFill>
                                  <a:latin typeface="Cambria Math"/>
                                  <a:sym typeface="Symbol"/>
                                </a:rPr>
                                <m:t>−</m:t>
                              </m:r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𝒀</m:t>
                              </m:r>
                              <m:r>
                                <a:rPr lang="en-US" sz="2800" b="1" i="1">
                                  <a:solidFill>
                                    <a:schemeClr val="tx2"/>
                                  </a:solidFill>
                                  <a:latin typeface="Cambria Math"/>
                                  <a:sym typeface="Symbol"/>
                                </a:rPr>
                                <m:t>𝒑</m:t>
                              </m:r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solidFill>
                                <a:schemeClr val="tx2"/>
                              </a:solidFill>
                              <a:latin typeface="Cambria Math"/>
                              <a:sym typeface="Symbol"/>
                            </a:rPr>
                            <m:t>𝟐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chemeClr val="tx2"/>
                          </a:solidFill>
                          <a:latin typeface="Cambria Math"/>
                          <a:sym typeface="Symbol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1" i="1" smtClean="0">
                              <a:solidFill>
                                <a:schemeClr val="tx2"/>
                              </a:solidFill>
                              <a:latin typeface="Cambria Math"/>
                              <a:sym typeface="Symbol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1" i="1" smtClean="0">
                              <a:solidFill>
                                <a:schemeClr val="tx2"/>
                              </a:solidFill>
                              <a:latin typeface="Cambria Math"/>
                              <a:sym typeface="Symbol"/>
                            </a:rPr>
                            <m:t>𝒊</m:t>
                          </m:r>
                          <m:r>
                            <a:rPr lang="en-US" sz="2800" b="1" i="1" smtClean="0">
                              <a:solidFill>
                                <a:schemeClr val="tx2"/>
                              </a:solidFill>
                              <a:latin typeface="Cambria Math"/>
                              <a:sym typeface="Symbol"/>
                            </a:rPr>
                            <m:t>, </m:t>
                          </m:r>
                          <m:r>
                            <a:rPr lang="en-US" sz="2800" b="1" i="1" smtClean="0">
                              <a:solidFill>
                                <a:schemeClr val="tx2"/>
                              </a:solidFill>
                              <a:latin typeface="Cambria Math"/>
                              <a:sym typeface="Symbol"/>
                            </a:rPr>
                            <m:t>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  <a:sym typeface="Symbol"/>
                                </a:rPr>
                                <m:t>(</m:t>
                              </m:r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𝒚</m:t>
                              </m:r>
                              <m:r>
                                <a:rPr lang="en-US" sz="2800" b="1" i="1" baseline="-2500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𝒊𝒗</m:t>
                              </m:r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  <a:sym typeface="Symbol"/>
                                </a:rPr>
                                <m:t>−</m:t>
                              </m:r>
                              <m:r>
                                <a:rPr lang="en-US" sz="2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𝒚</m:t>
                              </m:r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𝒑</m:t>
                              </m:r>
                              <m:r>
                                <a:rPr lang="en-US" sz="2800" b="1" i="1" baseline="-2500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𝒊𝒗</m:t>
                              </m:r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  <a:sym typeface="Symbol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  <a:sym typeface="Symbol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1" i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</a:t>
                </a:r>
                <a:r>
                  <a:rPr lang="en-US" sz="2800" b="1" dirty="0">
                    <a:sym typeface="Symbol"/>
                  </a:rPr>
                  <a:t>Solution: 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The first </a:t>
                </a:r>
                <a:r>
                  <a:rPr lang="en-US" sz="3200" b="1" i="1" dirty="0">
                    <a:solidFill>
                      <a:schemeClr val="tx2"/>
                    </a:solidFill>
                    <a:sym typeface="Symbol"/>
                  </a:rPr>
                  <a:t>p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singular triplets</a:t>
                </a:r>
              </a:p>
              <a:p>
                <a:r>
                  <a:rPr lang="en-US" sz="3200" b="1" i="1" dirty="0">
                    <a:solidFill>
                      <a:schemeClr val="tx2"/>
                    </a:solidFill>
                    <a:latin typeface="Cambria Math"/>
                    <a:sym typeface="Symbol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Symbol"/>
                      </a:rPr>
                      <m:t>𝐘</m:t>
                    </m:r>
                    <m:r>
                      <a:rPr lang="en-US" sz="3200" b="1" i="0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𝐩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+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a:rPr lang="en-US" sz="3200" b="1" i="1" dirty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…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p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p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p</m:t>
                    </m:r>
                    <m:r>
                      <m:rPr>
                        <m:nor/>
                      </m:rPr>
                      <a:rPr lang="en-US" sz="32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</m:oMath>
                </a14:m>
                <a:endParaRPr lang="en-US" sz="3200" b="1" dirty="0">
                  <a:solidFill>
                    <a:schemeClr val="tx2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5418215"/>
              </a:xfrm>
              <a:prstGeom prst="rect">
                <a:avLst/>
              </a:prstGeom>
              <a:blipFill>
                <a:blip r:embed="rId3"/>
                <a:stretch>
                  <a:fillRect t="-1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058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</a:t>
            </a:r>
            <a:r>
              <a:rPr lang="ru-RU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Сингулярное разложение 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SVD: Approximation,  2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908720"/>
                <a:ext cx="9144000" cy="6345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3200" b="1" i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3200" b="1" dirty="0">
                    <a:sym typeface="Symbol"/>
                  </a:rPr>
                  <a:t>      SVD:</a:t>
                </a:r>
                <a:r>
                  <a:rPr lang="en-US" sz="3200" b="1" dirty="0">
                    <a:solidFill>
                      <a:schemeClr val="tx2"/>
                    </a:solidFill>
                    <a:sym typeface="Symbol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Symbol"/>
                      </a:rPr>
                      <m:t>𝒀</m:t>
                    </m:r>
                    <m:r>
                      <a:rPr lang="en-US" sz="3200" b="1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32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32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a:rPr lang="en-US" sz="3200" b="1" i="1" dirty="0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…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3200" b="1" i="1" dirty="0" smtClean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  <m:r>
                      <m:rPr>
                        <m:nor/>
                      </m:rPr>
                      <a:rPr lang="en-US" sz="32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3200" b="1" i="1" baseline="-25000" dirty="0" smtClean="0">
                        <a:solidFill>
                          <a:schemeClr val="tx2"/>
                        </a:solidFill>
                        <a:sym typeface="Symbol"/>
                      </a:rPr>
                      <m:t>r</m:t>
                    </m:r>
                  </m:oMath>
                </a14:m>
                <a:r>
                  <a:rPr lang="en-US" sz="32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endParaRPr lang="en-US" sz="3200" b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800" b="1" dirty="0">
                    <a:sym typeface="Symbol"/>
                  </a:rPr>
                  <a:t>     (</a:t>
                </a:r>
                <a:r>
                  <a:rPr lang="en-US" sz="2800" b="1" dirty="0" err="1">
                    <a:sym typeface="Symbol"/>
                  </a:rPr>
                  <a:t>i</a:t>
                </a:r>
                <a:r>
                  <a:rPr lang="en-US" sz="2800" b="1" dirty="0">
                    <a:sym typeface="Symbol"/>
                  </a:rPr>
                  <a:t>)    Matrix of first </a:t>
                </a:r>
                <a:r>
                  <a:rPr lang="en-US" sz="2800" b="1" i="1" dirty="0">
                    <a:sym typeface="Symbol"/>
                  </a:rPr>
                  <a:t>p</a:t>
                </a:r>
                <a:r>
                  <a:rPr lang="en-US" sz="2800" b="1" dirty="0">
                    <a:sym typeface="Symbol"/>
                  </a:rPr>
                  <a:t> singular triplets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latin typeface="Cambria Math"/>
                    <a:sym typeface="Symbol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Symbol"/>
                      </a:rPr>
                      <m:t>𝒀</m:t>
                    </m:r>
                    <m:r>
                      <a:rPr lang="en-US" sz="2800" b="1" i="1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𝒑</m:t>
                    </m:r>
                    <m:r>
                      <a:rPr lang="en-US" sz="2800" b="1" i="1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1</m:t>
                    </m:r>
                    <m:r>
                      <m:rPr>
                        <m:nor/>
                      </m:rPr>
                      <a:rPr lang="en-US" sz="28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+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2</m:t>
                    </m:r>
                    <m:r>
                      <m:rPr>
                        <m:nor/>
                      </m:rPr>
                      <a:rPr lang="en-US" sz="2800" b="1" i="0" baseline="30000" dirty="0">
                        <a:solidFill>
                          <a:schemeClr val="tx2"/>
                        </a:solidFill>
                        <a:sym typeface="Symbol"/>
                      </a:rPr>
                      <m:t>T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+</m:t>
                    </m:r>
                    <m:r>
                      <a:rPr lang="en-US" sz="2800" b="1" i="1" dirty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…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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p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z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p</m:t>
                    </m:r>
                    <m:r>
                      <m:rPr>
                        <m:nor/>
                      </m:rPr>
                      <a:rPr lang="en-US" sz="2800" b="1" i="1" dirty="0">
                        <a:solidFill>
                          <a:schemeClr val="tx2"/>
                        </a:solidFill>
                        <a:sym typeface="Symbol"/>
                      </a:rPr>
                      <m:t>c</m:t>
                    </m:r>
                    <m:r>
                      <m:rPr>
                        <m:nor/>
                      </m:rPr>
                      <a:rPr lang="en-US" sz="2800" b="1" i="1" baseline="-25000" dirty="0">
                        <a:solidFill>
                          <a:schemeClr val="tx2"/>
                        </a:solidFill>
                        <a:sym typeface="Symbol"/>
                      </a:rPr>
                      <m:t>p</m:t>
                    </m:r>
                  </m:oMath>
                </a14:m>
                <a:r>
                  <a:rPr lang="en-US" sz="28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, </a:t>
                </a:r>
                <a:r>
                  <a:rPr lang="en-US" sz="2800" b="1" i="1" dirty="0">
                    <a:sym typeface="Symbol"/>
                  </a:rPr>
                  <a:t>p &lt; r</a:t>
                </a:r>
              </a:p>
              <a:p>
                <a:r>
                  <a:rPr lang="en-US" sz="2800" b="1" dirty="0">
                    <a:sym typeface="Symbol"/>
                  </a:rPr>
                  <a:t>       minimizes the sum-of-squares difference</a:t>
                </a:r>
              </a:p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Symbol"/>
                      </a:rPr>
                      <m:t>               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𝒀</m:t>
                            </m:r>
                            <m:r>
                              <a:rPr lang="en-US" sz="2800" b="1" i="1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−</m:t>
                            </m:r>
                            <m: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𝒀</m:t>
                            </m:r>
                            <m:r>
                              <a:rPr lang="en-US" sz="2800" b="1" i="1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𝒑</m:t>
                            </m:r>
                          </m:e>
                        </m:d>
                      </m:e>
                      <m:sup>
                        <m: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𝒊</m:t>
                        </m:r>
                        <m: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𝒊𝒗</m:t>
                                </m:r>
                              </m:sub>
                            </m:sSub>
                            <m: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𝒚</m:t>
                                </m:r>
                                <m:r>
                                  <a:rPr lang="en-US" sz="2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2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𝒊𝒗</m:t>
                                </m:r>
                              </m:sub>
                            </m:sSub>
                            <m: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</a:t>
                </a:r>
              </a:p>
              <a:p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      </a:t>
                </a:r>
                <a:r>
                  <a:rPr lang="en-US" sz="2800" b="1" dirty="0">
                    <a:sym typeface="Symbol"/>
                  </a:rPr>
                  <a:t>over all matrices of rank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p</a:t>
                </a:r>
              </a:p>
              <a:p>
                <a:r>
                  <a:rPr lang="en-US" sz="2800" b="1" dirty="0">
                    <a:solidFill>
                      <a:srgbClr val="C00000"/>
                    </a:solidFill>
                    <a:sym typeface="Symbol"/>
                  </a:rPr>
                  <a:t>     </a:t>
                </a:r>
                <a:r>
                  <a:rPr lang="en-US" sz="2800" b="1" dirty="0">
                    <a:sym typeface="Symbol"/>
                  </a:rPr>
                  <a:t>(ii)</a:t>
                </a:r>
                <a:r>
                  <a:rPr lang="en-US" sz="2800" b="1" dirty="0">
                    <a:solidFill>
                      <a:srgbClr val="C00000"/>
                    </a:solidFill>
                    <a:sym typeface="Symbol"/>
                  </a:rPr>
                  <a:t>              Data scatter decomposition</a:t>
                </a: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</a:t>
                </a: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3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𝒀</m:t>
                            </m:r>
                          </m:e>
                        </m:d>
                      </m:e>
                      <m:sup>
                        <m:r>
                          <a:rPr lang="en-US" sz="36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  <m:r>
                      <a:rPr lang="en-US" sz="3600" b="1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</m:t>
                    </m:r>
                    <m:sSup>
                      <m:sSupPr>
                        <m:ctrlPr>
                          <a:rPr lang="en-US" sz="36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6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  <m:t></m:t>
                        </m:r>
                        <m:r>
                          <m:rPr>
                            <m:nor/>
                          </m:rPr>
                          <a:rPr lang="en-US" sz="3600" b="1" i="1" baseline="-25000" dirty="0">
                            <a:solidFill>
                              <a:schemeClr val="tx2"/>
                            </a:solidFill>
                            <a:sym typeface="Symbol"/>
                          </a:rPr>
                          <m:t>1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600" b="1" dirty="0">
                    <a:solidFill>
                      <a:schemeClr val="tx2"/>
                    </a:solidFill>
                    <a:sym typeface="Symbol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6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  <m:t></m:t>
                        </m:r>
                        <m:r>
                          <m:rPr>
                            <m:nor/>
                          </m:rPr>
                          <a:rPr lang="en-US" sz="3600" b="1" i="1" baseline="-25000" dirty="0" smtClean="0">
                            <a:solidFill>
                              <a:schemeClr val="tx2"/>
                            </a:solidFill>
                            <a:sym typeface="Symbol"/>
                          </a:rPr>
                          <m:t>2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 + …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6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  <m:t></m:t>
                        </m:r>
                        <m:r>
                          <m:rPr>
                            <m:nor/>
                          </m:rPr>
                          <a:rPr lang="en-US" sz="3600" b="1" i="1" baseline="-25000" dirty="0" smtClean="0">
                            <a:solidFill>
                              <a:schemeClr val="tx2"/>
                            </a:solidFill>
                            <a:sym typeface="Symbol"/>
                          </a:rPr>
                          <m:t>p</m:t>
                        </m:r>
                      </m:e>
                      <m:sup>
                        <m:r>
                          <a:rPr lang="en-US" sz="36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600" b="1" i="1" baseline="-25000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3600" b="1" i="1" dirty="0">
                    <a:solidFill>
                      <a:schemeClr val="tx2"/>
                    </a:solidFill>
                    <a:sym typeface="Symbol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3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𝒀</m:t>
                            </m:r>
                            <m:r>
                              <a:rPr lang="en-US" sz="3600" b="1" i="1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−</m:t>
                            </m:r>
                            <m:r>
                              <a:rPr lang="en-US" sz="3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𝒀</m:t>
                            </m:r>
                            <m:r>
                              <a:rPr lang="en-US" sz="3600" b="1" i="1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𝒑</m:t>
                            </m:r>
                          </m:e>
                        </m:d>
                      </m:e>
                      <m:sup>
                        <m:r>
                          <a:rPr lang="en-US" sz="36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</m:oMath>
                </a14:m>
                <a:endParaRPr lang="en-US" sz="3600" b="1" i="1" dirty="0">
                  <a:solidFill>
                    <a:schemeClr val="tx2"/>
                  </a:solidFill>
                  <a:sym typeface="Symbol"/>
                </a:endParaRPr>
              </a:p>
              <a:p>
                <a:r>
                  <a:rPr lang="en-US" sz="2800" b="1" dirty="0">
                    <a:sym typeface="Symbol"/>
                  </a:rPr>
                  <a:t>           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  <m:t>𝒀</m:t>
                            </m:r>
                          </m:e>
                        </m:d>
                      </m:e>
                      <m:sup>
                        <m: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  <m:r>
                      <a:rPr lang="en-US" sz="2800" b="1" i="1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𝒊</m:t>
                        </m:r>
                        <m: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, </m:t>
                        </m:r>
                        <m: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sz="2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SupPr>
                              <m:e>
                                <m:r>
                                  <a:rPr lang="en-US" sz="2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800" b="1" i="1">
                                    <a:solidFill>
                                      <a:schemeClr val="tx2"/>
                                    </a:solidFill>
                                    <a:latin typeface="Cambria Math"/>
                                    <a:sym typeface="Symbol"/>
                                  </a:rPr>
                                  <m:t>𝒊𝒗</m:t>
                                </m:r>
                              </m:sub>
                              <m:sup/>
                            </m:sSubSup>
                          </m:e>
                          <m:sup>
                            <m:r>
                              <a:rPr lang="en-US" sz="2800" b="1" i="1">
                                <a:solidFill>
                                  <a:schemeClr val="tx2"/>
                                </a:solidFill>
                                <a:latin typeface="Cambria Math"/>
                                <a:sym typeface="Symbol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800" b="1" dirty="0">
                    <a:sym typeface="Symbol"/>
                  </a:rPr>
                  <a:t>  is  the data scatter;    </a:t>
                </a:r>
              </a:p>
              <a:p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1" i="1" dirty="0">
                            <a:solidFill>
                              <a:schemeClr val="tx2"/>
                            </a:solidFill>
                            <a:sym typeface="Symbol"/>
                          </a:rPr>
                          <m:t></m:t>
                        </m:r>
                        <m:r>
                          <m:rPr>
                            <m:nor/>
                          </m:rPr>
                          <a:rPr lang="en-US" sz="2800" b="1" i="1" baseline="-25000" dirty="0" smtClean="0">
                            <a:solidFill>
                              <a:schemeClr val="tx2"/>
                            </a:solidFill>
                            <a:sym typeface="Symbol"/>
                          </a:rPr>
                          <m:t>k</m:t>
                        </m:r>
                      </m:e>
                      <m:sup>
                        <m:r>
                          <a:rPr lang="en-US" sz="2800" b="1" i="1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</a:t>
                </a:r>
                <a:r>
                  <a:rPr lang="en-US" sz="2800" b="1" dirty="0">
                    <a:sym typeface="Symbol"/>
                  </a:rPr>
                  <a:t>- the contribution of 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k</a:t>
                </a:r>
                <a:r>
                  <a:rPr lang="en-US" sz="2800" b="1" dirty="0">
                    <a:sym typeface="Symbol"/>
                  </a:rPr>
                  <a:t>-</a:t>
                </a:r>
                <a:r>
                  <a:rPr lang="en-US" sz="2800" b="1" dirty="0" err="1">
                    <a:sym typeface="Symbol"/>
                  </a:rPr>
                  <a:t>th</a:t>
                </a:r>
                <a:r>
                  <a:rPr lang="en-US" sz="2800" b="1" dirty="0">
                    <a:sym typeface="Symbol"/>
                  </a:rPr>
                  <a:t> singular triplet</a:t>
                </a:r>
              </a:p>
              <a:p>
                <a:endParaRPr lang="en-US" sz="2800" b="1" baseline="-25000" dirty="0">
                  <a:solidFill>
                    <a:schemeClr val="tx2"/>
                  </a:solidFill>
                  <a:sym typeface="Symbol"/>
                </a:endParaRPr>
              </a:p>
              <a:p>
                <a:endParaRPr lang="en-US" sz="2800" b="1" baseline="-25000" dirty="0">
                  <a:solidFill>
                    <a:schemeClr val="tx2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08720"/>
                <a:ext cx="9144000" cy="6345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161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8826-CDB3-E810-D71E-592D4607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951785B-69C5-592E-F043-7188B4EA469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11228" y="67511"/>
                <a:ext cx="8453259" cy="754701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sz="2400" b="1" dirty="0"/>
                  <a:t>Почему я против использования нормализации ранжирования при визуализации, 1</a:t>
                </a:r>
                <a:br>
                  <a:rPr lang="ru-RU" sz="2400" b="1" dirty="0"/>
                </a:br>
                <a:r>
                  <a:rPr lang="ru-RU" sz="2800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𝑖𝑣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𝑖𝑣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𝑚𝑒𝑎𝑛𝑣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𝑠𝑡𝑑</m:t>
                        </m:r>
                        <m:r>
                          <a:rPr lang="en-US" sz="2400" i="1" baseline="-2500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ru-RU" sz="2400" dirty="0"/>
                  <a:t> - </a:t>
                </a:r>
                <a:r>
                  <a:rPr lang="en-US" sz="2400" dirty="0"/>
                  <a:t>z-scoring</a:t>
                </a:r>
                <a:br>
                  <a:rPr lang="en-US" sz="2400" dirty="0"/>
                </a:br>
                <a:r>
                  <a:rPr lang="en-US" sz="2400" b="1" dirty="0"/>
                  <a:t> </a:t>
                </a:r>
                <a:r>
                  <a:rPr lang="ru-RU" sz="2400" b="1" dirty="0"/>
                  <a:t>          </a:t>
                </a:r>
                <a:br>
                  <a:rPr lang="ru-RU" sz="2400" b="1" dirty="0"/>
                </a:br>
                <a:r>
                  <a:rPr lang="ru-RU" sz="2400" b="1" dirty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𝒊𝒗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𝒊𝒗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𝒎𝒆𝒂𝒏𝒗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𝒎𝒂𝒙</m:t>
                        </m:r>
                        <m:r>
                          <a:rPr lang="en-US" sz="2400" b="1" i="1" baseline="-2500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𝒎𝒊𝒏𝒗</m:t>
                        </m:r>
                      </m:den>
                    </m:f>
                  </m:oMath>
                </a14:m>
                <a:r>
                  <a:rPr lang="en-US" sz="2400" b="1" dirty="0"/>
                  <a:t> - </a:t>
                </a:r>
                <a:r>
                  <a:rPr lang="ru-RU" sz="2400" b="1" dirty="0"/>
                  <a:t>нормализация размахом</a:t>
                </a:r>
                <a:br>
                  <a:rPr lang="ru-RU" sz="2400" b="1" dirty="0"/>
                </a:br>
                <a:r>
                  <a:rPr lang="ru-RU" sz="2400" dirty="0"/>
                  <a:t>            </a:t>
                </a:r>
                <a:r>
                  <a:rPr lang="en-US" sz="2400" dirty="0"/>
                  <a:t> </a:t>
                </a:r>
                <a:br>
                  <a:rPr lang="ru-RU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             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𝑖𝑣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𝑖𝑣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𝑚𝑖𝑛𝑣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en-US" sz="2400" i="1" baseline="-2500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𝑚𝑖𝑛𝑣</m:t>
                        </m:r>
                      </m:den>
                    </m:f>
                    <m:r>
                      <a:rPr lang="ru-RU" sz="2400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- нормализация ранжирования</a:t>
                </a:r>
                <a:br>
                  <a:rPr lang="en-US" sz="2400" dirty="0"/>
                </a:br>
                <a:r>
                  <a:rPr lang="en-US" sz="2400" dirty="0"/>
                  <a:t>                     (</a:t>
                </a:r>
                <a:r>
                  <a:rPr lang="ru-RU" sz="2400" dirty="0"/>
                  <a:t>эта нормализация – в </a:t>
                </a:r>
                <a:r>
                  <a:rPr lang="en-US" sz="2400" dirty="0"/>
                  <a:t>scikit-learn </a:t>
                </a:r>
                <a:r>
                  <a:rPr lang="en-US" sz="2400" dirty="0">
                    <a:solidFill>
                      <a:srgbClr val="FF0000"/>
                    </a:solidFill>
                  </a:rPr>
                  <a:t>XXX</a:t>
                </a:r>
                <a:r>
                  <a:rPr lang="en-US" sz="2400" dirty="0"/>
                  <a:t>)</a:t>
                </a:r>
                <a:endParaRPr lang="ru-RU" sz="2400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951785B-69C5-592E-F043-7188B4EA4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11228" y="67511"/>
                <a:ext cx="8453259" cy="754701"/>
              </a:xfrm>
              <a:blipFill>
                <a:blip r:embed="rId3"/>
                <a:stretch>
                  <a:fillRect l="-937" t="-5645" b="-3338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5D36A7B8-ADA0-A41C-28C5-D8059515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E8867A3-C5BA-78C2-A653-460D4388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CD97640-FC01-6065-A42A-CD4A53880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0143D8-7AAF-338E-A5BB-9FEADA794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B81F52-E7C1-43C1-ACA8-A32093C99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4DEE1EA2-D097-5FA8-51DE-2144D8F87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EDEA764E-3500-ED5C-AA17-25D409814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1107819"/>
            <a:ext cx="270202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ru-RU" sz="750" dirty="0"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lang="en-US" altLang="ru-RU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F59A1E-228D-B53E-E59F-B0F97364B293}"/>
              </a:ext>
            </a:extLst>
          </p:cNvPr>
          <p:cNvSpPr txBox="1"/>
          <p:nvPr/>
        </p:nvSpPr>
        <p:spPr>
          <a:xfrm>
            <a:off x="257897" y="3264152"/>
            <a:ext cx="876027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/>
              <a:t>П</a:t>
            </a:r>
            <a:r>
              <a:rPr lang="ru-RU" sz="2100" b="1" dirty="0">
                <a:solidFill>
                  <a:srgbClr val="C00000"/>
                </a:solidFill>
              </a:rPr>
              <a:t>ервая главная компонента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>
                <a:solidFill>
                  <a:srgbClr val="C00000"/>
                </a:solidFill>
              </a:rPr>
              <a:t>до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/>
              <a:t>и </a:t>
            </a:r>
            <a:r>
              <a:rPr lang="ru-RU" sz="2100" b="1" dirty="0">
                <a:solidFill>
                  <a:srgbClr val="0070C0"/>
                </a:solidFill>
              </a:rPr>
              <a:t>после</a:t>
            </a:r>
            <a:r>
              <a:rPr lang="en-US" sz="2100" b="1" dirty="0"/>
              <a:t> </a:t>
            </a:r>
            <a:r>
              <a:rPr lang="ru-RU" sz="2100" b="1" dirty="0"/>
              <a:t>того, как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chemeClr val="tx2"/>
                </a:solidFill>
              </a:rPr>
              <a:t>X</a:t>
            </a:r>
            <a:r>
              <a:rPr lang="en-US" sz="2100" b="1" dirty="0"/>
              <a:t> </a:t>
            </a:r>
            <a:r>
              <a:rPr lang="ru-RU" sz="2100" b="1" dirty="0"/>
              <a:t>переведена в</a:t>
            </a:r>
            <a:r>
              <a:rPr lang="en-US" sz="2100" b="1" dirty="0">
                <a:solidFill>
                  <a:srgbClr val="5C5CCE"/>
                </a:solidFill>
              </a:rPr>
              <a:t> Y </a:t>
            </a:r>
            <a:r>
              <a:rPr lang="ru-RU" sz="2100" b="1" dirty="0">
                <a:solidFill>
                  <a:srgbClr val="5C5CCE"/>
                </a:solidFill>
              </a:rPr>
              <a:t>с помощью </a:t>
            </a:r>
            <a:r>
              <a:rPr lang="ru-RU" sz="2100" b="1" dirty="0">
                <a:solidFill>
                  <a:srgbClr val="FF0000"/>
                </a:solidFill>
              </a:rPr>
              <a:t>центрирования</a:t>
            </a:r>
            <a:r>
              <a:rPr lang="ru-RU" sz="2100" b="1" dirty="0">
                <a:solidFill>
                  <a:srgbClr val="5C5CCE"/>
                </a:solidFill>
              </a:rPr>
              <a:t> – вычитания из каждого столбца его среднего</a:t>
            </a:r>
            <a:r>
              <a:rPr lang="en-US" sz="2100" b="1" dirty="0">
                <a:solidFill>
                  <a:srgbClr val="5C5CCE"/>
                </a:solidFill>
              </a:rPr>
              <a:t>. 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95C54-5B55-BD40-1573-7ED2D344366D}"/>
              </a:ext>
            </a:extLst>
          </p:cNvPr>
          <p:cNvSpPr txBox="1"/>
          <p:nvPr/>
        </p:nvSpPr>
        <p:spPr>
          <a:xfrm>
            <a:off x="5220072" y="4506741"/>
            <a:ext cx="32243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Red dots </a:t>
            </a:r>
            <a:r>
              <a:rPr lang="en-US" b="1" dirty="0"/>
              <a:t>– raw data X</a:t>
            </a:r>
          </a:p>
          <a:p>
            <a:r>
              <a:rPr lang="en-US" b="1" dirty="0">
                <a:solidFill>
                  <a:srgbClr val="4F5AE3"/>
                </a:solidFill>
              </a:rPr>
              <a:t>Blue</a:t>
            </a:r>
            <a:r>
              <a:rPr lang="en-US" b="1" dirty="0"/>
              <a:t> – data Y centered</a:t>
            </a:r>
          </a:p>
          <a:p>
            <a:r>
              <a:rPr lang="en-US" b="1" dirty="0"/>
              <a:t>Circle – space origin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Red arrow </a:t>
            </a:r>
            <a:r>
              <a:rPr lang="en-US" b="1" dirty="0"/>
              <a:t>– PC for X</a:t>
            </a:r>
          </a:p>
          <a:p>
            <a:r>
              <a:rPr lang="en-US" b="1" dirty="0">
                <a:solidFill>
                  <a:srgbClr val="4F5AE3"/>
                </a:solidFill>
              </a:rPr>
              <a:t>Blue arrow </a:t>
            </a:r>
            <a:r>
              <a:rPr lang="en-US" b="1" dirty="0"/>
              <a:t>– PC for Y</a:t>
            </a:r>
            <a:endParaRPr lang="ru-RU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2997A2-B6A1-DD80-386A-CC6B9E678B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565" y="4486090"/>
            <a:ext cx="3356472" cy="164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69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37D5-D16D-21BB-EFA0-92A2985E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F086B-AC66-617A-443A-8AB08809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28" y="67511"/>
            <a:ext cx="8453259" cy="681540"/>
          </a:xfrm>
        </p:spPr>
        <p:txBody>
          <a:bodyPr>
            <a:normAutofit fontScale="90000"/>
          </a:bodyPr>
          <a:lstStyle/>
          <a:p>
            <a:r>
              <a:rPr lang="ru-RU" sz="2400" b="1" dirty="0"/>
              <a:t>Почему я против использования нормализации ранжирования при визуализации, 2</a:t>
            </a:r>
            <a:br>
              <a:rPr lang="ru-RU" sz="2400" b="1" dirty="0"/>
            </a:br>
            <a:endParaRPr lang="ru-RU" sz="2400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C8D13C0-05A4-8180-189F-D2706026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0F97F36A-DACF-69E9-8367-0C83D8AE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0BA27C-1D35-53BF-9181-D13906787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6CD22A-C3DE-34A8-1BEB-1B0B772C6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4F844CC-DDE8-E051-D75B-B7D089CE8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A545B5B4-23DB-8CAA-AF2C-5471ADF0E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AADC94A2-FD63-F1DC-6F01-C0657A923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1107819"/>
            <a:ext cx="270202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ru-RU" sz="750" dirty="0"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lang="en-US" altLang="ru-RU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80C894-B39C-2E90-7128-C2E2971785AB}"/>
              </a:ext>
            </a:extLst>
          </p:cNvPr>
          <p:cNvSpPr txBox="1"/>
          <p:nvPr/>
        </p:nvSpPr>
        <p:spPr>
          <a:xfrm>
            <a:off x="204208" y="1276125"/>
            <a:ext cx="876027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/>
              <a:t>Рисунок показывает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>
                <a:solidFill>
                  <a:srgbClr val="C00000"/>
                </a:solidFill>
              </a:rPr>
              <a:t>первую главную компоненту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>
                <a:solidFill>
                  <a:srgbClr val="C00000"/>
                </a:solidFill>
              </a:rPr>
              <a:t>до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/>
              <a:t>и </a:t>
            </a:r>
            <a:r>
              <a:rPr lang="ru-RU" sz="2100" b="1" dirty="0">
                <a:solidFill>
                  <a:srgbClr val="0070C0"/>
                </a:solidFill>
              </a:rPr>
              <a:t>после</a:t>
            </a:r>
            <a:r>
              <a:rPr lang="en-US" sz="2100" b="1" dirty="0"/>
              <a:t> </a:t>
            </a:r>
            <a:r>
              <a:rPr lang="ru-RU" sz="2100" b="1" dirty="0"/>
              <a:t>того, как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chemeClr val="tx2"/>
                </a:solidFill>
              </a:rPr>
              <a:t>X</a:t>
            </a:r>
            <a:r>
              <a:rPr lang="en-US" sz="2100" b="1" dirty="0"/>
              <a:t> </a:t>
            </a:r>
            <a:r>
              <a:rPr lang="ru-RU" sz="2100" b="1" dirty="0"/>
              <a:t>переведена в</a:t>
            </a:r>
            <a:r>
              <a:rPr lang="en-US" sz="2100" b="1" dirty="0">
                <a:solidFill>
                  <a:srgbClr val="5C5CCE"/>
                </a:solidFill>
              </a:rPr>
              <a:t> Y </a:t>
            </a:r>
            <a:r>
              <a:rPr lang="ru-RU" sz="2100" b="1" dirty="0">
                <a:solidFill>
                  <a:srgbClr val="5C5CCE"/>
                </a:solidFill>
              </a:rPr>
              <a:t>с помощью центрирования – вычитания из каждого столбца его среднего</a:t>
            </a:r>
            <a:r>
              <a:rPr lang="en-US" sz="2100" b="1" dirty="0">
                <a:solidFill>
                  <a:srgbClr val="5C5CCE"/>
                </a:solidFill>
              </a:rPr>
              <a:t>. 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38D64-663E-00E6-AA69-C9C9D9F99CC3}"/>
              </a:ext>
            </a:extLst>
          </p:cNvPr>
          <p:cNvSpPr txBox="1"/>
          <p:nvPr/>
        </p:nvSpPr>
        <p:spPr>
          <a:xfrm>
            <a:off x="6640941" y="2662123"/>
            <a:ext cx="22682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Red dots </a:t>
            </a:r>
            <a:r>
              <a:rPr lang="en-US" b="1" dirty="0"/>
              <a:t>– raw data X</a:t>
            </a:r>
          </a:p>
          <a:p>
            <a:r>
              <a:rPr lang="en-US" b="1" dirty="0">
                <a:solidFill>
                  <a:srgbClr val="4F5AE3"/>
                </a:solidFill>
              </a:rPr>
              <a:t>Blue</a:t>
            </a:r>
            <a:r>
              <a:rPr lang="en-US" b="1" dirty="0"/>
              <a:t> – data Y centered</a:t>
            </a:r>
          </a:p>
          <a:p>
            <a:endParaRPr lang="en-US" b="1" dirty="0"/>
          </a:p>
          <a:p>
            <a:r>
              <a:rPr lang="en-US" b="1" dirty="0"/>
              <a:t>Circle – space origin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Red arrow </a:t>
            </a:r>
            <a:r>
              <a:rPr lang="en-US" b="1" dirty="0"/>
              <a:t>– PC for X</a:t>
            </a:r>
          </a:p>
          <a:p>
            <a:r>
              <a:rPr lang="en-US" b="1" dirty="0">
                <a:solidFill>
                  <a:srgbClr val="4F5AE3"/>
                </a:solidFill>
              </a:rPr>
              <a:t>Blue arrow </a:t>
            </a:r>
            <a:r>
              <a:rPr lang="en-US" b="1" dirty="0"/>
              <a:t>– PC for Y</a:t>
            </a:r>
            <a:endParaRPr lang="ru-RU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74BECA-BC77-E4F0-77C9-C6301C61C1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645" y="2520491"/>
            <a:ext cx="3356472" cy="16497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D129F3-BF66-0622-4F28-882373524010}"/>
              </a:ext>
            </a:extLst>
          </p:cNvPr>
          <p:cNvSpPr txBox="1"/>
          <p:nvPr/>
        </p:nvSpPr>
        <p:spPr>
          <a:xfrm>
            <a:off x="957226" y="4192610"/>
            <a:ext cx="571648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Из-за того, что все главные компоненты проходят через точку 0 (начало отсчета),  структура данных </a:t>
            </a:r>
            <a:r>
              <a:rPr lang="ru-RU" sz="3200" b="1" dirty="0"/>
              <a:t>лучше видна</a:t>
            </a:r>
            <a:r>
              <a:rPr lang="ru-RU" sz="2400" b="1" dirty="0"/>
              <a:t>, если ее смотреть из центра, т.е.  </a:t>
            </a:r>
            <a:r>
              <a:rPr lang="ru-RU" sz="2400" b="1" dirty="0">
                <a:latin typeface="Aptos ExtraBold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ПОСЛЕ </a:t>
            </a:r>
            <a:r>
              <a:rPr lang="ru-RU" sz="2400" b="1" dirty="0"/>
              <a:t>центрирования.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5346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6029-0795-8404-7430-6C467DCF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9A283-1517-9577-5BBA-557B1186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28" y="67511"/>
            <a:ext cx="8453259" cy="681540"/>
          </a:xfrm>
        </p:spPr>
        <p:txBody>
          <a:bodyPr>
            <a:normAutofit fontScale="90000"/>
          </a:bodyPr>
          <a:lstStyle/>
          <a:p>
            <a:r>
              <a:rPr lang="ru-RU" sz="2400" b="1" dirty="0"/>
              <a:t>Почему я против использования нормализации ранжирования при визуализации, 3</a:t>
            </a:r>
            <a:br>
              <a:rPr lang="ru-RU" sz="2400" b="1" dirty="0"/>
            </a:br>
            <a:endParaRPr lang="ru-RU" sz="2400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B906ED8A-B73C-8D93-F685-2E4E7269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E40823A-284B-ECAF-EF02-C780F80F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9225873-F183-77C9-B42C-92D498BF9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DD54CF-7C67-55FF-9EC4-CEA4DDB33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45510E3-F2DC-5509-72DF-33D7D837A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F4B8640-645C-70AE-801A-D2B1D8054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9F73D648-7FE6-9188-35F9-16163117E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1107819"/>
            <a:ext cx="270202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ru-RU" sz="750" dirty="0"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lang="en-US" altLang="ru-RU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EDDC1A-4DA4-87A7-A181-DCA926B71419}"/>
              </a:ext>
            </a:extLst>
          </p:cNvPr>
          <p:cNvSpPr txBox="1"/>
          <p:nvPr/>
        </p:nvSpPr>
        <p:spPr>
          <a:xfrm>
            <a:off x="204208" y="1276125"/>
            <a:ext cx="876027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b="1" dirty="0">
                <a:solidFill>
                  <a:srgbClr val="C00000"/>
                </a:solidFill>
              </a:rPr>
              <a:t>Первая и вторая главные компоненты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>
                <a:solidFill>
                  <a:srgbClr val="C00000"/>
                </a:solidFill>
              </a:rPr>
              <a:t>до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/>
              <a:t>и </a:t>
            </a:r>
            <a:r>
              <a:rPr lang="ru-RU" sz="2100" b="1" dirty="0">
                <a:solidFill>
                  <a:srgbClr val="0070C0"/>
                </a:solidFill>
              </a:rPr>
              <a:t>после</a:t>
            </a:r>
            <a:r>
              <a:rPr lang="en-US" sz="2100" b="1" dirty="0"/>
              <a:t> </a:t>
            </a:r>
            <a:r>
              <a:rPr lang="ru-RU" sz="2100" b="1" dirty="0"/>
              <a:t>того, как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chemeClr val="tx2"/>
                </a:solidFill>
              </a:rPr>
              <a:t>X</a:t>
            </a:r>
            <a:r>
              <a:rPr lang="en-US" sz="2100" b="1" dirty="0"/>
              <a:t> </a:t>
            </a:r>
            <a:r>
              <a:rPr lang="ru-RU" sz="2100" b="1" dirty="0"/>
              <a:t>переведена в</a:t>
            </a:r>
            <a:r>
              <a:rPr lang="en-US" sz="2100" b="1" dirty="0">
                <a:solidFill>
                  <a:srgbClr val="5C5CCE"/>
                </a:solidFill>
              </a:rPr>
              <a:t> Y </a:t>
            </a:r>
            <a:r>
              <a:rPr lang="ru-RU" sz="2100" b="1" dirty="0">
                <a:solidFill>
                  <a:srgbClr val="5C5CCE"/>
                </a:solidFill>
              </a:rPr>
              <a:t>с помощью центрирования – вычитания из каждого столбца его среднего</a:t>
            </a:r>
            <a:r>
              <a:rPr lang="en-US" sz="2100" b="1" dirty="0">
                <a:solidFill>
                  <a:srgbClr val="5C5CCE"/>
                </a:solidFill>
              </a:rPr>
              <a:t>. 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AAB4D-25E9-7B26-F471-E9919B18EA95}"/>
              </a:ext>
            </a:extLst>
          </p:cNvPr>
          <p:cNvSpPr txBox="1"/>
          <p:nvPr/>
        </p:nvSpPr>
        <p:spPr>
          <a:xfrm>
            <a:off x="6640941" y="2662123"/>
            <a:ext cx="22682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Red dots </a:t>
            </a:r>
            <a:r>
              <a:rPr lang="en-US" b="1" dirty="0"/>
              <a:t>– raw data X</a:t>
            </a:r>
          </a:p>
          <a:p>
            <a:r>
              <a:rPr lang="en-US" b="1" dirty="0">
                <a:solidFill>
                  <a:srgbClr val="4F5AE3"/>
                </a:solidFill>
              </a:rPr>
              <a:t>Blue</a:t>
            </a:r>
            <a:r>
              <a:rPr lang="en-US" b="1" dirty="0"/>
              <a:t> – data Y centered</a:t>
            </a:r>
          </a:p>
          <a:p>
            <a:endParaRPr lang="en-US" b="1" dirty="0"/>
          </a:p>
          <a:p>
            <a:r>
              <a:rPr lang="en-US" b="1" dirty="0"/>
              <a:t>Circle – space origin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Red arrow </a:t>
            </a:r>
            <a:r>
              <a:rPr lang="en-US" b="1" dirty="0"/>
              <a:t>– PC for X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Green arrow</a:t>
            </a:r>
            <a:r>
              <a:rPr lang="en-US" b="1" dirty="0">
                <a:solidFill>
                  <a:srgbClr val="4F5AE3"/>
                </a:solidFill>
              </a:rPr>
              <a:t> </a:t>
            </a:r>
            <a:r>
              <a:rPr lang="en-US" b="1" dirty="0"/>
              <a:t>– PC for Y</a:t>
            </a:r>
            <a:endParaRPr lang="ru-RU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DB49D-D160-F125-0A5F-7AD4FDF98E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809" y="4077072"/>
            <a:ext cx="4244115" cy="2085999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33BB3C6-0A64-7DD8-9112-223EF4A2E22D}"/>
              </a:ext>
            </a:extLst>
          </p:cNvPr>
          <p:cNvCxnSpPr>
            <a:cxnSpLocks/>
          </p:cNvCxnSpPr>
          <p:nvPr/>
        </p:nvCxnSpPr>
        <p:spPr>
          <a:xfrm flipH="1" flipV="1">
            <a:off x="2915816" y="4546906"/>
            <a:ext cx="440042" cy="808713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E0B0A89-83DB-4D48-EEFF-F411613BED58}"/>
              </a:ext>
            </a:extLst>
          </p:cNvPr>
          <p:cNvCxnSpPr>
            <a:cxnSpLocks/>
          </p:cNvCxnSpPr>
          <p:nvPr/>
        </p:nvCxnSpPr>
        <p:spPr>
          <a:xfrm flipH="1">
            <a:off x="3283850" y="5405450"/>
            <a:ext cx="144016" cy="280714"/>
          </a:xfrm>
          <a:prstGeom prst="straightConnector1">
            <a:avLst/>
          </a:prstGeom>
          <a:ln w="25400">
            <a:solidFill>
              <a:schemeClr val="accent4">
                <a:lumMod val="75000"/>
              </a:schemeClr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1313E8-551C-57BD-AE5D-7A9EA4EA94D9}"/>
              </a:ext>
            </a:extLst>
          </p:cNvPr>
          <p:cNvSpPr txBox="1"/>
          <p:nvPr/>
        </p:nvSpPr>
        <p:spPr>
          <a:xfrm>
            <a:off x="330543" y="4424273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Случайное направление</a:t>
            </a:r>
          </a:p>
        </p:txBody>
      </p:sp>
    </p:spTree>
    <p:extLst>
      <p:ext uri="{BB962C8B-B14F-4D97-AF65-F5344CB8AC3E}">
        <p14:creationId xmlns:p14="http://schemas.microsoft.com/office/powerpoint/2010/main" val="504053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65" y="260648"/>
            <a:ext cx="8964488" cy="295232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           </a:t>
            </a:r>
            <a:r>
              <a:rPr lang="ru-RU" sz="3200" b="1" dirty="0"/>
              <a:t>Традиционная формулировка</a:t>
            </a:r>
            <a:br>
              <a:rPr lang="en-US" sz="3200" b="1" dirty="0"/>
            </a:br>
            <a:r>
              <a:rPr lang="en-US" sz="3200" b="1" dirty="0"/>
              <a:t>       </a:t>
            </a:r>
            <a:r>
              <a:rPr lang="ru-RU" sz="3200" b="1" dirty="0"/>
              <a:t>МГК</a:t>
            </a:r>
            <a:r>
              <a:rPr lang="en-US" sz="3200" b="1" dirty="0"/>
              <a:t>.</a:t>
            </a:r>
            <a:r>
              <a:rPr lang="ru-RU" sz="3200" b="1" dirty="0"/>
              <a:t> </a:t>
            </a:r>
            <a:br>
              <a:rPr lang="en-US" sz="3200" b="1" dirty="0"/>
            </a:br>
            <a:r>
              <a:rPr lang="en-US" sz="3200" b="1" dirty="0"/>
              <a:t>       </a:t>
            </a:r>
            <a:r>
              <a:rPr lang="ru-RU" sz="3200" b="1" dirty="0"/>
              <a:t>Эквивалентность модельной </a:t>
            </a:r>
            <a:br>
              <a:rPr lang="en-US" sz="3200" b="1" dirty="0"/>
            </a:br>
            <a:r>
              <a:rPr lang="en-US" sz="3200" b="1" dirty="0"/>
              <a:t>             </a:t>
            </a:r>
            <a:r>
              <a:rPr lang="ru-RU" sz="3200" b="1" dirty="0"/>
              <a:t>формулировке</a:t>
            </a:r>
            <a:r>
              <a:rPr lang="en-US" sz="3200" b="1" dirty="0"/>
              <a:t>. </a:t>
            </a:r>
            <a:br>
              <a:rPr lang="en-US" sz="3200" b="1" dirty="0"/>
            </a:br>
            <a:endParaRPr lang="en-US" sz="3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0070C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9C4-C576-4FF8-9753-4225908504F0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996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Principal Component Analysis PCA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Conventional approach, 1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508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1228" y="934778"/>
            <a:ext cx="85252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         Given a data matrix </a:t>
            </a:r>
            <a:r>
              <a:rPr lang="en-US" sz="2800" b="1" i="1" dirty="0">
                <a:solidFill>
                  <a:schemeClr val="tx2"/>
                </a:solidFill>
              </a:rPr>
              <a:t>Y</a:t>
            </a:r>
            <a:r>
              <a:rPr lang="en-US" sz="2800" b="1" dirty="0"/>
              <a:t>, </a:t>
            </a:r>
            <a:r>
              <a:rPr lang="en-US" sz="3200" b="1" dirty="0"/>
              <a:t>first principal component (PC)</a:t>
            </a:r>
            <a:r>
              <a:rPr lang="en-US" sz="2800" b="1" dirty="0"/>
              <a:t> is </a:t>
            </a:r>
          </a:p>
          <a:p>
            <a:r>
              <a:rPr lang="en-US" sz="2800" b="1" dirty="0"/>
              <a:t>      a weighted combination </a:t>
            </a:r>
            <a:r>
              <a:rPr lang="en-US" sz="2800" b="1" i="1" dirty="0">
                <a:solidFill>
                  <a:schemeClr val="tx2"/>
                </a:solidFill>
              </a:rPr>
              <a:t>z</a:t>
            </a:r>
            <a:r>
              <a:rPr lang="en-US" sz="2800" b="1" dirty="0"/>
              <a:t> of </a:t>
            </a:r>
            <a:r>
              <a:rPr lang="en-US" sz="2800" b="1" i="1" dirty="0">
                <a:solidFill>
                  <a:schemeClr val="tx2"/>
                </a:solidFill>
              </a:rPr>
              <a:t>X</a:t>
            </a:r>
            <a:r>
              <a:rPr lang="en-US" sz="2800" b="1" dirty="0"/>
              <a:t> features after centering</a:t>
            </a:r>
            <a:r>
              <a:rPr lang="ru-RU" sz="2800" b="1" dirty="0"/>
              <a:t> </a:t>
            </a:r>
            <a:r>
              <a:rPr lang="en-US" sz="2800" b="1" dirty="0"/>
              <a:t>and z-scoring, </a:t>
            </a:r>
            <a:r>
              <a:rPr lang="en-US" sz="2800" b="1" i="1" dirty="0">
                <a:solidFill>
                  <a:schemeClr val="tx2"/>
                </a:solidFill>
              </a:rPr>
              <a:t>z=Y*c</a:t>
            </a:r>
            <a:r>
              <a:rPr lang="en-US" sz="2800" b="1" dirty="0"/>
              <a:t>,  </a:t>
            </a:r>
          </a:p>
          <a:p>
            <a:r>
              <a:rPr lang="en-US" sz="2800" b="1" dirty="0"/>
              <a:t>that has </a:t>
            </a:r>
            <a:r>
              <a:rPr lang="en-US" sz="3200" b="1" dirty="0">
                <a:solidFill>
                  <a:schemeClr val="accent1"/>
                </a:solidFill>
              </a:rPr>
              <a:t>the maximum variance</a:t>
            </a:r>
            <a:r>
              <a:rPr lang="en-US" sz="2800" b="1" dirty="0">
                <a:solidFill>
                  <a:schemeClr val="accent1"/>
                </a:solidFill>
              </a:rPr>
              <a:t> </a:t>
            </a:r>
            <a:r>
              <a:rPr lang="en-US" sz="2800" b="1" dirty="0"/>
              <a:t>with respect to all normed </a:t>
            </a:r>
            <a:r>
              <a:rPr lang="en-US" sz="2800" b="1" i="1" dirty="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9632" y="3933056"/>
            <a:ext cx="78843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Second PC is defined similarly </a:t>
            </a:r>
          </a:p>
          <a:p>
            <a:r>
              <a:rPr lang="en-US" sz="3200" b="1" dirty="0"/>
              <a:t>except for a condition that it must be orthogonal to the First PC; </a:t>
            </a:r>
          </a:p>
          <a:p>
            <a:r>
              <a:rPr lang="en-US" sz="3200" b="1" dirty="0"/>
              <a:t>Third PC must be orthogonal to both </a:t>
            </a:r>
          </a:p>
          <a:p>
            <a:r>
              <a:rPr lang="en-US" sz="3200" b="1" dirty="0"/>
              <a:t>  first and second PCs, etc.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860717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Analysis:</a:t>
            </a:r>
            <a:b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Mathematics of</a:t>
            </a:r>
            <a:r>
              <a:rPr lang="ru-RU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approach,1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MMDA_2022_6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508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6448" y="1537968"/>
            <a:ext cx="878497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</a:t>
            </a:r>
            <a:r>
              <a:rPr lang="en-US" sz="2800" b="1" dirty="0">
                <a:solidFill>
                  <a:schemeClr val="tx2"/>
                </a:solidFill>
              </a:rPr>
              <a:t>Conventional definition</a:t>
            </a:r>
            <a:r>
              <a:rPr lang="en-US" sz="2800" b="1" dirty="0"/>
              <a:t>:</a:t>
            </a:r>
          </a:p>
          <a:p>
            <a:r>
              <a:rPr lang="en-US" sz="2400" dirty="0"/>
              <a:t>Given a data matrix </a:t>
            </a:r>
            <a:r>
              <a:rPr lang="en-US" sz="2400" i="1" dirty="0">
                <a:solidFill>
                  <a:schemeClr val="tx2"/>
                </a:solidFill>
              </a:rPr>
              <a:t>Y</a:t>
            </a:r>
            <a:r>
              <a:rPr lang="en-US" sz="2400" dirty="0"/>
              <a:t>,</a:t>
            </a:r>
            <a:r>
              <a:rPr lang="ru-RU" sz="2400" dirty="0"/>
              <a:t> </a:t>
            </a:r>
            <a:r>
              <a:rPr lang="en-US" sz="2400" dirty="0"/>
              <a:t>its first principal component is</a:t>
            </a:r>
            <a:endParaRPr lang="en-US" sz="2400" b="1" dirty="0"/>
          </a:p>
          <a:p>
            <a:r>
              <a:rPr lang="en-US" sz="2400" b="1" dirty="0"/>
              <a:t>defined as a weighted combination </a:t>
            </a:r>
            <a:r>
              <a:rPr lang="en-US" sz="2400" b="1" i="1" dirty="0">
                <a:solidFill>
                  <a:schemeClr val="tx2"/>
                </a:solidFill>
              </a:rPr>
              <a:t>z</a:t>
            </a:r>
            <a:r>
              <a:rPr lang="en-US" sz="2400" b="1" dirty="0"/>
              <a:t> of  features after centering, that is, </a:t>
            </a:r>
            <a:r>
              <a:rPr lang="en-US" sz="2400" b="1" i="1" dirty="0">
                <a:solidFill>
                  <a:schemeClr val="tx2"/>
                </a:solidFill>
              </a:rPr>
              <a:t>z=Y*c</a:t>
            </a:r>
            <a:r>
              <a:rPr lang="en-US" sz="2400" b="1" dirty="0"/>
              <a:t>, that has the maximum variance with respect to all normed </a:t>
            </a:r>
            <a:r>
              <a:rPr lang="en-US" sz="2400" b="1" i="1" dirty="0">
                <a:solidFill>
                  <a:schemeClr val="tx2"/>
                </a:solidFill>
              </a:rPr>
              <a:t>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584" y="3560583"/>
            <a:ext cx="80306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Mathematics: What is the variance here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Vector </a:t>
            </a:r>
            <a:r>
              <a:rPr lang="en-US" sz="2400" b="1" i="1" dirty="0">
                <a:solidFill>
                  <a:schemeClr val="tx2"/>
                </a:solidFill>
              </a:rPr>
              <a:t>z=Y*c </a:t>
            </a:r>
            <a:r>
              <a:rPr lang="en-US" sz="2400" dirty="0">
                <a:solidFill>
                  <a:schemeClr val="tx2"/>
                </a:solidFill>
              </a:rPr>
              <a:t>has 0 average because every column of Y has 0 average.</a:t>
            </a:r>
          </a:p>
          <a:p>
            <a:pPr marL="342900" indent="-342900">
              <a:buFontTx/>
              <a:buChar char="-"/>
            </a:pPr>
            <a:r>
              <a:rPr lang="en-US" sz="2800" dirty="0"/>
              <a:t>Thus, the variance of z is </a:t>
            </a:r>
            <a:r>
              <a:rPr lang="en-US" sz="2800" b="1" dirty="0"/>
              <a:t>ss=</a:t>
            </a:r>
            <a:r>
              <a:rPr lang="en-US" sz="2800" b="1" dirty="0" err="1"/>
              <a:t>z</a:t>
            </a:r>
            <a:r>
              <a:rPr lang="en-US" sz="2800" b="1" baseline="30000" dirty="0" err="1"/>
              <a:t>T</a:t>
            </a:r>
            <a:r>
              <a:rPr lang="en-US" sz="2800" b="1" dirty="0" err="1"/>
              <a:t>z</a:t>
            </a:r>
            <a:r>
              <a:rPr lang="en-US" sz="2800" b="1" dirty="0"/>
              <a:t>/N</a:t>
            </a:r>
            <a:r>
              <a:rPr lang="en-US" sz="2800" dirty="0"/>
              <a:t>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44611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B745-D62E-7593-11EC-A2E306AA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C0B84-162C-76D3-F7F8-38C891193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Analysis:</a:t>
            </a:r>
            <a:b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Mathematics of</a:t>
            </a:r>
            <a:r>
              <a:rPr lang="ru-RU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approach,2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070E46C0-73D4-5300-76E3-4FB0CFD0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MMDA_2022_6</a:t>
            </a:r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C6CDFA8E-941A-E180-51C2-C4D215B60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F9A31A4-4BF8-333A-8ED3-547097570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35E9B3-A1A3-B0A6-0420-3ADA98E08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491C999-CF9A-0DA3-F874-7EB24B95E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FFC8FE4-83FB-D1B3-A318-E9F0CF356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CC618D92-A9F7-3365-E068-FD8807420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508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7FDC04-3070-8216-A4F0-EEA956A84B73}"/>
                  </a:ext>
                </a:extLst>
              </p:cNvPr>
              <p:cNvSpPr txBox="1"/>
              <p:nvPr/>
            </p:nvSpPr>
            <p:spPr>
              <a:xfrm>
                <a:off x="803717" y="1306136"/>
                <a:ext cx="7512699" cy="4232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Tx/>
                  <a:buChar char="-"/>
                </a:pPr>
                <a:r>
                  <a:rPr lang="en-US" sz="2400" dirty="0"/>
                  <a:t>Variance of vector </a:t>
                </a:r>
                <a:r>
                  <a:rPr lang="en-US" sz="2400" b="1" i="1" dirty="0">
                    <a:solidFill>
                      <a:schemeClr val="tx2"/>
                    </a:solidFill>
                  </a:rPr>
                  <a:t>z=Y*c </a:t>
                </a:r>
                <a:r>
                  <a:rPr lang="en-US" sz="2400" dirty="0"/>
                  <a:t>is ss=</a:t>
                </a:r>
                <a:r>
                  <a:rPr lang="en-US" sz="2400" dirty="0" err="1"/>
                  <a:t>z</a:t>
                </a:r>
                <a:r>
                  <a:rPr lang="en-US" sz="2400" baseline="30000" dirty="0" err="1"/>
                  <a:t>T</a:t>
                </a:r>
                <a:r>
                  <a:rPr lang="en-US" sz="2400" dirty="0" err="1"/>
                  <a:t>z</a:t>
                </a:r>
                <a:r>
                  <a:rPr lang="en-US" sz="2400" dirty="0"/>
                  <a:t>/N. 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Then  N*ss=</a:t>
                </a:r>
                <a:r>
                  <a:rPr lang="en-US" sz="2400" dirty="0" err="1"/>
                  <a:t>c</a:t>
                </a:r>
                <a:r>
                  <a:rPr lang="en-US" sz="2400" baseline="30000" dirty="0" err="1"/>
                  <a:t>T</a:t>
                </a:r>
                <a:r>
                  <a:rPr lang="en-US" sz="2400" dirty="0" err="1"/>
                  <a:t>Y</a:t>
                </a:r>
                <a:r>
                  <a:rPr lang="en-US" sz="2400" baseline="30000" dirty="0" err="1"/>
                  <a:t>T</a:t>
                </a:r>
                <a:r>
                  <a:rPr lang="en-US" sz="2400" dirty="0" err="1"/>
                  <a:t>Yc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c</a:t>
                </a:r>
                <a:r>
                  <a:rPr lang="en-US" sz="2400" baseline="30000" dirty="0" err="1"/>
                  <a:t>T</a:t>
                </a:r>
                <a:r>
                  <a:rPr lang="en-US" sz="2400" dirty="0" err="1"/>
                  <a:t>Ac</a:t>
                </a:r>
                <a:r>
                  <a:rPr lang="en-US" sz="2400" dirty="0"/>
                  <a:t>= </a:t>
                </a:r>
                <a:r>
                  <a:rPr lang="en-US" sz="2400" dirty="0" err="1"/>
                  <a:t>c</a:t>
                </a:r>
                <a:r>
                  <a:rPr lang="en-US" sz="2400" baseline="30000" dirty="0" err="1"/>
                  <a:t>T</a:t>
                </a:r>
                <a:r>
                  <a:rPr lang="en-US" sz="2400" dirty="0" err="1"/>
                  <a:t>Ac</a:t>
                </a:r>
                <a:r>
                  <a:rPr lang="en-US" sz="2400" dirty="0"/>
                  <a:t>/</a:t>
                </a:r>
                <a:r>
                  <a:rPr lang="en-US" sz="2400" dirty="0" err="1"/>
                  <a:t>c</a:t>
                </a:r>
                <a:r>
                  <a:rPr lang="en-US" sz="2400" baseline="30000" dirty="0" err="1"/>
                  <a:t>T</a:t>
                </a:r>
                <a:r>
                  <a:rPr lang="en-US" sz="2400" dirty="0" err="1"/>
                  <a:t>c</a:t>
                </a:r>
                <a:r>
                  <a:rPr lang="en-US" sz="2400" dirty="0"/>
                  <a:t>; 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since </a:t>
                </a:r>
                <a:r>
                  <a:rPr lang="en-US" sz="2400" dirty="0" err="1"/>
                  <a:t>c</a:t>
                </a:r>
                <a:r>
                  <a:rPr lang="en-US" sz="2400" baseline="30000" dirty="0" err="1"/>
                  <a:t>T</a:t>
                </a:r>
                <a:r>
                  <a:rPr lang="en-US" sz="2400" dirty="0" err="1"/>
                  <a:t>c</a:t>
                </a:r>
                <a:r>
                  <a:rPr lang="en-US" sz="2400" dirty="0"/>
                  <a:t>=1 (c is normed).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This is the so-called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Rayleigh quotient </a:t>
                </a:r>
                <a:r>
                  <a:rPr lang="ru-RU" sz="2400" dirty="0">
                    <a:solidFill>
                      <a:srgbClr val="FF0000"/>
                    </a:solidFill>
                  </a:rPr>
                  <a:t>(Отношение Рэлея)</a:t>
                </a:r>
                <a:r>
                  <a:rPr lang="en-US" sz="2400" dirty="0"/>
                  <a:t>. Its maximum </a:t>
                </a:r>
                <a:r>
                  <a:rPr lang="en-US" sz="2400" dirty="0">
                    <a:solidFill>
                      <a:srgbClr val="FF0000"/>
                    </a:solidFill>
                  </a:rPr>
                  <a:t>is known</a:t>
                </a:r>
                <a:r>
                  <a:rPr lang="en-US" sz="2400" dirty="0"/>
                  <a:t> to coincide with the maximum eigenvalue </a:t>
                </a:r>
                <a:r>
                  <a:rPr lang="en-US" sz="2400" dirty="0">
                    <a:sym typeface="Symbol" panose="05050102010706020507" pitchFamily="18" charset="2"/>
                  </a:rPr>
                  <a:t>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of A, and it is reached at </a:t>
                </a:r>
                <a:r>
                  <a:rPr lang="ru-RU" sz="2400" dirty="0"/>
                  <a:t>с</a:t>
                </a:r>
                <a:r>
                  <a:rPr lang="en-US" sz="2400" dirty="0"/>
                  <a:t>=c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being the corresponding eigenvector of A: Ac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=</a:t>
                </a:r>
                <a:r>
                  <a:rPr lang="en-US" sz="2400" dirty="0">
                    <a:sym typeface="Symbol" panose="05050102010706020507" pitchFamily="18" charset="2"/>
                  </a:rPr>
                  <a:t>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c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. 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To return to ss, divide this by N: (A/N)c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=(</a:t>
                </a:r>
                <a:r>
                  <a:rPr lang="en-US" sz="2400" dirty="0">
                    <a:sym typeface="Symbol" panose="05050102010706020507" pitchFamily="18" charset="2"/>
                  </a:rPr>
                  <a:t>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/N)c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. 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400" dirty="0"/>
                  <a:t>That is, 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PC is z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=Y*c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/</a:t>
                </a:r>
                <a:r>
                  <a:rPr lang="en-US" sz="2400" dirty="0">
                    <a:sym typeface="Symbol" panose="05050102010706020507" pitchFamily="18" charset="2"/>
                  </a:rPr>
                  <a:t></a:t>
                </a:r>
                <a:r>
                  <a:rPr lang="en-US" sz="2400" baseline="-25000" dirty="0"/>
                  <a:t>1</a:t>
                </a:r>
                <a:r>
                  <a:rPr lang="en-US" sz="2400" baseline="-25000" dirty="0">
                    <a:sym typeface="Symbol" panose="05050102010706020507" pitchFamily="18" charset="2"/>
                  </a:rPr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where </a:t>
                </a:r>
                <a:r>
                  <a:rPr lang="en-US" sz="2400" baseline="-25000" dirty="0"/>
                  <a:t>1 </a:t>
                </a:r>
                <a:r>
                  <a:rPr lang="en-US" sz="24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=</a:t>
                </a:r>
                <a:r>
                  <a:rPr lang="en-US" sz="2400" b="1" dirty="0">
                    <a:sym typeface="Symbol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i="1" smtClean="0">
                                <a:latin typeface="Cambria Math"/>
                                <a:sym typeface="Symbol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sz="2400" i="0" dirty="0">
                                <a:sym typeface="Symbol"/>
                              </a:rPr>
                              <m:t>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sym typeface="Symbol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24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.</a:t>
                </a:r>
                <a:endParaRPr lang="ru-RU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7FDC04-3070-8216-A4F0-EEA956A84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17" y="1306136"/>
                <a:ext cx="7512699" cy="4232890"/>
              </a:xfrm>
              <a:prstGeom prst="rect">
                <a:avLst/>
              </a:prstGeom>
              <a:blipFill>
                <a:blip r:embed="rId3"/>
                <a:stretch>
                  <a:fillRect l="-1299" t="-1151" r="-2110" b="-15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240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Principal Component Analysis: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Conventional approach, 2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508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51520" y="934778"/>
                <a:ext cx="8784976" cy="4141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tx2"/>
                    </a:solidFill>
                  </a:rPr>
                  <a:t>         </a:t>
                </a:r>
                <a:r>
                  <a:rPr lang="en-US" sz="2800" b="1" dirty="0">
                    <a:solidFill>
                      <a:schemeClr val="tx2"/>
                    </a:solidFill>
                  </a:rPr>
                  <a:t>Computing the First Principal Component</a:t>
                </a:r>
                <a:r>
                  <a:rPr lang="en-US" sz="2800" b="1" dirty="0"/>
                  <a:t>:</a:t>
                </a:r>
              </a:p>
              <a:p>
                <a:r>
                  <a:rPr lang="en-US" sz="2800" b="1" dirty="0"/>
                  <a:t>1. Given a N</a:t>
                </a:r>
                <a:r>
                  <a:rPr lang="en-US" sz="2800" b="1" dirty="0">
                    <a:sym typeface="Symbol"/>
                  </a:rPr>
                  <a:t>V </a:t>
                </a:r>
                <a:r>
                  <a:rPr lang="en-US" sz="2800" b="1" dirty="0"/>
                  <a:t>data matrix </a:t>
                </a:r>
                <a:r>
                  <a:rPr lang="en-US" sz="2800" b="1" i="1" dirty="0">
                    <a:solidFill>
                      <a:schemeClr val="tx2"/>
                    </a:solidFill>
                  </a:rPr>
                  <a:t>X</a:t>
                </a:r>
                <a:r>
                  <a:rPr lang="en-US" sz="2800" b="1" dirty="0"/>
                  <a:t>, compute its z-scored version </a:t>
                </a:r>
                <a:r>
                  <a:rPr lang="en-US" sz="2800" b="1" i="1" dirty="0"/>
                  <a:t>Y</a:t>
                </a:r>
                <a:r>
                  <a:rPr lang="en-US" sz="2800" b="1" dirty="0"/>
                  <a:t> and the  V</a:t>
                </a:r>
                <a:r>
                  <a:rPr lang="en-US" sz="2800" b="1" dirty="0">
                    <a:sym typeface="Symbol"/>
                  </a:rPr>
                  <a:t>V feature </a:t>
                </a:r>
                <a:r>
                  <a:rPr lang="en-US" sz="2800" b="1" dirty="0"/>
                  <a:t>correlation matrix B=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 Y</a:t>
                </a:r>
                <a:r>
                  <a:rPr lang="en-US" sz="2800" b="1" baseline="30000" dirty="0">
                    <a:solidFill>
                      <a:schemeClr val="tx2"/>
                    </a:solidFill>
                    <a:sym typeface="Symbol"/>
                  </a:rPr>
                  <a:t>T</a:t>
                </a:r>
                <a:r>
                  <a:rPr lang="en-US" sz="2800" b="1" i="1" dirty="0">
                    <a:solidFill>
                      <a:schemeClr val="tx2"/>
                    </a:solidFill>
                    <a:sym typeface="Symbol"/>
                  </a:rPr>
                  <a:t>Y/N</a:t>
                </a:r>
                <a:r>
                  <a:rPr lang="en-US" sz="2800" b="1" dirty="0">
                    <a:solidFill>
                      <a:schemeClr val="tx2"/>
                    </a:solidFill>
                    <a:sym typeface="Symbol"/>
                  </a:rPr>
                  <a:t>;</a:t>
                </a:r>
                <a:endParaRPr lang="en-US" sz="2800" b="1" dirty="0"/>
              </a:p>
              <a:p>
                <a:r>
                  <a:rPr lang="en-US" sz="2800" b="1" dirty="0"/>
                  <a:t>2. Find the first eigenvalue  </a:t>
                </a:r>
                <a:r>
                  <a:rPr lang="en-US" sz="2800" b="1" dirty="0">
                    <a:sym typeface="Symbol"/>
                  </a:rPr>
                  <a:t></a:t>
                </a:r>
                <a:r>
                  <a:rPr lang="en-US" sz="2800" b="1" baseline="-25000" dirty="0">
                    <a:sym typeface="Symbol"/>
                  </a:rPr>
                  <a:t>1</a:t>
                </a:r>
                <a:r>
                  <a:rPr lang="en-US" sz="2800" b="1" dirty="0">
                    <a:sym typeface="Symbol"/>
                  </a:rPr>
                  <a:t> </a:t>
                </a:r>
                <a:r>
                  <a:rPr lang="en-US" sz="2800" b="1" dirty="0"/>
                  <a:t>and corresponding normed eigenvector  </a:t>
                </a:r>
                <a:r>
                  <a:rPr lang="en-US" sz="2800" b="1" dirty="0">
                    <a:sym typeface="Symbol"/>
                  </a:rPr>
                  <a:t>c</a:t>
                </a:r>
                <a:r>
                  <a:rPr lang="en-US" sz="2800" b="1" baseline="-25000" dirty="0">
                    <a:sym typeface="Symbol"/>
                  </a:rPr>
                  <a:t>1  </a:t>
                </a:r>
                <a:r>
                  <a:rPr lang="en-US" sz="2800" b="1" dirty="0"/>
                  <a:t>so that B</a:t>
                </a:r>
                <a:r>
                  <a:rPr lang="en-US" sz="2800" b="1" dirty="0">
                    <a:sym typeface="Symbol"/>
                  </a:rPr>
                  <a:t>c</a:t>
                </a:r>
                <a:r>
                  <a:rPr lang="en-US" sz="2800" b="1" baseline="-25000" dirty="0">
                    <a:sym typeface="Symbol"/>
                  </a:rPr>
                  <a:t>1 </a:t>
                </a:r>
                <a:r>
                  <a:rPr lang="en-US" sz="2800" b="1" dirty="0"/>
                  <a:t>=</a:t>
                </a:r>
                <a:r>
                  <a:rPr lang="en-US" sz="2800" b="1" dirty="0">
                    <a:sym typeface="Symbol"/>
                  </a:rPr>
                  <a:t> </a:t>
                </a:r>
                <a:r>
                  <a:rPr lang="en-US" sz="2800" b="1" baseline="-25000" dirty="0">
                    <a:sym typeface="Symbol"/>
                  </a:rPr>
                  <a:t>1</a:t>
                </a:r>
                <a:r>
                  <a:rPr lang="en-US" sz="2800" b="1" dirty="0">
                    <a:sym typeface="Symbol"/>
                  </a:rPr>
                  <a:t>c</a:t>
                </a:r>
                <a:r>
                  <a:rPr lang="en-US" sz="2800" b="1" baseline="-25000" dirty="0">
                    <a:sym typeface="Symbol"/>
                  </a:rPr>
                  <a:t>1</a:t>
                </a:r>
                <a:r>
                  <a:rPr lang="en-US" sz="2800" b="1" dirty="0">
                    <a:sym typeface="Symbol"/>
                  </a:rPr>
                  <a:t>;</a:t>
                </a:r>
              </a:p>
              <a:p>
                <a:r>
                  <a:rPr lang="en-US" sz="2800" b="1" dirty="0">
                    <a:sym typeface="Symbol"/>
                  </a:rPr>
                  <a:t>3. Compute the principal component </a:t>
                </a:r>
              </a:p>
              <a:p>
                <a:r>
                  <a:rPr lang="en-US" sz="2800" b="1" dirty="0">
                    <a:sym typeface="Symbol"/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/>
                        <a:sym typeface="Symbol"/>
                      </a:rPr>
                      <m:t>𝒛</m:t>
                    </m:r>
                    <m:r>
                      <a:rPr lang="en-US" sz="2800" b="1" i="1" smtClean="0">
                        <a:latin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sz="2800" b="1" i="1" smtClean="0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/>
                            <a:sym typeface="Symbol"/>
                          </a:rPr>
                          <m:t>𝒀</m:t>
                        </m:r>
                        <m:sSub>
                          <m:sSubPr>
                            <m:ctrlPr>
                              <a:rPr lang="en-US" sz="2800" b="1" i="1" smtClean="0"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/>
                                <a:sym typeface="Symbol"/>
                              </a:rPr>
                              <m:t>𝒄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/>
                                <a:sym typeface="Symbol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800" b="1" i="1" smtClean="0">
                                    <a:latin typeface="Cambria Math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b="1" i="1" smtClean="0">
                                    <a:latin typeface="Cambria Math"/>
                                    <a:sym typeface="Symbol"/>
                                  </a:rPr>
                                  <m:t>N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1" i="0" dirty="0">
                                    <a:sym typeface="Symbol"/>
                                  </a:rPr>
                                  <m:t></m:t>
                                </m:r>
                              </m:e>
                              <m:sub>
                                <m:r>
                                  <a:rPr lang="en-US" sz="2800" b="1" i="1" smtClean="0">
                                    <a:latin typeface="Cambria Math"/>
                                    <a:sym typeface="Symbol"/>
                                  </a:rPr>
                                  <m:t>𝟏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934778"/>
                <a:ext cx="8784976" cy="4141839"/>
              </a:xfrm>
              <a:prstGeom prst="rect">
                <a:avLst/>
              </a:prstGeom>
              <a:blipFill>
                <a:blip r:embed="rId3"/>
                <a:stretch>
                  <a:fillRect l="-1388" t="-294" r="-7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-33690" y="4931444"/>
            <a:ext cx="91776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       The 2</a:t>
            </a:r>
            <a:r>
              <a:rPr lang="en-US" sz="3200" b="1" baseline="30000" dirty="0"/>
              <a:t>nd</a:t>
            </a:r>
            <a:r>
              <a:rPr lang="en-US" sz="3200" b="1" dirty="0"/>
              <a:t> PC is similar based on a residual correlation matrix </a:t>
            </a:r>
            <a:r>
              <a:rPr lang="en-US" sz="3600" b="1" dirty="0">
                <a:solidFill>
                  <a:srgbClr val="FF0000"/>
                </a:solidFill>
              </a:rPr>
              <a:t>B’=B-</a:t>
            </a:r>
            <a:r>
              <a:rPr lang="en-US" sz="3600" b="1" dirty="0">
                <a:solidFill>
                  <a:srgbClr val="FF0000"/>
                </a:solidFill>
                <a:sym typeface="Symbol"/>
              </a:rPr>
              <a:t> </a:t>
            </a:r>
            <a:r>
              <a:rPr lang="en-US" sz="3600" b="1" baseline="-25000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sz="3600" b="1" dirty="0">
                <a:solidFill>
                  <a:srgbClr val="FF0000"/>
                </a:solidFill>
                <a:sym typeface="Symbol"/>
              </a:rPr>
              <a:t>c</a:t>
            </a:r>
            <a:r>
              <a:rPr lang="en-US" sz="3600" b="1" baseline="-25000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sz="3600" b="1" dirty="0">
                <a:solidFill>
                  <a:srgbClr val="FF0000"/>
                </a:solidFill>
                <a:sym typeface="Symbol"/>
              </a:rPr>
              <a:t>c</a:t>
            </a:r>
            <a:r>
              <a:rPr lang="en-US" sz="3600" b="1" baseline="-25000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sz="3600" b="1" baseline="30000" dirty="0">
                <a:solidFill>
                  <a:srgbClr val="FF0000"/>
                </a:solidFill>
                <a:sym typeface="Symbol"/>
              </a:rPr>
              <a:t>T</a:t>
            </a:r>
            <a:r>
              <a:rPr lang="en-US" sz="3200" b="1" dirty="0">
                <a:sym typeface="Symbol"/>
              </a:rPr>
              <a:t>, etc. </a:t>
            </a:r>
            <a:r>
              <a:rPr lang="en-US" sz="3200" b="1" dirty="0">
                <a:solidFill>
                  <a:srgbClr val="FF0000"/>
                </a:solidFill>
                <a:sym typeface="Symbol"/>
              </a:rPr>
              <a:t>Can you prove that?</a:t>
            </a:r>
            <a:endParaRPr lang="ru-RU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284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Principal Component Analysis: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Conventional approach, 3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508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9512" y="861895"/>
            <a:ext cx="878497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               Correlation matrix</a:t>
            </a:r>
            <a:r>
              <a:rPr lang="en-US" sz="3200" b="1" dirty="0"/>
              <a:t>: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V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matrix </a:t>
            </a:r>
            <a:r>
              <a:rPr 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compute its z-scored version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V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feature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+mj-lt"/>
              <a:buAutoNum type="alphaLcPeriod"/>
            </a:pPr>
            <a:r>
              <a:rPr lang="en-US" sz="2200" dirty="0"/>
              <a:t>Center matrix X by finding, for each feature, its mean, subtracting it from all the feature values, and normalizing by </a:t>
            </a:r>
            <a:r>
              <a:rPr lang="en-US" sz="2200" dirty="0">
                <a:sym typeface="Symbol" panose="05050102010706020507" pitchFamily="18" charset="2"/>
              </a:rPr>
              <a:t></a:t>
            </a:r>
            <a:r>
              <a:rPr lang="en-US" sz="2200" dirty="0"/>
              <a:t>(X): Y=[X-m(X)]./</a:t>
            </a:r>
            <a:r>
              <a:rPr lang="en-US" sz="2200" dirty="0">
                <a:sym typeface="Symbol" panose="05050102010706020507" pitchFamily="18" charset="2"/>
              </a:rPr>
              <a:t></a:t>
            </a:r>
            <a:r>
              <a:rPr lang="en-US" sz="2200" dirty="0"/>
              <a:t>(X): 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2200" dirty="0"/>
              <a:t>Compute square matrix A=Y</a:t>
            </a:r>
            <a:r>
              <a:rPr lang="en-US" sz="2200" baseline="30000" dirty="0">
                <a:solidFill>
                  <a:schemeClr val="tx2"/>
                </a:solidFill>
                <a:sym typeface="Symbol"/>
              </a:rPr>
              <a:t>T</a:t>
            </a:r>
            <a:r>
              <a:rPr lang="en-US" sz="2200" dirty="0">
                <a:sym typeface="Symbol"/>
              </a:rPr>
              <a:t>Y and divide it by N or N-1 (N-1 if the result is to estimate the correlation matrix of a multivariate density function):                     </a:t>
            </a:r>
            <a:r>
              <a:rPr lang="en-US" sz="2200" i="1" dirty="0">
                <a:sym typeface="Symbol"/>
              </a:rPr>
              <a:t>B=</a:t>
            </a:r>
            <a:r>
              <a:rPr lang="en-US" sz="2200" i="1" dirty="0"/>
              <a:t> A/N=Y</a:t>
            </a:r>
            <a:r>
              <a:rPr lang="en-US" sz="2200" i="1" baseline="30000" dirty="0">
                <a:solidFill>
                  <a:schemeClr val="tx2"/>
                </a:solidFill>
                <a:sym typeface="Symbol"/>
              </a:rPr>
              <a:t>T</a:t>
            </a:r>
            <a:r>
              <a:rPr lang="en-US" sz="2200" i="1" dirty="0">
                <a:sym typeface="Symbol"/>
              </a:rPr>
              <a:t>Y/N.</a:t>
            </a:r>
            <a:endParaRPr lang="en-US" sz="2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7025" y="4698057"/>
                <a:ext cx="8127463" cy="1298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i="1" dirty="0"/>
                  <a:t>B</a:t>
                </a:r>
                <a:r>
                  <a:rPr lang="en-US" sz="3200" b="1" dirty="0"/>
                  <a:t>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3200" b="1" i="1">
                            <a:latin typeface="Cambria Math"/>
                          </a:rPr>
                          <m:t>𝒗𝒘</m:t>
                        </m:r>
                      </m:sub>
                    </m:sSub>
                  </m:oMath>
                </a14:m>
                <a:r>
                  <a:rPr lang="en-US" sz="3200" b="1" dirty="0"/>
                  <a:t>):</a:t>
                </a:r>
              </a:p>
              <a:p>
                <a:r>
                  <a:rPr lang="en-US" sz="3200" b="1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𝒃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𝒗𝒘</m:t>
                        </m:r>
                      </m:sub>
                    </m:sSub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r>
                          <m:rPr>
                            <m:nor/>
                          </m:rPr>
                          <a:rPr lang="en-US" sz="3200" i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</m:t>
                        </m:r>
                        <m:r>
                          <m:rPr>
                            <m:nor/>
                          </m:rPr>
                          <a:rPr lang="en-US" sz="3200" b="0" i="0" baseline="-25000" dirty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3200" i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</m:t>
                        </m:r>
                        <m:r>
                          <m:rPr>
                            <m:nor/>
                          </m:rPr>
                          <a:rPr lang="en-US" sz="3200" b="0" i="1" baseline="-25000" dirty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w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p>
                      <m:e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𝒊𝒗</m:t>
                            </m:r>
                          </m:sub>
                        </m:sSub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</m:sSub>
                          </m:e>
                        </m:acc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𝒘</m:t>
                                </m:r>
                              </m:sub>
                            </m:sSub>
                          </m:e>
                        </m:acc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3200" b="1" dirty="0"/>
                  <a:t> </a:t>
                </a:r>
                <a:endParaRPr lang="ru-RU" sz="3200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25" y="4698057"/>
                <a:ext cx="8127463" cy="1298048"/>
              </a:xfrm>
              <a:prstGeom prst="rect">
                <a:avLst/>
              </a:prstGeom>
              <a:blipFill>
                <a:blip r:embed="rId3"/>
                <a:stretch>
                  <a:fillRect l="-1874" t="-6103" b="-3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21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Principal Component Analysis: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Conventional approach, 4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508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86439" y="1396207"/>
                <a:ext cx="8784976" cy="480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tx1"/>
                    </a:solidFill>
                  </a:rPr>
                  <a:t>                         </a:t>
                </a:r>
              </a:p>
              <a:p>
                <a:r>
                  <a:rPr lang="en-US" sz="3200" b="1" dirty="0">
                    <a:solidFill>
                      <a:schemeClr val="tx2"/>
                    </a:solidFill>
                  </a:rPr>
                  <a:t>Correlation  matrix</a:t>
                </a:r>
                <a:r>
                  <a:rPr lang="en-US" sz="3200" b="1" dirty="0"/>
                  <a:t>:</a:t>
                </a:r>
              </a:p>
              <a:p>
                <a:r>
                  <a:rPr lang="en-US" sz="2800" b="1" dirty="0"/>
                  <a:t>     If features in a N</a:t>
                </a:r>
                <a:r>
                  <a:rPr lang="en-US" sz="2800" b="1" dirty="0">
                    <a:sym typeface="Symbol"/>
                  </a:rPr>
                  <a:t>V </a:t>
                </a:r>
                <a:r>
                  <a:rPr lang="en-US" sz="2800" b="1" dirty="0"/>
                  <a:t>data matrix </a:t>
                </a:r>
                <a:r>
                  <a:rPr lang="en-US" sz="2800" b="1" i="1" dirty="0">
                    <a:solidFill>
                      <a:schemeClr val="tx2"/>
                    </a:solidFill>
                  </a:rPr>
                  <a:t>X</a:t>
                </a:r>
                <a:r>
                  <a:rPr lang="en-US" sz="2800" b="1" dirty="0"/>
                  <a:t> have been normalized by their standard deviations, then the covariances </a:t>
                </a:r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vw  </a:t>
                </a:r>
                <a:r>
                  <a:rPr lang="en-US" sz="2800" b="1" dirty="0"/>
                  <a:t>are correlation coefficients</a:t>
                </a:r>
              </a:p>
              <a:p>
                <a:r>
                  <a:rPr lang="en-US" sz="2800" b="1" dirty="0">
                    <a:solidFill>
                      <a:schemeClr val="tx1"/>
                    </a:solidFill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  <m:t>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𝒗𝒘</m:t>
                        </m:r>
                      </m:sub>
                    </m:sSub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𝒗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𝝈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𝑵</m:t>
                        </m:r>
                      </m:sup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𝒊𝒗</m:t>
                            </m:r>
                          </m:sub>
                        </m:s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sub>
                            </m:sSub>
                          </m:e>
                        </m:acc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)(</m:t>
                        </m:r>
                        <m:sSub>
                          <m:sSubPr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𝒊𝒘</m:t>
                            </m:r>
                          </m:sub>
                        </m:s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3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3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𝒘</m:t>
                                </m:r>
                              </m:sub>
                            </m:sSub>
                          </m:e>
                        </m:acc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800" b="1" i="1" dirty="0">
                    <a:solidFill>
                      <a:schemeClr val="tx1"/>
                    </a:solidFill>
                  </a:rPr>
                  <a:t>/N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, </a:t>
                </a:r>
              </a:p>
              <a:p>
                <a:r>
                  <a:rPr lang="en-US" sz="2800" b="1" dirty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𝝈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𝒗</m:t>
                        </m:r>
                      </m:sub>
                    </m:sSub>
                    <m:sSub>
                      <m:sSub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𝝈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 - standard deviations</a:t>
                </a:r>
              </a:p>
              <a:p>
                <a:r>
                  <a:rPr lang="en-US" sz="2800" b="1" dirty="0"/>
                  <a:t>    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/>
                              </a:rPr>
                              <m:t>𝒗</m:t>
                            </m:r>
                          </m:sub>
                        </m:sSub>
                      </m:e>
                    </m:acc>
                    <m:r>
                      <a:rPr lang="en-US" sz="2800" b="1" i="1">
                        <a:latin typeface="Cambria Math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/>
                              </a:rPr>
                              <m:t>𝒘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b="1" dirty="0"/>
                  <a:t>  - means</a:t>
                </a:r>
                <a:endParaRPr lang="en-US" sz="3200" b="1" dirty="0">
                  <a:solidFill>
                    <a:schemeClr val="tx2"/>
                  </a:solidFill>
                </a:endParaRPr>
              </a:p>
              <a:p>
                <a:endParaRPr lang="en-US" sz="2800" b="1" dirty="0">
                  <a:solidFill>
                    <a:schemeClr val="tx1"/>
                  </a:solidFill>
                </a:endParaRPr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39" y="1396207"/>
                <a:ext cx="8784976" cy="4803879"/>
              </a:xfrm>
              <a:prstGeom prst="rect">
                <a:avLst/>
              </a:prstGeom>
              <a:blipFill>
                <a:blip r:embed="rId3"/>
                <a:stretch>
                  <a:fillRect l="-1804" r="-4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025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Principal Component Analysis: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Conventional approach, 8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508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5536" y="1152908"/>
            <a:ext cx="89691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sz="2800" b="1" dirty="0">
                <a:solidFill>
                  <a:srgbClr val="C00000"/>
                </a:solidFill>
              </a:rPr>
              <a:t>Why leads the conventional PCA approach to the same scoring and loading vectors as the model-based PCA? </a:t>
            </a:r>
          </a:p>
          <a:p>
            <a:pPr marL="0" lvl="2"/>
            <a:r>
              <a:rPr lang="en-US" sz="2800" b="1" dirty="0">
                <a:solidFill>
                  <a:srgbClr val="0070C0"/>
                </a:solidFill>
              </a:rPr>
              <a:t>The former operates over the correlation matrix never used by the latter.</a:t>
            </a:r>
          </a:p>
          <a:p>
            <a:pPr marL="0" lvl="2"/>
            <a:r>
              <a:rPr lang="en-US" sz="2800" b="1" dirty="0">
                <a:solidFill>
                  <a:schemeClr val="tx2"/>
                </a:solidFill>
              </a:rPr>
              <a:t>   Because the correlation matrix coincides, up to a constant factor, with matrix A=X</a:t>
            </a:r>
            <a:r>
              <a:rPr lang="en-US" sz="2800" b="1" dirty="0">
                <a:solidFill>
                  <a:schemeClr val="tx2"/>
                </a:solidFill>
                <a:sym typeface="Symbol"/>
              </a:rPr>
              <a:t>X, provided that X is z-scored. Matrix A is in the core of Singular triplets.</a:t>
            </a:r>
          </a:p>
          <a:p>
            <a:pPr marL="0" lvl="2"/>
            <a:r>
              <a:rPr lang="en-US" sz="2800" b="1" dirty="0">
                <a:solidFill>
                  <a:schemeClr val="tx2"/>
                </a:solidFill>
                <a:sym typeface="Symbol"/>
              </a:rPr>
              <a:t>    Working with eigenvectors of A is equivalent to working with singular vectors of X after z-scoring, as proven above.</a:t>
            </a:r>
            <a:endParaRPr lang="ru-RU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610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 fontScale="90000"/>
          </a:bodyPr>
          <a:lstStyle/>
          <a:p>
            <a:r>
              <a:rPr lang="ru-RU" sz="27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Различия между МГК на основе модели и традиционного </a:t>
            </a:r>
            <a:b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                                           </a:t>
            </a:r>
            <a:endParaRPr lang="ru-RU" sz="32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199673"/>
              </p:ext>
            </p:extLst>
          </p:nvPr>
        </p:nvGraphicFramePr>
        <p:xfrm>
          <a:off x="218103" y="620688"/>
          <a:ext cx="892589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1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605">
                <a:tc>
                  <a:txBody>
                    <a:bodyPr/>
                    <a:lstStyle/>
                    <a:p>
                      <a:r>
                        <a:rPr lang="ru-RU" sz="3200" dirty="0"/>
                        <a:t>Свойство МГК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Традиционный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Связь с данными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генеративная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эвристическая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Фактор -  взвешенная сумма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выводится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постулируется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Предобработка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любая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центрирование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Вклад в разброс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Поиск «простой структуры»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возможен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>
                          <a:solidFill>
                            <a:schemeClr val="tx1"/>
                          </a:solidFill>
                        </a:rPr>
                        <a:t>Только собственные векторы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436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155172"/>
            <a:ext cx="7462157" cy="100557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Визуализация данных с помощью МГК</a:t>
            </a:r>
            <a:r>
              <a:rPr lang="en-US" b="1" dirty="0"/>
              <a:t>, </a:t>
            </a: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999" y="1340768"/>
            <a:ext cx="7794813" cy="4680520"/>
          </a:xfrm>
        </p:spPr>
        <p:txBody>
          <a:bodyPr>
            <a:normAutofit/>
          </a:bodyPr>
          <a:lstStyle/>
          <a:p>
            <a:pPr marL="342900" lvl="1" indent="0">
              <a:spcAft>
                <a:spcPts val="450"/>
              </a:spcAft>
              <a:buNone/>
            </a:pPr>
            <a:r>
              <a:rPr lang="en-US" b="1" dirty="0">
                <a:solidFill>
                  <a:srgbClr val="C00000"/>
                </a:solidFill>
              </a:rPr>
              <a:t>                                    </a:t>
            </a:r>
          </a:p>
          <a:p>
            <a:pPr marL="342900" lvl="1" indent="0"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C00000"/>
                </a:solidFill>
              </a:rPr>
              <a:t>How can one visualize a dataset X on a plane so that every entity is mapped to a 2D point according to the data structure?</a:t>
            </a:r>
          </a:p>
          <a:p>
            <a:pPr marL="342900" lvl="1" indent="0">
              <a:spcAft>
                <a:spcPts val="450"/>
              </a:spcAft>
              <a:buNone/>
            </a:pPr>
            <a:r>
              <a:rPr lang="ru-RU" sz="3600" b="1" dirty="0">
                <a:solidFill>
                  <a:srgbClr val="0070C0"/>
                </a:solidFill>
              </a:rPr>
              <a:t>Легко!</a:t>
            </a:r>
            <a:endParaRPr lang="en-US" sz="3600" b="1" dirty="0">
              <a:solidFill>
                <a:srgbClr val="0070C0"/>
              </a:solidFill>
            </a:endParaRPr>
          </a:p>
          <a:p>
            <a:pPr marL="342900" lvl="1" indent="0">
              <a:spcAft>
                <a:spcPts val="450"/>
              </a:spcAft>
              <a:buNone/>
            </a:pPr>
            <a:r>
              <a:rPr lang="ru-RU" sz="2700" b="1" dirty="0"/>
              <a:t>Просто используйте две первые сингулярные тройки</a:t>
            </a:r>
            <a:r>
              <a:rPr lang="en-US" sz="2700" b="1" dirty="0"/>
              <a:t>: </a:t>
            </a:r>
            <a:r>
              <a:rPr lang="ru-RU" sz="2700" b="1" dirty="0"/>
              <a:t>Это наилучшая двумерная аппроксимация матрицы</a:t>
            </a:r>
            <a:r>
              <a:rPr lang="en-US" sz="2700" b="1" dirty="0"/>
              <a:t> X.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9C4-C576-4FF8-9753-4225908504F0}" type="slidenum">
              <a:rPr lang="ru-RU" smtClean="0"/>
              <a:pPr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9021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1228" y="67511"/>
            <a:ext cx="8453259" cy="68154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Визуализация данных с помощью МГК</a:t>
            </a:r>
            <a:r>
              <a:rPr lang="en-US" sz="2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, 2</a:t>
            </a:r>
            <a:endParaRPr lang="ru-RU" sz="24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43001" y="1107819"/>
            <a:ext cx="270202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ru-RU" sz="750" dirty="0"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lang="en-US" altLang="ru-RU" sz="1350" dirty="0"/>
          </a:p>
        </p:txBody>
      </p:sp>
      <p:sp>
        <p:nvSpPr>
          <p:cNvPr id="23" name="TextBox 22"/>
          <p:cNvSpPr txBox="1"/>
          <p:nvPr/>
        </p:nvSpPr>
        <p:spPr>
          <a:xfrm>
            <a:off x="420519" y="735304"/>
            <a:ext cx="87602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 </a:t>
            </a:r>
            <a:r>
              <a:rPr lang="ru-RU" sz="2100" b="1" dirty="0"/>
              <a:t>                   </a:t>
            </a:r>
            <a:r>
              <a:rPr lang="ru-RU" sz="2700" b="1" dirty="0">
                <a:solidFill>
                  <a:srgbClr val="7030A0"/>
                </a:solidFill>
              </a:rPr>
              <a:t>Важное замечание</a:t>
            </a:r>
            <a:r>
              <a:rPr lang="en-US" sz="2700" b="1" dirty="0">
                <a:solidFill>
                  <a:srgbClr val="7030A0"/>
                </a:solidFill>
              </a:rPr>
              <a:t>.</a:t>
            </a:r>
            <a:endParaRPr lang="ru-RU" sz="2700" b="1" dirty="0">
              <a:solidFill>
                <a:srgbClr val="7030A0"/>
              </a:solidFill>
            </a:endParaRPr>
          </a:p>
          <a:p>
            <a:r>
              <a:rPr lang="en-US" sz="2700" b="1" dirty="0">
                <a:solidFill>
                  <a:srgbClr val="C00000"/>
                </a:solidFill>
              </a:rPr>
              <a:t> </a:t>
            </a:r>
            <a:r>
              <a:rPr lang="ru-RU" sz="2100" b="1" dirty="0"/>
              <a:t>Рисунок показывает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>
                <a:solidFill>
                  <a:srgbClr val="C00000"/>
                </a:solidFill>
              </a:rPr>
              <a:t>первую главную компоненту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>
                <a:solidFill>
                  <a:srgbClr val="C00000"/>
                </a:solidFill>
              </a:rPr>
              <a:t>до</a:t>
            </a:r>
            <a:r>
              <a:rPr lang="en-US" sz="2100" b="1" dirty="0">
                <a:solidFill>
                  <a:srgbClr val="C00000"/>
                </a:solidFill>
              </a:rPr>
              <a:t> </a:t>
            </a:r>
            <a:r>
              <a:rPr lang="ru-RU" sz="2100" b="1" dirty="0"/>
              <a:t>и </a:t>
            </a:r>
            <a:r>
              <a:rPr lang="ru-RU" sz="2100" b="1" dirty="0">
                <a:solidFill>
                  <a:srgbClr val="0070C0"/>
                </a:solidFill>
              </a:rPr>
              <a:t>после</a:t>
            </a:r>
            <a:r>
              <a:rPr lang="en-US" sz="2100" b="1" dirty="0"/>
              <a:t> </a:t>
            </a:r>
            <a:r>
              <a:rPr lang="ru-RU" sz="2100" b="1" dirty="0"/>
              <a:t>того, как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chemeClr val="tx2"/>
                </a:solidFill>
              </a:rPr>
              <a:t>X</a:t>
            </a:r>
            <a:r>
              <a:rPr lang="en-US" sz="2100" b="1" dirty="0"/>
              <a:t> </a:t>
            </a:r>
            <a:r>
              <a:rPr lang="ru-RU" sz="2100" b="1" dirty="0"/>
              <a:t>переведена в</a:t>
            </a:r>
            <a:r>
              <a:rPr lang="en-US" sz="2100" b="1" dirty="0">
                <a:solidFill>
                  <a:srgbClr val="5C5CCE"/>
                </a:solidFill>
              </a:rPr>
              <a:t> Y </a:t>
            </a:r>
            <a:r>
              <a:rPr lang="ru-RU" sz="2100" b="1" dirty="0">
                <a:solidFill>
                  <a:srgbClr val="5C5CCE"/>
                </a:solidFill>
              </a:rPr>
              <a:t>с помощью центрирования – вычитания из каждого столбца его среднего</a:t>
            </a:r>
            <a:r>
              <a:rPr lang="en-US" sz="2100" b="1" dirty="0">
                <a:solidFill>
                  <a:srgbClr val="5C5CCE"/>
                </a:solidFill>
              </a:rPr>
              <a:t>. 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3715" y="2191188"/>
            <a:ext cx="22682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Red dots </a:t>
            </a:r>
            <a:r>
              <a:rPr lang="en-US" b="1" dirty="0"/>
              <a:t>– raw data X</a:t>
            </a:r>
          </a:p>
          <a:p>
            <a:r>
              <a:rPr lang="en-US" b="1" dirty="0">
                <a:solidFill>
                  <a:srgbClr val="4F5AE3"/>
                </a:solidFill>
              </a:rPr>
              <a:t>Blue</a:t>
            </a:r>
            <a:r>
              <a:rPr lang="en-US" b="1" dirty="0"/>
              <a:t> – data Y centered</a:t>
            </a:r>
          </a:p>
          <a:p>
            <a:endParaRPr lang="en-US" b="1" dirty="0"/>
          </a:p>
          <a:p>
            <a:r>
              <a:rPr lang="en-US" b="1" dirty="0"/>
              <a:t>Circle – space origin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Red arrow </a:t>
            </a:r>
            <a:r>
              <a:rPr lang="en-US" b="1" dirty="0"/>
              <a:t>– PC for X</a:t>
            </a:r>
          </a:p>
          <a:p>
            <a:r>
              <a:rPr lang="en-US" b="1" dirty="0">
                <a:solidFill>
                  <a:srgbClr val="4F5AE3"/>
                </a:solidFill>
              </a:rPr>
              <a:t>Blue arrow </a:t>
            </a:r>
            <a:r>
              <a:rPr lang="en-US" b="1" dirty="0"/>
              <a:t>– PC for Y</a:t>
            </a:r>
            <a:endParaRPr lang="ru-RU" b="1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645" y="2520491"/>
            <a:ext cx="3356472" cy="16497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7226" y="4192610"/>
            <a:ext cx="571648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Из-за того, что все главные компоненты проходят через точку 0 (начало отсчета),  структура данных </a:t>
            </a:r>
            <a:r>
              <a:rPr lang="ru-RU" sz="3200" b="1" dirty="0"/>
              <a:t>лучше видна</a:t>
            </a:r>
            <a:r>
              <a:rPr lang="ru-RU" sz="2400" b="1" dirty="0"/>
              <a:t>, если ее смотреть из центра, т.е.  </a:t>
            </a:r>
            <a:r>
              <a:rPr lang="ru-RU" sz="2400" b="1" dirty="0">
                <a:latin typeface="Aptos ExtraBold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ПОСЛЕ </a:t>
            </a:r>
            <a:r>
              <a:rPr lang="ru-RU" sz="2400" b="1" dirty="0"/>
              <a:t>центрирования.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176375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88688"/>
            <a:ext cx="8964488" cy="68154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Визуализация данных с помощью МГК</a:t>
            </a:r>
            <a:r>
              <a:rPr lang="en-US" sz="2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, 4</a:t>
            </a:r>
            <a:endParaRPr lang="ru-RU" sz="2400" b="1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23" name="TextBox 22"/>
          <p:cNvSpPr txBox="1"/>
          <p:nvPr/>
        </p:nvSpPr>
        <p:spPr>
          <a:xfrm>
            <a:off x="650830" y="857250"/>
            <a:ext cx="8299657" cy="4962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 </a:t>
            </a:r>
            <a:r>
              <a:rPr lang="ru-RU" sz="2700" b="1" dirty="0">
                <a:solidFill>
                  <a:srgbClr val="7030A0"/>
                </a:solidFill>
              </a:rPr>
              <a:t>Процедура, основанная на модели</a:t>
            </a:r>
            <a:r>
              <a:rPr lang="en-US" sz="2700" b="1" dirty="0">
                <a:solidFill>
                  <a:srgbClr val="7030A0"/>
                </a:solidFill>
              </a:rPr>
              <a:t>.</a:t>
            </a:r>
            <a:r>
              <a:rPr lang="en-US" sz="2700" b="1" dirty="0">
                <a:solidFill>
                  <a:srgbClr val="C00000"/>
                </a:solidFill>
              </a:rPr>
              <a:t> </a:t>
            </a:r>
            <a:endParaRPr lang="en-US" sz="1950" b="1" dirty="0">
              <a:solidFill>
                <a:srgbClr val="C00000"/>
              </a:solidFill>
            </a:endParaRPr>
          </a:p>
          <a:p>
            <a:pPr marL="385763" indent="-385763">
              <a:buAutoNum type="arabicPeriod"/>
            </a:pPr>
            <a:r>
              <a:rPr lang="ru-RU" sz="1950" b="1" dirty="0">
                <a:solidFill>
                  <a:srgbClr val="FF0000"/>
                </a:solidFill>
              </a:rPr>
              <a:t>Центрирование.</a:t>
            </a:r>
            <a:r>
              <a:rPr lang="ru-RU" sz="1950" b="1" dirty="0"/>
              <a:t> </a:t>
            </a:r>
            <a:r>
              <a:rPr lang="en-US" sz="1950" b="1" dirty="0"/>
              <a:t>Center data into matrix Y by</a:t>
            </a:r>
            <a:r>
              <a:rPr lang="en-US" sz="1950" b="1" dirty="0">
                <a:solidFill>
                  <a:srgbClr val="5C5CCE"/>
                </a:solidFill>
              </a:rPr>
              <a:t> subtracting the column means  from the columns; </a:t>
            </a:r>
            <a:r>
              <a:rPr lang="en-US" sz="1950" b="1" dirty="0"/>
              <a:t>normalize it with std</a:t>
            </a:r>
            <a:r>
              <a:rPr lang="ru-RU" sz="1950" b="1" dirty="0"/>
              <a:t> </a:t>
            </a:r>
            <a:r>
              <a:rPr lang="en-US" sz="1950" b="1" dirty="0"/>
              <a:t>or range.</a:t>
            </a:r>
          </a:p>
          <a:p>
            <a:pPr marL="342900" indent="-342900">
              <a:buAutoNum type="arabicPeriod"/>
            </a:pPr>
            <a:r>
              <a:rPr lang="ru-RU" sz="1950" b="1" dirty="0">
                <a:solidFill>
                  <a:srgbClr val="FF0000"/>
                </a:solidFill>
              </a:rPr>
              <a:t>Вычисление первых двух сингулярных троек.</a:t>
            </a:r>
            <a:endParaRPr lang="en-US" sz="1950" b="1" dirty="0">
              <a:solidFill>
                <a:srgbClr val="FF0000"/>
              </a:solidFill>
            </a:endParaRPr>
          </a:p>
          <a:p>
            <a:r>
              <a:rPr lang="en-US" b="1" dirty="0"/>
              <a:t>&gt;&gt; [Z,Mu,C]=svd(Y);</a:t>
            </a:r>
          </a:p>
          <a:p>
            <a:r>
              <a:rPr lang="en-US" b="1" dirty="0"/>
              <a:t>&gt;&gt; z1=z(:,1)*sqrt(Mu(1,1));    </a:t>
            </a:r>
            <a:r>
              <a:rPr lang="en-US" sz="2400" b="1" dirty="0"/>
              <a:t>%</a:t>
            </a:r>
            <a:r>
              <a:rPr lang="en-US" sz="2400" b="1" dirty="0">
                <a:solidFill>
                  <a:srgbClr val="0070C0"/>
                </a:solidFill>
              </a:rPr>
              <a:t>Quiz: Why is that?</a:t>
            </a:r>
          </a:p>
          <a:p>
            <a:r>
              <a:rPr lang="en-US" b="1" dirty="0"/>
              <a:t>&gt;&gt; z2=z(:,2)*</a:t>
            </a:r>
            <a:r>
              <a:rPr lang="en-US" b="1" dirty="0" err="1"/>
              <a:t>sqrt</a:t>
            </a:r>
            <a:r>
              <a:rPr lang="en-US" b="1" dirty="0"/>
              <a:t>(Mu(2,2));% </a:t>
            </a:r>
            <a:r>
              <a:rPr lang="en-US" b="1" dirty="0" err="1"/>
              <a:t>sqrt</a:t>
            </a:r>
            <a:r>
              <a:rPr lang="en-US" b="1" dirty="0"/>
              <a:t>(Mu) to fit in the PCA model</a:t>
            </a:r>
          </a:p>
          <a:p>
            <a:endParaRPr lang="en-US" sz="1950" b="1" dirty="0"/>
          </a:p>
          <a:p>
            <a:r>
              <a:rPr lang="en-US" sz="1950" b="1" dirty="0"/>
              <a:t>3. </a:t>
            </a:r>
            <a:r>
              <a:rPr lang="ru-RU" sz="1950" b="1" dirty="0">
                <a:solidFill>
                  <a:srgbClr val="FF0000"/>
                </a:solidFill>
              </a:rPr>
              <a:t>Определение вклада</a:t>
            </a:r>
            <a:r>
              <a:rPr lang="ru-RU" sz="1950" b="1" dirty="0"/>
              <a:t>: </a:t>
            </a:r>
            <a:r>
              <a:rPr lang="en-US" sz="1950" b="1" dirty="0"/>
              <a:t>Determine the proportion of the variance taken into account:</a:t>
            </a:r>
          </a:p>
          <a:p>
            <a:r>
              <a:rPr lang="en-US" b="1" dirty="0"/>
              <a:t>&gt;&gt; p=100*(Mu(1,1)^2+Mu(2,2)^2)/sum(sum(Y.*Y));</a:t>
            </a:r>
          </a:p>
          <a:p>
            <a:r>
              <a:rPr lang="en-US" sz="1950" b="1" dirty="0"/>
              <a:t>4. </a:t>
            </a:r>
            <a:r>
              <a:rPr lang="ru-RU" sz="1950" b="1" dirty="0">
                <a:solidFill>
                  <a:srgbClr val="FF0000"/>
                </a:solidFill>
              </a:rPr>
              <a:t>Визуализация.</a:t>
            </a:r>
            <a:endParaRPr lang="en-US" sz="1950" b="1" dirty="0">
              <a:solidFill>
                <a:srgbClr val="FF0000"/>
              </a:solidFill>
            </a:endParaRPr>
          </a:p>
          <a:p>
            <a:r>
              <a:rPr lang="en-US" b="1" dirty="0"/>
              <a:t>&gt;&gt; plot(z1, z2, ‘k.’);</a:t>
            </a:r>
          </a:p>
          <a:p>
            <a:r>
              <a:rPr lang="en-US" sz="1950" b="1" dirty="0"/>
              <a:t>5.</a:t>
            </a:r>
            <a:r>
              <a:rPr lang="en-US" sz="1950" b="1" dirty="0">
                <a:solidFill>
                  <a:srgbClr val="FF0000"/>
                </a:solidFill>
              </a:rPr>
              <a:t> </a:t>
            </a:r>
            <a:r>
              <a:rPr lang="ru-RU" sz="1950" b="1" dirty="0">
                <a:solidFill>
                  <a:srgbClr val="FF0000"/>
                </a:solidFill>
              </a:rPr>
              <a:t>Интерпретация.</a:t>
            </a:r>
            <a:r>
              <a:rPr lang="ru-RU" sz="1950" b="1" dirty="0"/>
              <a:t> </a:t>
            </a:r>
            <a:r>
              <a:rPr lang="en-US" sz="1950" b="1" dirty="0"/>
              <a:t>Interpret  the axes by looking at the loadings and their signs.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3243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72CE9-798F-48A9-8B86-222B4585D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28" y="122337"/>
            <a:ext cx="8309244" cy="824441"/>
          </a:xfrm>
        </p:spPr>
        <p:txBody>
          <a:bodyPr>
            <a:normAutofit fontScale="90000"/>
          </a:bodyPr>
          <a:lstStyle/>
          <a:p>
            <a:r>
              <a:rPr lang="ru-RU" dirty="0"/>
              <a:t>Визуализация данных с помощью МГК</a:t>
            </a:r>
            <a:r>
              <a:rPr lang="en-US" dirty="0"/>
              <a:t>, 4</a:t>
            </a:r>
            <a:br>
              <a:rPr lang="en-US" dirty="0"/>
            </a:br>
            <a:r>
              <a:rPr lang="ru-RU" dirty="0"/>
              <a:t>«</a:t>
            </a:r>
            <a:r>
              <a:rPr lang="en-US" dirty="0"/>
              <a:t>Market Towns</a:t>
            </a:r>
            <a:r>
              <a:rPr lang="ru-RU" dirty="0"/>
              <a:t> </a:t>
            </a:r>
            <a:r>
              <a:rPr lang="en-US" dirty="0"/>
              <a:t>UK West Country</a:t>
            </a:r>
            <a:r>
              <a:rPr lang="ru-RU" dirty="0"/>
              <a:t>»</a:t>
            </a:r>
            <a:r>
              <a:rPr lang="en-US" dirty="0"/>
              <a:t>: PCA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BE8E15-D2B4-4005-B70A-2C894AF2B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628800"/>
            <a:ext cx="7868282" cy="4282422"/>
          </a:xfrm>
        </p:spPr>
        <p:txBody>
          <a:bodyPr>
            <a:normAutofit/>
          </a:bodyPr>
          <a:lstStyle/>
          <a:p>
            <a:r>
              <a:rPr lang="en-US" dirty="0"/>
              <a:t>Centered, Range normalized</a:t>
            </a:r>
            <a:endParaRPr lang="ru-RU" dirty="0"/>
          </a:p>
          <a:p>
            <a:r>
              <a:rPr lang="en-US" dirty="0"/>
              <a:t>Loadings</a:t>
            </a:r>
          </a:p>
          <a:p>
            <a:pPr marL="0" indent="0">
              <a:buNone/>
            </a:pPr>
            <a:r>
              <a:rPr lang="en-US" sz="1800" b="1" dirty="0"/>
              <a:t>                    </a:t>
            </a:r>
            <a:r>
              <a:rPr lang="en-US" sz="1800" b="1" dirty="0" err="1"/>
              <a:t>Pop.Res</a:t>
            </a:r>
            <a:r>
              <a:rPr lang="en-US" sz="1800" b="1" dirty="0"/>
              <a:t>   </a:t>
            </a:r>
            <a:r>
              <a:rPr lang="en-US" sz="1800" b="1" dirty="0" err="1"/>
              <a:t>PSchool</a:t>
            </a:r>
            <a:r>
              <a:rPr lang="en-US" sz="1800" b="1" dirty="0"/>
              <a:t>  Doctor    Bank      Petrol    </a:t>
            </a:r>
            <a:r>
              <a:rPr lang="en-US" sz="1800" b="1" dirty="0" err="1"/>
              <a:t>PostOf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   c</a:t>
            </a:r>
            <a:r>
              <a:rPr lang="en-US" sz="1800" baseline="-25000" dirty="0"/>
              <a:t>1</a:t>
            </a:r>
            <a:r>
              <a:rPr lang="en-US" sz="1800" dirty="0">
                <a:sym typeface="Symbol" panose="05050102010706020507" pitchFamily="18" charset="2"/>
              </a:rPr>
              <a:t></a:t>
            </a:r>
            <a:r>
              <a:rPr lang="en-US" sz="1800" dirty="0"/>
              <a:t>             </a:t>
            </a:r>
            <a:r>
              <a:rPr lang="en-US" sz="1800" b="1" dirty="0"/>
              <a:t>0.4722</a:t>
            </a:r>
            <a:r>
              <a:rPr lang="en-US" sz="1800" dirty="0"/>
              <a:t>    0.3562    </a:t>
            </a:r>
            <a:r>
              <a:rPr lang="en-US" sz="1800" b="1" dirty="0"/>
              <a:t>0.5109</a:t>
            </a:r>
            <a:r>
              <a:rPr lang="en-US" sz="1800" dirty="0"/>
              <a:t>    0.3466    0.3192    </a:t>
            </a:r>
            <a:r>
              <a:rPr lang="en-US" sz="1800" b="1" dirty="0"/>
              <a:t>0.4087</a:t>
            </a:r>
          </a:p>
          <a:p>
            <a:pPr marL="0" indent="0">
              <a:buNone/>
            </a:pPr>
            <a:r>
              <a:rPr lang="en-US" sz="1800" dirty="0"/>
              <a:t>   c</a:t>
            </a:r>
            <a:r>
              <a:rPr lang="en-US" sz="1800" baseline="-25000" dirty="0"/>
              <a:t>2</a:t>
            </a:r>
            <a:r>
              <a:rPr lang="en-US" sz="1800" dirty="0">
                <a:sym typeface="Symbol" panose="05050102010706020507" pitchFamily="18" charset="2"/>
              </a:rPr>
              <a:t></a:t>
            </a:r>
            <a:r>
              <a:rPr lang="en-US" sz="1800" dirty="0"/>
              <a:t>         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-0.0445</a:t>
            </a:r>
            <a:r>
              <a:rPr lang="en-US" sz="1800" dirty="0"/>
              <a:t>   -0.3163   </a:t>
            </a:r>
            <a:r>
              <a:rPr lang="en-US" sz="1800" b="1" dirty="0"/>
              <a:t>0.4946</a:t>
            </a:r>
            <a:r>
              <a:rPr lang="en-US" sz="1800" dirty="0"/>
              <a:t>   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-0.0463</a:t>
            </a:r>
            <a:r>
              <a:rPr lang="en-US" sz="1800" dirty="0"/>
              <a:t>  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-0.7387  </a:t>
            </a: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1800" b="1" dirty="0"/>
              <a:t>0.3249</a:t>
            </a:r>
          </a:p>
          <a:p>
            <a:pPr marL="0" indent="0">
              <a:buNone/>
            </a:pPr>
            <a:r>
              <a:rPr lang="en-US" dirty="0"/>
              <a:t>Contribution to the Variance</a:t>
            </a:r>
            <a:r>
              <a:rPr lang="ru-RU" dirty="0"/>
              <a:t>: </a:t>
            </a:r>
            <a:r>
              <a:rPr lang="ru-RU" b="1" dirty="0"/>
              <a:t>83.6%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Interpretation</a:t>
            </a:r>
            <a:r>
              <a:rPr lang="ru-RU" dirty="0"/>
              <a:t>: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baseline="-25000" dirty="0">
                <a:solidFill>
                  <a:srgbClr val="FF0000"/>
                </a:solidFill>
              </a:rPr>
              <a:t>1 </a:t>
            </a:r>
            <a:r>
              <a:rPr lang="ru-RU" b="1" dirty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Level of town development</a:t>
            </a:r>
            <a:r>
              <a:rPr lang="ru-RU" b="1" dirty="0">
                <a:solidFill>
                  <a:srgbClr val="FF0000"/>
                </a:solidFill>
              </a:rPr>
              <a:t> (Уровень развития поселения)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ru-RU" b="1" baseline="-25000" dirty="0">
                <a:solidFill>
                  <a:srgbClr val="FF0000"/>
                </a:solidFill>
              </a:rPr>
              <a:t>2</a:t>
            </a:r>
            <a:r>
              <a:rPr lang="en-US" b="1" baseline="-25000" dirty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– </a:t>
            </a:r>
            <a:r>
              <a:rPr lang="en-US" b="1" dirty="0">
                <a:solidFill>
                  <a:srgbClr val="FF0000"/>
                </a:solidFill>
              </a:rPr>
              <a:t>Doctors versus Cars</a:t>
            </a:r>
            <a:r>
              <a:rPr lang="ru-RU" b="1" dirty="0">
                <a:solidFill>
                  <a:srgbClr val="FF0000"/>
                </a:solidFill>
              </a:rPr>
              <a:t>   </a:t>
            </a:r>
            <a:r>
              <a:rPr lang="en-US" b="1" dirty="0">
                <a:solidFill>
                  <a:srgbClr val="FF0000"/>
                </a:solidFill>
              </a:rPr>
              <a:t>(“Resort area”)</a:t>
            </a:r>
            <a:r>
              <a:rPr lang="ru-RU" b="1" dirty="0">
                <a:solidFill>
                  <a:srgbClr val="FF0000"/>
                </a:solidFill>
              </a:rPr>
              <a:t> (Степень </a:t>
            </a:r>
            <a:r>
              <a:rPr lang="ru-RU" b="1" dirty="0" err="1">
                <a:solidFill>
                  <a:srgbClr val="FF0000"/>
                </a:solidFill>
              </a:rPr>
              <a:t>курортности</a:t>
            </a:r>
            <a:r>
              <a:rPr lang="ru-RU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21F87-9031-43AF-8059-33238CB8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68347C-24FA-4512-8E3C-012DA5AB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074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72CE9-798F-48A9-8B86-222B4585D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8591872" cy="1754815"/>
          </a:xfrm>
        </p:spPr>
        <p:txBody>
          <a:bodyPr>
            <a:normAutofit fontScale="90000"/>
          </a:bodyPr>
          <a:lstStyle/>
          <a:p>
            <a:r>
              <a:rPr lang="ru-RU" dirty="0"/>
              <a:t>Визуализация данных с помощью МГК</a:t>
            </a:r>
            <a:r>
              <a:rPr lang="en-US" dirty="0"/>
              <a:t>, 5</a:t>
            </a:r>
            <a:br>
              <a:rPr lang="en-US" dirty="0"/>
            </a:br>
            <a:r>
              <a:rPr lang="ru-RU" dirty="0"/>
              <a:t>«</a:t>
            </a:r>
            <a:r>
              <a:rPr lang="en-US" dirty="0"/>
              <a:t>Market Towns</a:t>
            </a:r>
            <a:r>
              <a:rPr lang="ru-RU" dirty="0"/>
              <a:t> </a:t>
            </a:r>
            <a:r>
              <a:rPr lang="en-US" dirty="0"/>
              <a:t>UK West Country</a:t>
            </a:r>
            <a:r>
              <a:rPr lang="ru-RU" dirty="0"/>
              <a:t>»</a:t>
            </a:r>
            <a:r>
              <a:rPr lang="en-US" dirty="0"/>
              <a:t>: PCA, </a:t>
            </a:r>
            <a:r>
              <a:rPr lang="ru-RU" dirty="0"/>
              <a:t>группы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21F87-9031-43AF-8059-33238CB8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68347C-24FA-4512-8E3C-012DA5AB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41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DCA095-34EC-4209-94C0-90B9F6105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06" y="1754815"/>
            <a:ext cx="6634789" cy="2160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0CB892-AB04-4FB2-919A-6218477AAC72}"/>
              </a:ext>
            </a:extLst>
          </p:cNvPr>
          <p:cNvSpPr txBox="1"/>
          <p:nvPr/>
        </p:nvSpPr>
        <p:spPr>
          <a:xfrm>
            <a:off x="1096206" y="4274414"/>
            <a:ext cx="83038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Matlab</a:t>
            </a:r>
            <a:r>
              <a:rPr lang="en-US" dirty="0"/>
              <a:t> Code</a:t>
            </a:r>
            <a:r>
              <a:rPr lang="ru-RU" dirty="0"/>
              <a:t>: </a:t>
            </a:r>
            <a:r>
              <a:rPr lang="en-US" dirty="0"/>
              <a:t>&gt;&gt;</a:t>
            </a:r>
            <a:r>
              <a:rPr lang="ru-RU" dirty="0"/>
              <a:t> </a:t>
            </a:r>
            <a:r>
              <a:rPr lang="pl-PL" dirty="0"/>
              <a:t>subplot(1,2,1);plot(z1,z2,'k.’);</a:t>
            </a:r>
            <a:endParaRPr lang="en-US" dirty="0"/>
          </a:p>
          <a:p>
            <a:r>
              <a:rPr lang="nb-NO" dirty="0"/>
              <a:t>                     &gt;&gt; tt=find(ti(:,1)&gt;15000); tts=find(ti(:,1)&lt;2500);</a:t>
            </a:r>
            <a:endParaRPr lang="en-US" dirty="0"/>
          </a:p>
          <a:p>
            <a:r>
              <a:rPr lang="en-US" dirty="0"/>
              <a:t>&gt;&gt; </a:t>
            </a:r>
            <a:r>
              <a:rPr lang="pl-PL" dirty="0"/>
              <a:t>subplot(1,2,2);plot(z1,z2,'k.', z1(tt),z2(tt),</a:t>
            </a:r>
            <a:r>
              <a:rPr lang="ru-RU" dirty="0"/>
              <a:t> </a:t>
            </a:r>
            <a:r>
              <a:rPr lang="pl-PL" dirty="0"/>
              <a:t>'bp’,</a:t>
            </a:r>
            <a:r>
              <a:rPr lang="ru-RU" dirty="0"/>
              <a:t> </a:t>
            </a:r>
            <a:r>
              <a:rPr lang="pl-PL" dirty="0"/>
              <a:t>z1(tts),</a:t>
            </a:r>
            <a:r>
              <a:rPr lang="ru-RU" dirty="0"/>
              <a:t> </a:t>
            </a:r>
            <a:r>
              <a:rPr lang="pl-PL" dirty="0"/>
              <a:t>z2(tts),</a:t>
            </a:r>
            <a:r>
              <a:rPr lang="ru-RU" dirty="0"/>
              <a:t> </a:t>
            </a:r>
            <a:r>
              <a:rPr lang="pl-PL" dirty="0"/>
              <a:t>'rd’);</a:t>
            </a:r>
            <a:endParaRPr lang="ru-RU" dirty="0"/>
          </a:p>
          <a:p>
            <a:r>
              <a:rPr lang="en-US" b="1" dirty="0"/>
              <a:t>On the right: towns with</a:t>
            </a:r>
            <a:r>
              <a:rPr lang="ru-RU" b="1" dirty="0"/>
              <a:t> 15000 </a:t>
            </a:r>
            <a:r>
              <a:rPr lang="en-US" b="1" dirty="0"/>
              <a:t>or more residents,</a:t>
            </a:r>
            <a:r>
              <a:rPr lang="ru-RU" b="1" dirty="0"/>
              <a:t> </a:t>
            </a:r>
            <a:r>
              <a:rPr lang="en-US" b="1" dirty="0"/>
              <a:t>in blue</a:t>
            </a:r>
            <a:r>
              <a:rPr lang="ru-RU" b="1" dirty="0"/>
              <a:t>, </a:t>
            </a:r>
            <a:r>
              <a:rPr lang="en-US" b="1" dirty="0"/>
              <a:t>less than </a:t>
            </a:r>
            <a:r>
              <a:rPr lang="ru-RU" b="1" dirty="0"/>
              <a:t>2500 </a:t>
            </a:r>
            <a:r>
              <a:rPr lang="en-US" b="1" dirty="0"/>
              <a:t>residents, in red</a:t>
            </a:r>
            <a:r>
              <a:rPr lang="ru-RU" b="1" dirty="0"/>
              <a:t>. </a:t>
            </a:r>
          </a:p>
          <a:p>
            <a:endParaRPr lang="en-US" dirty="0"/>
          </a:p>
          <a:p>
            <a:r>
              <a:rPr lang="en-US" b="1" dirty="0"/>
              <a:t>QUESTION</a:t>
            </a:r>
            <a:r>
              <a:rPr lang="ru-RU" b="1" dirty="0"/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WHY are reds on the left and blues on the right</a:t>
            </a:r>
            <a:r>
              <a:rPr lang="ru-RU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350714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4371" y="50425"/>
            <a:ext cx="7882085" cy="543041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ru-RU" sz="3000" dirty="0"/>
              <a:t>Визуализация данных с помощью МГК</a:t>
            </a:r>
            <a:r>
              <a:rPr lang="en-US" sz="3000" dirty="0"/>
              <a:t>, </a:t>
            </a:r>
            <a:r>
              <a:rPr lang="ru-RU" sz="3000" dirty="0"/>
              <a:t>6</a:t>
            </a:r>
            <a:br>
              <a:rPr lang="en-US" sz="2400" dirty="0"/>
            </a:br>
            <a:endParaRPr lang="ru-RU" sz="2400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43001" y="1107819"/>
            <a:ext cx="270202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ru-RU" sz="750" dirty="0"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lang="en-US" altLang="ru-RU" sz="1350" dirty="0"/>
          </a:p>
        </p:txBody>
      </p:sp>
      <p:sp>
        <p:nvSpPr>
          <p:cNvPr id="23" name="TextBox 22"/>
          <p:cNvSpPr txBox="1"/>
          <p:nvPr/>
        </p:nvSpPr>
        <p:spPr>
          <a:xfrm>
            <a:off x="1351208" y="807470"/>
            <a:ext cx="7501248" cy="477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 </a:t>
            </a:r>
            <a:r>
              <a:rPr lang="ru-RU" sz="2700" b="1" dirty="0">
                <a:solidFill>
                  <a:srgbClr val="7030A0"/>
                </a:solidFill>
              </a:rPr>
              <a:t>Пример: Ирис</a:t>
            </a:r>
            <a:r>
              <a:rPr lang="en-US" sz="2700" b="1" dirty="0">
                <a:solidFill>
                  <a:srgbClr val="7030A0"/>
                </a:solidFill>
              </a:rPr>
              <a:t>.</a:t>
            </a:r>
            <a:r>
              <a:rPr lang="en-US" sz="2700" b="1" dirty="0">
                <a:solidFill>
                  <a:srgbClr val="C00000"/>
                </a:solidFill>
              </a:rPr>
              <a:t> </a:t>
            </a:r>
          </a:p>
          <a:p>
            <a:endParaRPr lang="en-US" sz="1950" b="1" dirty="0">
              <a:solidFill>
                <a:srgbClr val="C00000"/>
              </a:solidFill>
            </a:endParaRPr>
          </a:p>
          <a:p>
            <a:pPr marL="385763" indent="-385763">
              <a:buAutoNum type="arabicPeriod"/>
            </a:pPr>
            <a:r>
              <a:rPr lang="en-US" sz="2100" b="1" dirty="0"/>
              <a:t>Center data into matrix Y by</a:t>
            </a:r>
            <a:r>
              <a:rPr lang="en-US" sz="2100" b="1" dirty="0">
                <a:solidFill>
                  <a:srgbClr val="5C5CCE"/>
                </a:solidFill>
              </a:rPr>
              <a:t> subtracting the column means  from the columns.</a:t>
            </a:r>
          </a:p>
          <a:p>
            <a:r>
              <a:rPr lang="en-US" b="1" dirty="0"/>
              <a:t>&gt;&gt;Y=iris-repmat(mean(iris), 150, 1); </a:t>
            </a:r>
            <a:r>
              <a:rPr lang="en-US" sz="2100" b="1" dirty="0">
                <a:solidFill>
                  <a:srgbClr val="0070C0"/>
                </a:solidFill>
              </a:rPr>
              <a:t>% No normalization</a:t>
            </a:r>
          </a:p>
          <a:p>
            <a:endParaRPr lang="en-US" sz="2100" b="1" dirty="0">
              <a:solidFill>
                <a:srgbClr val="0070C0"/>
              </a:solidFill>
            </a:endParaRPr>
          </a:p>
          <a:p>
            <a:r>
              <a:rPr lang="en-US" sz="2100" b="1" dirty="0"/>
              <a:t>2.  Compute two first singular triplets:</a:t>
            </a:r>
          </a:p>
          <a:p>
            <a:r>
              <a:rPr lang="en-US" b="1" dirty="0"/>
              <a:t>&gt;&gt; [Z,Mu,C]=svd(Y);</a:t>
            </a:r>
          </a:p>
          <a:p>
            <a:r>
              <a:rPr lang="en-US" b="1" dirty="0"/>
              <a:t>&gt;&gt; z1=z(:,1)*</a:t>
            </a:r>
            <a:r>
              <a:rPr lang="en-US" b="1" dirty="0" err="1"/>
              <a:t>sqrt</a:t>
            </a:r>
            <a:r>
              <a:rPr lang="en-US" b="1" dirty="0"/>
              <a:t>(Mu(1,1));</a:t>
            </a:r>
          </a:p>
          <a:p>
            <a:r>
              <a:rPr lang="en-US" b="1" dirty="0"/>
              <a:t>&gt;&gt; z2=z(:,2)*sqrt(Mu(2,2));    </a:t>
            </a:r>
            <a:r>
              <a:rPr lang="en-US" b="1" dirty="0">
                <a:solidFill>
                  <a:srgbClr val="0070C0"/>
                </a:solidFill>
              </a:rPr>
              <a:t>% sqrt(Mu) to fit in the PCA model</a:t>
            </a:r>
          </a:p>
          <a:p>
            <a:endParaRPr lang="en-US" sz="2100" b="1" dirty="0">
              <a:solidFill>
                <a:srgbClr val="0070C0"/>
              </a:solidFill>
            </a:endParaRPr>
          </a:p>
          <a:p>
            <a:r>
              <a:rPr lang="en-US" sz="2100" b="1" dirty="0"/>
              <a:t>3. Determine the proportion of the ”explained” variance:</a:t>
            </a:r>
          </a:p>
          <a:p>
            <a:r>
              <a:rPr lang="en-US" b="1" dirty="0"/>
              <a:t>&gt;&gt; p=100*(Mu(1,1)^2+Mu(2,2)^2)/sum(sum(Y.*Y)); 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% p=97.8%, very good!</a:t>
            </a:r>
          </a:p>
          <a:p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18830084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7814" y="207751"/>
            <a:ext cx="7796893" cy="681540"/>
          </a:xfrm>
        </p:spPr>
        <p:txBody>
          <a:bodyPr>
            <a:noAutofit/>
          </a:bodyPr>
          <a:lstStyle/>
          <a:p>
            <a:r>
              <a:rPr lang="ru-RU" sz="2400" b="1" dirty="0"/>
              <a:t>Визуализация данных с помощью МГК</a:t>
            </a:r>
            <a:r>
              <a:rPr lang="en-US" sz="2400" b="1" dirty="0"/>
              <a:t>, </a:t>
            </a:r>
            <a:r>
              <a:rPr lang="ru-RU" sz="2400" b="1" dirty="0"/>
              <a:t>7</a:t>
            </a:r>
            <a:br>
              <a:rPr lang="en-US" sz="2400" b="1" dirty="0"/>
            </a:br>
            <a:endParaRPr lang="ru-RU" sz="2400" b="1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43001" y="1107819"/>
            <a:ext cx="270202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ru-RU" sz="750" dirty="0"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lang="en-US" altLang="ru-RU" sz="1350" dirty="0"/>
          </a:p>
        </p:txBody>
      </p:sp>
      <p:sp>
        <p:nvSpPr>
          <p:cNvPr id="23" name="TextBox 22"/>
          <p:cNvSpPr txBox="1"/>
          <p:nvPr/>
        </p:nvSpPr>
        <p:spPr>
          <a:xfrm>
            <a:off x="1131523" y="787783"/>
            <a:ext cx="7904973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 </a:t>
            </a:r>
            <a:r>
              <a:rPr lang="ru-RU" sz="2700" b="1" dirty="0">
                <a:solidFill>
                  <a:srgbClr val="7030A0"/>
                </a:solidFill>
              </a:rPr>
              <a:t>Пример: Ирис</a:t>
            </a:r>
            <a:r>
              <a:rPr lang="en-US" sz="2700" b="1" dirty="0">
                <a:solidFill>
                  <a:srgbClr val="7030A0"/>
                </a:solidFill>
              </a:rPr>
              <a:t>.</a:t>
            </a:r>
          </a:p>
          <a:p>
            <a:endParaRPr lang="en-US" sz="1950" b="1" dirty="0">
              <a:solidFill>
                <a:srgbClr val="C00000"/>
              </a:solidFill>
            </a:endParaRPr>
          </a:p>
          <a:p>
            <a:r>
              <a:rPr lang="en-US" b="1" dirty="0"/>
              <a:t>4. Visualize the Iris data in two subplots, as a whole and taxon-wise.</a:t>
            </a:r>
          </a:p>
          <a:p>
            <a:r>
              <a:rPr lang="en-US" sz="1500" b="1" dirty="0"/>
              <a:t>&gt;&gt;subplot(1,2,1); plot(z1, z2, ‘k.’);</a:t>
            </a:r>
          </a:p>
          <a:p>
            <a:r>
              <a:rPr lang="en-US" sz="1500" b="1" dirty="0"/>
              <a:t>&gt;&gt;</a:t>
            </a:r>
            <a:r>
              <a:rPr lang="pl-PL" sz="1500" b="1" dirty="0"/>
              <a:t>subplot(1,2,2);</a:t>
            </a:r>
            <a:endParaRPr lang="en-US" sz="1500" b="1" dirty="0"/>
          </a:p>
          <a:p>
            <a:r>
              <a:rPr lang="en-US" sz="1500" b="1" dirty="0"/>
              <a:t>&gt;&gt;</a:t>
            </a:r>
            <a:r>
              <a:rPr lang="pl-PL" sz="1500" b="1" dirty="0"/>
              <a:t>plot(z1(1:50),z2(1:50),'g+',z1(51:100),z2(51:100),'ro',z1(101:150),z2(101:150),'bd');</a:t>
            </a:r>
            <a:endParaRPr lang="en-US" sz="1500" b="1" dirty="0"/>
          </a:p>
          <a:p>
            <a:endParaRPr lang="en-US" sz="1950" b="1" dirty="0"/>
          </a:p>
          <a:p>
            <a:endParaRPr lang="en-US" sz="1950" b="1" dirty="0"/>
          </a:p>
          <a:p>
            <a:endParaRPr lang="en-US" sz="1950" b="1" dirty="0"/>
          </a:p>
          <a:p>
            <a:endParaRPr lang="en-US" sz="1950" b="1" dirty="0"/>
          </a:p>
          <a:p>
            <a:endParaRPr lang="en-US" sz="1950" b="1" dirty="0"/>
          </a:p>
          <a:p>
            <a:endParaRPr lang="en-US" sz="1950" b="1" dirty="0"/>
          </a:p>
          <a:p>
            <a:endParaRPr lang="en-US" sz="1950" b="1" dirty="0"/>
          </a:p>
          <a:p>
            <a:endParaRPr lang="en-US" sz="1950" b="1" dirty="0"/>
          </a:p>
          <a:p>
            <a:endParaRPr lang="en-US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658" y="2947444"/>
            <a:ext cx="5724636" cy="283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64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8366" y="54044"/>
            <a:ext cx="6858000" cy="681540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0070C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</a:t>
            </a:r>
            <a:r>
              <a:rPr lang="ru-RU" sz="2400" b="1" dirty="0"/>
              <a:t>Визуализация данных с помощью МГК</a:t>
            </a:r>
            <a:r>
              <a:rPr lang="en-US" sz="2400" b="1" dirty="0"/>
              <a:t>, </a:t>
            </a:r>
            <a:r>
              <a:rPr lang="ru-RU" sz="2400" b="1" dirty="0"/>
              <a:t>8</a:t>
            </a:r>
            <a:br>
              <a:rPr lang="en-US" sz="2400" b="1" dirty="0"/>
            </a:br>
            <a:r>
              <a:rPr lang="ru-RU" sz="2400" b="1" dirty="0">
                <a:solidFill>
                  <a:srgbClr val="FF0000"/>
                </a:solidFill>
              </a:rPr>
              <a:t>Интерпретация </a:t>
            </a:r>
            <a:r>
              <a:rPr lang="ru-RU" sz="2400" b="1" dirty="0" err="1">
                <a:solidFill>
                  <a:srgbClr val="FF0000"/>
                </a:solidFill>
              </a:rPr>
              <a:t>компонет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 dirty="0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44</a:t>
            </a:fld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4300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14300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43001" y="1107819"/>
            <a:ext cx="270202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indent="150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ru-RU" sz="750" dirty="0">
                <a:latin typeface="Times"/>
                <a:ea typeface="Times New Roman" pitchFamily="18" charset="0"/>
                <a:cs typeface="Times New Roman" pitchFamily="18" charset="0"/>
              </a:rPr>
              <a:t>                   *                                =                                             </a:t>
            </a:r>
            <a:endParaRPr lang="en-US" altLang="ru-RU" sz="1350" dirty="0"/>
          </a:p>
        </p:txBody>
      </p:sp>
      <p:sp>
        <p:nvSpPr>
          <p:cNvPr id="23" name="TextBox 22"/>
          <p:cNvSpPr txBox="1"/>
          <p:nvPr/>
        </p:nvSpPr>
        <p:spPr>
          <a:xfrm>
            <a:off x="351064" y="1107820"/>
            <a:ext cx="7821336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ru-RU" b="1" dirty="0">
                <a:solidFill>
                  <a:srgbClr val="7030A0"/>
                </a:solidFill>
              </a:rPr>
              <a:t>Пример: Ирис</a:t>
            </a:r>
            <a:r>
              <a:rPr lang="en-US" b="1" dirty="0">
                <a:solidFill>
                  <a:srgbClr val="7030A0"/>
                </a:solidFill>
              </a:rPr>
              <a:t>.</a:t>
            </a:r>
            <a:r>
              <a:rPr lang="ru-RU" b="1" dirty="0">
                <a:solidFill>
                  <a:srgbClr val="7030A0"/>
                </a:solidFill>
              </a:rPr>
              <a:t> Интерпретация ГК.</a:t>
            </a:r>
          </a:p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ru-RU" b="1" dirty="0">
                <a:solidFill>
                  <a:srgbClr val="C00000"/>
                </a:solidFill>
              </a:rPr>
              <a:t>Надо стать/быть творческой личностью</a:t>
            </a:r>
            <a:endParaRPr lang="en-US" b="1" dirty="0"/>
          </a:p>
          <a:p>
            <a:endParaRPr lang="ru-RU" sz="1950" b="1" dirty="0"/>
          </a:p>
          <a:p>
            <a:r>
              <a:rPr lang="ru-RU" sz="1950" b="1" dirty="0"/>
              <a:t>     </a:t>
            </a:r>
            <a:r>
              <a:rPr lang="en-US" sz="1950" b="1" dirty="0"/>
              <a:t>5. </a:t>
            </a:r>
            <a:r>
              <a:rPr lang="ru-RU" sz="1950" b="1" dirty="0"/>
              <a:t>Смотри на значения и знаки нагрузок</a:t>
            </a:r>
            <a:r>
              <a:rPr lang="en-US" sz="1950" b="1" dirty="0"/>
              <a:t>:</a:t>
            </a:r>
          </a:p>
          <a:p>
            <a:r>
              <a:rPr lang="en-US" b="1" dirty="0"/>
              <a:t>              c1</a:t>
            </a:r>
            <a:r>
              <a:rPr lang="en-US" sz="1800" b="1" baseline="30000" dirty="0">
                <a:sym typeface="Symbol"/>
              </a:rPr>
              <a:t>T</a:t>
            </a:r>
            <a:r>
              <a:rPr lang="en-US" b="1" dirty="0"/>
              <a:t>= [ </a:t>
            </a:r>
            <a:r>
              <a:rPr lang="en-US" b="1" dirty="0">
                <a:solidFill>
                  <a:schemeClr val="tx2"/>
                </a:solidFill>
              </a:rPr>
              <a:t>0.3614   -0.0845    0.8567    0.3583</a:t>
            </a:r>
            <a:r>
              <a:rPr lang="en-US" b="1" dirty="0"/>
              <a:t>]</a:t>
            </a:r>
          </a:p>
          <a:p>
            <a:r>
              <a:rPr lang="en-US" b="1" dirty="0"/>
              <a:t>              c2</a:t>
            </a:r>
            <a:r>
              <a:rPr lang="en-US" sz="1800" b="1" baseline="30000" dirty="0">
                <a:sym typeface="Symbol"/>
              </a:rPr>
              <a:t>T</a:t>
            </a:r>
            <a:r>
              <a:rPr lang="en-US" b="1" dirty="0"/>
              <a:t> = [ </a:t>
            </a:r>
            <a:r>
              <a:rPr lang="en-US" b="1" dirty="0">
                <a:solidFill>
                  <a:schemeClr val="tx2"/>
                </a:solidFill>
              </a:rPr>
              <a:t>0.6566   0.7302   -0.1734   -0.0755</a:t>
            </a:r>
            <a:r>
              <a:rPr lang="en-US" b="1" dirty="0"/>
              <a:t>]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         </a:t>
            </a:r>
            <a:r>
              <a:rPr lang="ru-RU" b="1" dirty="0">
                <a:solidFill>
                  <a:srgbClr val="FF0000"/>
                </a:solidFill>
              </a:rPr>
              <a:t>Первая ГК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ru-RU" b="1" dirty="0">
                <a:solidFill>
                  <a:srgbClr val="7030A0"/>
                </a:solidFill>
              </a:rPr>
              <a:t>все </a:t>
            </a:r>
            <a:r>
              <a:rPr lang="ru-RU" b="1" dirty="0"/>
              <a:t>компоненты с1 должны быть положительны, чтобы ГК1 выражала размер ветка</a:t>
            </a:r>
            <a:r>
              <a:rPr lang="en-US" b="1" dirty="0"/>
              <a:t>. </a:t>
            </a:r>
            <a:r>
              <a:rPr lang="ru-RU" b="1" dirty="0"/>
              <a:t>Но</a:t>
            </a:r>
            <a:r>
              <a:rPr lang="en-US" b="1" dirty="0"/>
              <a:t> c</a:t>
            </a:r>
            <a:r>
              <a:rPr lang="en-US" b="1" baseline="-25000" dirty="0"/>
              <a:t>2</a:t>
            </a:r>
            <a:r>
              <a:rPr lang="ru-RU" b="1" baseline="-25000" dirty="0"/>
              <a:t>1</a:t>
            </a:r>
            <a:r>
              <a:rPr lang="en-US" b="1" dirty="0"/>
              <a:t> </a:t>
            </a:r>
            <a:r>
              <a:rPr lang="ru-RU" b="1" dirty="0"/>
              <a:t>отрицательно, хотя и близко к нулю (нам еще предстоит понять, почему</a:t>
            </a:r>
            <a:r>
              <a:rPr lang="en-US" b="1" dirty="0"/>
              <a:t>), </a:t>
            </a:r>
            <a:r>
              <a:rPr lang="ru-RU" b="1" dirty="0"/>
              <a:t>а</a:t>
            </a:r>
            <a:r>
              <a:rPr lang="en-US" b="1" dirty="0"/>
              <a:t> Petal Length c</a:t>
            </a:r>
            <a:r>
              <a:rPr lang="en-US" b="1" baseline="-25000" dirty="0"/>
              <a:t>3</a:t>
            </a:r>
            <a:r>
              <a:rPr lang="ru-RU" b="1" baseline="-25000" dirty="0"/>
              <a:t>1</a:t>
            </a:r>
            <a:r>
              <a:rPr lang="en-US" b="1" baseline="-25000" dirty="0"/>
              <a:t> </a:t>
            </a:r>
            <a:r>
              <a:rPr lang="ru-RU" b="1" dirty="0"/>
              <a:t>= 0.86 значительно выше остальных</a:t>
            </a:r>
            <a:r>
              <a:rPr lang="en-US" b="1" dirty="0"/>
              <a:t>. </a:t>
            </a:r>
            <a:r>
              <a:rPr lang="ru-RU" b="1" dirty="0"/>
              <a:t>Все-таки, с элементом сомнения, будем говорить о ГК1 как </a:t>
            </a:r>
            <a:r>
              <a:rPr lang="ru-RU" b="1" dirty="0">
                <a:solidFill>
                  <a:srgbClr val="0070C0"/>
                </a:solidFill>
              </a:rPr>
              <a:t>размере.</a:t>
            </a:r>
            <a:r>
              <a:rPr lang="ru-RU" b="1" dirty="0"/>
              <a:t> </a:t>
            </a:r>
            <a:r>
              <a:rPr lang="ru-RU" b="1" dirty="0">
                <a:solidFill>
                  <a:srgbClr val="0070C0"/>
                </a:solidFill>
              </a:rPr>
              <a:t>Таксоны упорядочены по этому фактору</a:t>
            </a:r>
            <a:r>
              <a:rPr lang="en-US" b="1" dirty="0">
                <a:solidFill>
                  <a:srgbClr val="0070C0"/>
                </a:solidFill>
              </a:rPr>
              <a:t>.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ru-RU" b="1" dirty="0">
                <a:solidFill>
                  <a:srgbClr val="FF0000"/>
                </a:solidFill>
              </a:rPr>
              <a:t>Вторая ГК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ru-RU" b="1" dirty="0"/>
              <a:t>Размеры чашелистика</a:t>
            </a:r>
            <a:r>
              <a:rPr lang="en-US" b="1" dirty="0"/>
              <a:t> +, </a:t>
            </a:r>
            <a:r>
              <a:rPr lang="ru-RU" b="1" dirty="0"/>
              <a:t>размеры лепестка</a:t>
            </a:r>
            <a:r>
              <a:rPr lang="en-US" b="1" dirty="0"/>
              <a:t> </a:t>
            </a:r>
            <a:r>
              <a:rPr lang="en-US" b="1" dirty="0">
                <a:sym typeface="Symbol"/>
              </a:rPr>
              <a:t>–</a:t>
            </a:r>
            <a:r>
              <a:rPr lang="ru-RU" b="1" dirty="0">
                <a:sym typeface="Symbol"/>
              </a:rPr>
              <a:t>, хотя и близко к 0</a:t>
            </a:r>
            <a:r>
              <a:rPr lang="en-US" b="1" dirty="0">
                <a:sym typeface="Symbol"/>
              </a:rPr>
              <a:t>. </a:t>
            </a:r>
            <a:r>
              <a:rPr lang="ru-RU" b="1" dirty="0">
                <a:sym typeface="Symbol"/>
              </a:rPr>
              <a:t>С элементом осторожности</a:t>
            </a:r>
            <a:r>
              <a:rPr lang="en-US" b="1" dirty="0">
                <a:sym typeface="Symbol"/>
              </a:rPr>
              <a:t>,</a:t>
            </a:r>
            <a:r>
              <a:rPr lang="ru-RU" b="1" dirty="0">
                <a:sym typeface="Symbol"/>
              </a:rPr>
              <a:t> ГК2 выражает</a:t>
            </a:r>
            <a:r>
              <a:rPr lang="en-US" b="1" dirty="0">
                <a:sym typeface="Symbol"/>
              </a:rPr>
              <a:t> </a:t>
            </a:r>
            <a:r>
              <a:rPr lang="en-US" b="1" dirty="0">
                <a:solidFill>
                  <a:schemeClr val="tx2"/>
                </a:solidFill>
                <a:sym typeface="Symbol"/>
              </a:rPr>
              <a:t>“</a:t>
            </a:r>
            <a:r>
              <a:rPr lang="ru-RU" b="1" dirty="0">
                <a:solidFill>
                  <a:srgbClr val="0070C0"/>
                </a:solidFill>
                <a:sym typeface="Symbol"/>
              </a:rPr>
              <a:t>Размер чашелистика минус размер лепестка</a:t>
            </a:r>
            <a:r>
              <a:rPr lang="en-US" b="1" dirty="0">
                <a:solidFill>
                  <a:schemeClr val="tx2"/>
                </a:solidFill>
                <a:sym typeface="Symbol"/>
              </a:rPr>
              <a:t>”.</a:t>
            </a:r>
            <a:r>
              <a:rPr lang="en-US" b="1" dirty="0">
                <a:sym typeface="Symbol"/>
              </a:rPr>
              <a:t> </a:t>
            </a:r>
            <a:r>
              <a:rPr lang="en-US" dirty="0">
                <a:sym typeface="Symbol"/>
              </a:rPr>
              <a:t> </a:t>
            </a:r>
            <a:r>
              <a:rPr lang="ru-RU" b="1" dirty="0">
                <a:sym typeface="Symbol"/>
              </a:rPr>
              <a:t>ГК2 никакого отношения к таксонам не имеет</a:t>
            </a:r>
            <a:r>
              <a:rPr lang="en-US" b="1" dirty="0">
                <a:sym typeface="Symbol"/>
              </a:rPr>
              <a:t>.</a:t>
            </a:r>
            <a:endParaRPr lang="en-US" b="1" dirty="0"/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729" y="728368"/>
            <a:ext cx="2754306" cy="10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54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008112"/>
          </a:xfrm>
        </p:spPr>
        <p:txBody>
          <a:bodyPr/>
          <a:lstStyle/>
          <a:p>
            <a:r>
              <a:rPr lang="ru-RU" dirty="0"/>
              <a:t>Домашняя работа </a:t>
            </a:r>
            <a:r>
              <a:rPr lang="en-US" dirty="0"/>
              <a:t>2: </a:t>
            </a:r>
            <a:r>
              <a:rPr lang="ru-RU" dirty="0"/>
              <a:t>МГК</a:t>
            </a:r>
            <a:r>
              <a:rPr lang="en-US" dirty="0"/>
              <a:t>/SVD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268760"/>
            <a:ext cx="8640960" cy="5328592"/>
          </a:xfrm>
        </p:spPr>
        <p:txBody>
          <a:bodyPr>
            <a:normAutofit/>
          </a:bodyPr>
          <a:lstStyle/>
          <a:p>
            <a:r>
              <a:rPr lang="ru-RU" b="1" dirty="0"/>
              <a:t>Выберите в Ваших данных</a:t>
            </a:r>
            <a:r>
              <a:rPr lang="en-US" b="1" dirty="0"/>
              <a:t> 3</a:t>
            </a:r>
            <a:r>
              <a:rPr lang="ru-RU" b="1" dirty="0"/>
              <a:t>-</a:t>
            </a:r>
            <a:r>
              <a:rPr lang="en-US" b="1" dirty="0"/>
              <a:t>6 </a:t>
            </a:r>
            <a:r>
              <a:rPr lang="ru-RU" b="1" dirty="0"/>
              <a:t>признаков, более или менее относящихся к одному и тому же аспекту данных;</a:t>
            </a:r>
            <a:r>
              <a:rPr lang="en-US" b="1" dirty="0"/>
              <a:t> </a:t>
            </a:r>
            <a:r>
              <a:rPr lang="ru-RU" b="1" dirty="0"/>
              <a:t>откомментируйте</a:t>
            </a:r>
            <a:r>
              <a:rPr lang="en-US" b="1" dirty="0"/>
              <a:t>.</a:t>
            </a:r>
          </a:p>
          <a:p>
            <a:r>
              <a:rPr lang="ru-RU" b="1" dirty="0"/>
              <a:t>Визуализируйте Ваши данные с помощью МГК, основанного на модели, дважды: один раз с использованием стандартизации размахом, второй – путем </a:t>
            </a:r>
            <a:r>
              <a:rPr lang="en-US" b="1" dirty="0"/>
              <a:t>z-scoring. </a:t>
            </a:r>
            <a:endParaRPr lang="ru-RU" b="1" dirty="0"/>
          </a:p>
          <a:p>
            <a:pPr lvl="1"/>
            <a:r>
              <a:rPr lang="ru-RU" b="1" dirty="0"/>
              <a:t>Выберите какую-либо группу объектов, выделите ее на визуализациях цветом или формой «точек» и прокомментируйте результат</a:t>
            </a:r>
            <a:r>
              <a:rPr lang="en-US" b="1" dirty="0"/>
              <a:t>.</a:t>
            </a:r>
            <a:endParaRPr lang="ru-RU" b="1" dirty="0"/>
          </a:p>
          <a:p>
            <a:pPr lvl="1"/>
            <a:r>
              <a:rPr lang="en-US" b="1" dirty="0"/>
              <a:t> </a:t>
            </a:r>
            <a:r>
              <a:rPr lang="ru-RU" b="1" dirty="0"/>
              <a:t>Оцените вклад полученных решений в квадратичный разброс данных.</a:t>
            </a:r>
            <a:endParaRPr lang="en-US" b="1" dirty="0"/>
          </a:p>
          <a:p>
            <a:r>
              <a:rPr lang="ru-RU" b="1" dirty="0"/>
              <a:t>Примените традиционный метод МГК для визуализации и убедитесь, что получено то же самое, что и выше. Если нет – объясните, в чем дело. </a:t>
            </a:r>
          </a:p>
          <a:p>
            <a:r>
              <a:rPr lang="ru-RU" b="1" dirty="0"/>
              <a:t>Откомментируйте возможности интерпретации главных компонент, использованных для визуализации.</a:t>
            </a:r>
            <a:endParaRPr lang="en-US" b="1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647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A693B-D9C8-4634-B8F2-57FB1BB0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936" y="147338"/>
            <a:ext cx="6268968" cy="640445"/>
          </a:xfrm>
        </p:spPr>
        <p:txBody>
          <a:bodyPr/>
          <a:lstStyle/>
          <a:p>
            <a:r>
              <a:rPr lang="ru-RU" dirty="0"/>
              <a:t>Основные понятия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CF0BEF-E1AD-4166-9979-6F30D0F9F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219" y="1377495"/>
            <a:ext cx="7920880" cy="5123439"/>
          </a:xfrm>
        </p:spPr>
        <p:txBody>
          <a:bodyPr>
            <a:normAutofit/>
          </a:bodyPr>
          <a:lstStyle/>
          <a:p>
            <a:r>
              <a:rPr lang="ru-RU" b="1" dirty="0"/>
              <a:t>Главная компонента</a:t>
            </a:r>
            <a:r>
              <a:rPr lang="en-US" b="1" dirty="0"/>
              <a:t>/Principal component</a:t>
            </a:r>
            <a:endParaRPr lang="ru-RU" b="1" dirty="0"/>
          </a:p>
          <a:p>
            <a:r>
              <a:rPr lang="ru-RU" b="1" dirty="0"/>
              <a:t>Факторные баллы</a:t>
            </a:r>
            <a:r>
              <a:rPr lang="en-US" b="1" dirty="0"/>
              <a:t>/Factor score</a:t>
            </a:r>
            <a:r>
              <a:rPr lang="ru-RU" b="1" dirty="0"/>
              <a:t>: </a:t>
            </a:r>
            <a:r>
              <a:rPr lang="ru-RU" b="1" dirty="0">
                <a:solidFill>
                  <a:srgbClr val="FF0000"/>
                </a:solidFill>
              </a:rPr>
              <a:t>для визуализации</a:t>
            </a:r>
          </a:p>
          <a:p>
            <a:r>
              <a:rPr lang="ru-RU" b="1" dirty="0"/>
              <a:t>Нагрузки</a:t>
            </a:r>
            <a:r>
              <a:rPr lang="en-US" b="1" dirty="0"/>
              <a:t>/Loadings</a:t>
            </a:r>
            <a:r>
              <a:rPr lang="ru-RU" b="1" dirty="0"/>
              <a:t>: </a:t>
            </a:r>
            <a:r>
              <a:rPr lang="ru-RU" b="1" dirty="0">
                <a:solidFill>
                  <a:srgbClr val="FF0000"/>
                </a:solidFill>
              </a:rPr>
              <a:t>для интерпретации</a:t>
            </a:r>
          </a:p>
          <a:p>
            <a:r>
              <a:rPr lang="ru-RU" b="1" dirty="0"/>
              <a:t>Разброс данных</a:t>
            </a:r>
            <a:r>
              <a:rPr lang="en-US" b="1" dirty="0"/>
              <a:t>/Data scatter</a:t>
            </a:r>
            <a:endParaRPr lang="ru-RU" b="1" dirty="0"/>
          </a:p>
          <a:p>
            <a:r>
              <a:rPr lang="ru-RU" b="1" dirty="0"/>
              <a:t>Вклад компоненты в разброс данных</a:t>
            </a:r>
            <a:r>
              <a:rPr lang="en-US" b="1" dirty="0"/>
              <a:t>/Component’s contribution</a:t>
            </a:r>
          </a:p>
          <a:p>
            <a:r>
              <a:rPr lang="ru-RU" b="1" dirty="0"/>
              <a:t>Сингулярное число и сингулярная тройка матрицы данных</a:t>
            </a:r>
          </a:p>
          <a:p>
            <a:r>
              <a:rPr lang="ru-RU" b="1" dirty="0"/>
              <a:t>Сингулярное разложение</a:t>
            </a:r>
            <a:r>
              <a:rPr lang="en-US" b="1" dirty="0"/>
              <a:t>/SVD</a:t>
            </a:r>
            <a:endParaRPr lang="ru-RU" b="1" dirty="0"/>
          </a:p>
          <a:p>
            <a:r>
              <a:rPr lang="ru-RU" b="1" dirty="0"/>
              <a:t>Традиционный метод главных компонент</a:t>
            </a:r>
            <a:r>
              <a:rPr lang="en-US" b="1" dirty="0"/>
              <a:t>/ Conventional PCA</a:t>
            </a:r>
            <a:endParaRPr lang="ru-RU" b="1" dirty="0"/>
          </a:p>
          <a:p>
            <a:r>
              <a:rPr lang="ru-RU" b="1" dirty="0"/>
              <a:t>Матрица корреляции</a:t>
            </a:r>
            <a:r>
              <a:rPr lang="en-US" b="1" dirty="0"/>
              <a:t>/Correlation matrix</a:t>
            </a:r>
            <a:endParaRPr lang="ru-RU" b="1" dirty="0"/>
          </a:p>
          <a:p>
            <a:r>
              <a:rPr lang="ru-RU" b="1" dirty="0"/>
              <a:t>Спектральное разложение</a:t>
            </a:r>
            <a:r>
              <a:rPr lang="en-US" b="1" dirty="0"/>
              <a:t>/Spectral decomposition</a:t>
            </a:r>
            <a:endParaRPr lang="ru-RU" b="1" dirty="0"/>
          </a:p>
          <a:p>
            <a:r>
              <a:rPr lang="ru-RU" b="1" dirty="0"/>
              <a:t>Стандартизация данных: </a:t>
            </a:r>
            <a:r>
              <a:rPr lang="en-US" b="1" dirty="0"/>
              <a:t>z-scoring</a:t>
            </a:r>
            <a:r>
              <a:rPr lang="ru-RU" b="1" dirty="0"/>
              <a:t>, стандартизация размахом</a:t>
            </a:r>
          </a:p>
          <a:p>
            <a:r>
              <a:rPr lang="ru-RU" b="1" dirty="0"/>
              <a:t>В чем проблема со стандартизацией ранжирования?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9C6780-BD8F-4666-929A-2C5BFBD4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Bac_DA_2026_5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0D849D-8246-434E-B890-A2687109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DDFB-12AC-4EDF-912F-3F233AE9D7E0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19575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34786</TotalTime>
  <Words>5046</Words>
  <Application>Microsoft Office PowerPoint</Application>
  <PresentationFormat>Экран (4:3)</PresentationFormat>
  <Paragraphs>636</Paragraphs>
  <Slides>46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7" baseType="lpstr">
      <vt:lpstr>Aptos ExtraBold</vt:lpstr>
      <vt:lpstr>Arial</vt:lpstr>
      <vt:lpstr>Calibri</vt:lpstr>
      <vt:lpstr>Cambria Math</vt:lpstr>
      <vt:lpstr>Century Gothic</vt:lpstr>
      <vt:lpstr>Symbol</vt:lpstr>
      <vt:lpstr>Times</vt:lpstr>
      <vt:lpstr>Times New Roman</vt:lpstr>
      <vt:lpstr>Wingdings</vt:lpstr>
      <vt:lpstr>Wingdings 3</vt:lpstr>
      <vt:lpstr>Легкий дым</vt:lpstr>
      <vt:lpstr>2026 ОМАД Лекция 5  Анализ Главных Компонент: модель и методы</vt:lpstr>
      <vt:lpstr>Рассмотренные в Лекции 3 понятия</vt:lpstr>
      <vt:lpstr>Рассмотренные в Лекции 4 понятия</vt:lpstr>
      <vt:lpstr>«Города UK West Country» (таблица 45x6), 1                  Задача: визуализировать</vt:lpstr>
      <vt:lpstr>«Города UK West Country» (таблица 45x6), 2 Перед суммаризацией надо данные стандартизовать – привести к единому началу и масштабу</vt:lpstr>
      <vt:lpstr>«Города UK West Country» (таблица 45x6), 3</vt:lpstr>
      <vt:lpstr>«Города UK West Country» (таблица 45x6), 4</vt:lpstr>
      <vt:lpstr>«Города UK West Country» (таблица 45x6), 5</vt:lpstr>
      <vt:lpstr>Визуализировать эти данные:           что это значит?</vt:lpstr>
      <vt:lpstr>Approximation approach, 1</vt:lpstr>
      <vt:lpstr>Approximation approach, 2</vt:lpstr>
      <vt:lpstr>Civilized reformulation</vt:lpstr>
      <vt:lpstr>Civilized formulation and solution, 1</vt:lpstr>
      <vt:lpstr>Civilized formulation and solution, 2</vt:lpstr>
      <vt:lpstr>                  Сингулярные тройки,            связь с задачей о собственных значениях.                    Сингулярное и спектральное                        разложения матриц.                                  (a bit of Maths) </vt:lpstr>
      <vt:lpstr>                     Сингулярная тройка</vt:lpstr>
      <vt:lpstr> Сингулярные значения Y                       и собственные числа A=YTY, </vt:lpstr>
      <vt:lpstr>Сингулярные значения Y                  и собственные числа A, 2</vt:lpstr>
      <vt:lpstr>                 Сингулярные значения и                                собственные числа, 3</vt:lpstr>
      <vt:lpstr>                 Сингулярные значения и                                собственные числа, 4</vt:lpstr>
      <vt:lpstr>      Сингулярное разложение                      Singular value decomposition, 1: SVD</vt:lpstr>
      <vt:lpstr>               Сингулярное разложение                Singular value decomposition, 2: SVD</vt:lpstr>
      <vt:lpstr>          Сингулярное разложение SVD:                      Data Approximation  1</vt:lpstr>
      <vt:lpstr>                 Сингулярное разложение                      SVD: Approximation,  2</vt:lpstr>
      <vt:lpstr>Почему я против использования нормализации ранжирования при визуализации, 1            y_iv=(x_iv-meanv)/stdv - z-scoring                         y_iv=(x_iv-meanv)/(maxv-minv) - нормализация размахом                              y_iv=(x_iv-minv)/(maxv-minv)  - нормализация ранжирования                      (эта нормализация – в scikit-learn XXX)</vt:lpstr>
      <vt:lpstr>Почему я против использования нормализации ранжирования при визуализации, 2 </vt:lpstr>
      <vt:lpstr>Почему я против использования нормализации ранжирования при визуализации, 3 </vt:lpstr>
      <vt:lpstr>           Традиционная формулировка        МГК.         Эквивалентность модельной               формулировке.  </vt:lpstr>
      <vt:lpstr>                  Principal Component Analysis PCA                        Conventional approach, 1                                              </vt:lpstr>
      <vt:lpstr>Principal Component Analysis:                  Mathematics of Conventional approach,1                                              </vt:lpstr>
      <vt:lpstr>Principal Component Analysis:                  Mathematics of Conventional approach,2                                              </vt:lpstr>
      <vt:lpstr>             Principal Component Analysis:                     Conventional approach, 2                                               </vt:lpstr>
      <vt:lpstr>                Principal Component Analysis:                     Conventional approach, 3                                              </vt:lpstr>
      <vt:lpstr>            Principal Component Analysis:                                Conventional approach, 4                                              </vt:lpstr>
      <vt:lpstr>                Principal Component Analysis:                            Conventional approach, 8                                              </vt:lpstr>
      <vt:lpstr>Различия между МГК на основе модели и традиционного                                               </vt:lpstr>
      <vt:lpstr>Визуализация данных с помощью МГК, 1</vt:lpstr>
      <vt:lpstr>Визуализация данных с помощью МГК, 2</vt:lpstr>
      <vt:lpstr>Визуализация данных с помощью МГК, 4</vt:lpstr>
      <vt:lpstr>Визуализация данных с помощью МГК, 4 «Market Towns UK West Country»: PCA</vt:lpstr>
      <vt:lpstr>Визуализация данных с помощью МГК, 5 «Market Towns UK West Country»: PCA, группы</vt:lpstr>
      <vt:lpstr> Визуализация данных с помощью МГК, 6 </vt:lpstr>
      <vt:lpstr>Визуализация данных с помощью МГК, 7 </vt:lpstr>
      <vt:lpstr>  Визуализация данных с помощью МГК, 8 Интерпретация компонет</vt:lpstr>
      <vt:lpstr>Домашняя работа 2: МГК/SVD</vt:lpstr>
      <vt:lpstr>Основные понятия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6. Principal Component Analysis: Mathematics</dc:title>
  <dc:creator>Борис</dc:creator>
  <cp:lastModifiedBy>Boris Mirkin</cp:lastModifiedBy>
  <cp:revision>319</cp:revision>
  <dcterms:created xsi:type="dcterms:W3CDTF">2014-03-15T18:15:50Z</dcterms:created>
  <dcterms:modified xsi:type="dcterms:W3CDTF">2026-09-29T11:04:03Z</dcterms:modified>
</cp:coreProperties>
</file>