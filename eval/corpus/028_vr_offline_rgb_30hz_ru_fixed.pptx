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vla-infrastructure · Isaac Sim 6.1 · RTX 4090 + i7-13700K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robotics-laboratory/vla-infrastructure/blob/feat/vr-demo-admission/docs/experiments/20260924_live_camera_temporal_cost_audit/REPORT.md" TargetMode="External"/><Relationship Id="rId2" Type="http://schemas.openxmlformats.org/officeDocument/2006/relationships/hyperlink" Target="https://github.com/robotics-laboratory/vla-infrastructure/blob/feat/vr-demo-admission/docs/experiments/20260925_record_boundary_tail_reduction/REPORT.md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robotics-laboratory/vla-infrastructure/blob/feat/vr-demo-admission/docs/experiments/20260925_current_record_performance/REPORT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robotics-laboratory/vla-infrastructure/blob/feat/vr-demo-admission/docs/experiments/20260924_live_camera_temporal_cost_audit/REPORT.md" TargetMode="External"/><Relationship Id="rId2" Type="http://schemas.openxmlformats.org/officeDocument/2006/relationships/hyperlink" Target="https://github.com/robotics-laboratory/vla-infrastructure/blob/feat/vr-demo-admission/docs/experiments/20260925_record_boundary_tail_reduction/REPORT.md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robotics-laboratory/vla-infrastructure/blob/feat/vr-demo-admission/docs/experiments/20260924_live_camera_temporal_cost_audit/REPORT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robotics-laboratory/vla-infrastructure/blob/feat/vr-demo-admission/docs/experiments/20260924_live_camera_temporal_cost_audit/REPORT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robotics-laboratory/vla-infrastructure/blob/feat/vr-demo-admission/docs/experiments/20260924_live_camera_temporal_cost_audit/REPORT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https://forums.developer.nvidia.com/t/performance-of-render-product-in-action-graph/322300" TargetMode="External"/><Relationship Id="rId2" Type="http://schemas.openxmlformats.org/officeDocument/2006/relationships/hyperlink" Target="https://docs.isaacsim.omniverse.nvidia.com/latest/reference_material/sim_performance_optimization_handbook.html" TargetMode="External"/><Relationship Id="rId3" Type="http://schemas.openxmlformats.org/officeDocument/2006/relationships/hyperlink" Target="https://docs.isaacsim.omniverse.nvidia.com/latest/replicator_tutorials/tutorial_replicator_object_based_sdg.html" TargetMode="External"/><Relationship Id="rId4" Type="http://schemas.openxmlformats.org/officeDocument/2006/relationships/hyperlink" Target="https://docs.isaacsim.omniverse.nvidia.com/latest/reference_material/benchmarks.html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robotics-laboratory/vla-infrastructure/blob/feat/vr-demo-admission/docs/experiments/20260925_current_v2_v3_rgb_e2e/REPORT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robotics-laboratory/vla-infrastructure/blob/feat/vr-demo-admission/docs/experiments/20260925_offline_rgb_state_alignment/REPORT.md" TargetMode="External"/><Relationship Id="rId2" Type="http://schemas.openxmlformats.org/officeDocument/2006/relationships/hyperlink" Target="https://github.com/robotics-laboratory/vla-infrastructure/blob/feat/vr-demo-admission/docs/experiments/20260925_current_v2_v3_rgb_e2e/REPORT.md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robotics-laboratory/vla-infrastructure/blob/feat/vr-demo-admission/docs/experiments/20260924_master_current_physics_rtf_audit/REPORT.md" TargetMode="External"/><Relationship Id="rId2" Type="http://schemas.openxmlformats.org/officeDocument/2006/relationships/hyperlink" Target="https://github.com/robotics-laboratory/vla-infrastructure/blob/feat/vr-demo-admission/docs/experiments/20260924_live_camera_temporal_cost_audit/REPORT.md" TargetMode="External"/><Relationship Id="rId3" Type="http://schemas.openxmlformats.org/officeDocument/2006/relationships/hyperlink" Target="https://github.com/robotics-laboratory/vla-infrastructure/blob/feat/vr-demo-admission/docs/experiments/20260925_record_boundary_tail_reduction/REPORT.md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hyperlink" Target="https://isaac-sim.github.io/IsaacLab/develop/source/concepts/deformables.html" TargetMode="External"/><Relationship Id="rId2" Type="http://schemas.openxmlformats.org/officeDocument/2006/relationships/hyperlink" Target="https://isaac-sim.github.io/IsaacLab/main/source/tutorials/01_assets/run_deformable_object.html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hyperlink" Target="https://docs.isaacsim.omniverse.nvidia.com/latest/replicator_tutorials/tutorial_replicator_isaac_randomizers.html" TargetMode="External"/><Relationship Id="rId2" Type="http://schemas.openxmlformats.org/officeDocument/2006/relationships/hyperlink" Target="https://isaac-sim.github.io/IsaacLab/main/source/api/lab_mimic/isaaclab_mimic.datagen.html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robotics-laboratory/vla-infrastructure/blob/feat/vr-demo-admission/docs/experiments/20260925_record_boundary_tail_reduction/REPORT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robotics-laboratory/vla-infrastructure/blob/feat/vr-demo-admission/docs/experiments/20260924_live_camera_temporal_cost_audit/REPORT.md" TargetMode="External"/><Relationship Id="rId2" Type="http://schemas.openxmlformats.org/officeDocument/2006/relationships/hyperlink" Target="https://github.com/robotics-laboratory/vla-infrastructure/blob/feat/vr-demo-admission/docs/experiments/20260925_current_record_performance/REPORT.md" TargetMode="External"/><Relationship Id="rId3" Type="http://schemas.openxmlformats.org/officeDocument/2006/relationships/hyperlink" Target="https://github.com/robotics-laboratory/vla-infrastructure/blob/feat/vr-demo-admission/docs/experiments/20260925_record_boundary_tail_reduction/REPORT.md" TargetMode="External"/><Relationship Id="rId4" Type="http://schemas.openxmlformats.org/officeDocument/2006/relationships/hyperlink" Target="https://github.com/robotics-laboratory/vla-infrastructure/blob/feat/vr-demo-admission/docs/experiments/20260925_offline_rgb_state_alignment/REPORT.md" TargetMode="External"/><Relationship Id="rId5" Type="http://schemas.openxmlformats.org/officeDocument/2006/relationships/hyperlink" Target="https://github.com/robotics-laboratory/vla-infrastructure/blob/feat/vr-demo-admission/docs/experiments/20260925_current_v2_v3_rgb_e2e/REPORT.md" TargetMode="External"/><Relationship Id="rId6" Type="http://schemas.openxmlformats.org/officeDocument/2006/relationships/hyperlink" Target="https://github.com/robotics-laboratory/vla-infrastructure/blob/feat/vr-demo-admission/docs/experiments/20260924_master_current_physics_rtf_audit/REPORT.md" TargetMode="External"/><Relationship Id="rId7" Type="http://schemas.openxmlformats.org/officeDocument/2006/relationships/hyperlink" Target="https://docs.isaacsim.omniverse.nvidia.com/latest/reference_material/sim_performance_optimization_handbook.html" TargetMode="External"/><Relationship Id="rId8" Type="http://schemas.openxmlformats.org/officeDocument/2006/relationships/hyperlink" Target="https://docs.isaacsim.omniverse.nvidia.com/latest/reference_material/benchmarks.html" TargetMode="External"/><Relationship Id="rId9" Type="http://schemas.openxmlformats.org/officeDocument/2006/relationships/hyperlink" Target="https://docs.isaacsim.omniverse.nvidia.com/latest/replicator_tutorials/tutorial_replicator_object_based_sdg.html" TargetMode="External"/><Relationship Id="rId10" Type="http://schemas.openxmlformats.org/officeDocument/2006/relationships/hyperlink" Target="https://forums.developer.nvidia.com/t/performance-of-render-product-in-action-graph/322300" TargetMode="External"/><Relationship Id="rId11" Type="http://schemas.openxmlformats.org/officeDocument/2006/relationships/hyperlink" Target="https://isaac-sim.github.io/IsaacLab/develop/source/concepts/deformables.html" TargetMode="External"/><Relationship Id="rId12" Type="http://schemas.openxmlformats.org/officeDocument/2006/relationships/hyperlink" Target="https://isaac-sim.github.io/IsaacLab/main/source/api/lab_mimic/isaaclab_mimic.datagen.html" TargetMode="External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515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Гц записи VR-демонстраций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Isaac Sim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94944" y="2514600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live RGB ломает realtime-бюджет и почему state-first + offline render — практичнее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94944" y="3429000"/>
            <a:ext cx="260604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0160">
            <a:solidFill>
              <a:srgbClr val="38BDF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68096" y="3474720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feat/vr-demo-admission · 63c6db1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456432" y="3429000"/>
            <a:ext cx="2011680" cy="292608"/>
          </a:xfrm>
          <a:prstGeom prst="roundRect">
            <a:avLst/>
          </a:prstGeom>
          <a:solidFill>
            <a:srgbClr val="A78BFA">
              <a:alpha val="18000"/>
            </a:srgbClr>
          </a:solidFill>
          <a:ln w="10160">
            <a:solidFill>
              <a:srgbClr val="A78BFA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29584" y="3474720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640×480 RGB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23560" y="3429000"/>
            <a:ext cx="1965960" cy="292608"/>
          </a:xfrm>
          <a:prstGeom prst="roundRect">
            <a:avLst/>
          </a:prstGeom>
          <a:solidFill>
            <a:srgbClr val="34D399">
              <a:alpha val="18000"/>
            </a:srgbClr>
          </a:solidFill>
          <a:ln w="10160">
            <a:solidFill>
              <a:srgbClr val="34D399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96712" y="3474720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стабильные 30 Гц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32520" y="1133856"/>
            <a:ext cx="2423160" cy="1298448"/>
          </a:xfrm>
          <a:prstGeom prst="roundRect">
            <a:avLst>
              <a:gd name="adj" fmla="val 5634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773668" y="1207008"/>
            <a:ext cx="50292" cy="115214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942832" y="1289304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19,6 Гц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942832" y="1728216"/>
            <a:ext cx="211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 b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самый быстрый проверенный live RGB с корректными кадрами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8942832" y="2203704"/>
            <a:ext cx="2112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tiled, no-client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732520" y="2633472"/>
            <a:ext cx="2423160" cy="1298448"/>
          </a:xfrm>
          <a:prstGeom prst="roundRect">
            <a:avLst>
              <a:gd name="adj" fmla="val 5634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773668" y="2706624"/>
            <a:ext cx="50292" cy="115214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42832" y="278892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37,5 Гц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942832" y="3227832"/>
            <a:ext cx="211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 b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no-client RECORD без dataset-камер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8942832" y="3703320"/>
            <a:ext cx="2112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26,68 мс / control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732520" y="4133088"/>
            <a:ext cx="2423160" cy="1298448"/>
          </a:xfrm>
          <a:prstGeom prst="roundRect">
            <a:avLst>
              <a:gd name="adj" fmla="val 5634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773668" y="4206240"/>
            <a:ext cx="50292" cy="11521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42832" y="428853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27,6 Гц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942832" y="4727448"/>
            <a:ext cx="211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 b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ручной Quest-прогон без live dataset RGB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8942832" y="5202936"/>
            <a:ext cx="2112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36,22 мс; p95 41,21 мс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694944" y="5376672"/>
            <a:ext cx="7498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7F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актуализированы по внутренним performance-аудитам 24–26.09.2026. Все цифры относятся к RTX 4090 + i7-13700K + ~32 ГБ RAM, если не указано иное.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Коротко: проблема не в HDF, а в рендере и синхронизации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Стабильные 30 Гц = 33,33 мс на полный control tick — с запасом на хвосты.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35508" y="1490472"/>
            <a:ext cx="50292" cy="115214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57276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+10,46 мс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04672" y="2011680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 b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текущего live RGB path относительно camera-off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04672" y="2487168"/>
            <a:ext cx="23408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40,07 → 29,61 мс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456432" y="141732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497580" y="1490472"/>
            <a:ext cx="50292" cy="11521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66744" y="157276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+21,38 мс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666744" y="2011680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 b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самого быстрого корректного live RGB над camera-off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3666744" y="2487168"/>
            <a:ext cx="23408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50,97 → 29,60 мс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318504" y="141732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59652" y="1490472"/>
            <a:ext cx="50292" cy="115214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28816" y="157276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1,74 мс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528816" y="2011680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 b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commit + запись в текущем physical Quest RECORD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6528816" y="2487168"/>
            <a:ext cx="23408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есть writer не главный bottleneck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180576" y="1417320"/>
            <a:ext cx="2423160" cy="1298448"/>
          </a:xfrm>
          <a:prstGeom prst="roundRect">
            <a:avLst>
              <a:gd name="adj" fmla="val 5634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221724" y="1490472"/>
            <a:ext cx="50292" cy="11521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90888" y="157276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physics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390888" y="2011680"/>
            <a:ext cx="211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 b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replay рендерит кадры без физического шага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9390888" y="2487168"/>
            <a:ext cx="2112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 в E2E assay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94360" y="3063240"/>
            <a:ext cx="3657600" cy="2423160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17220" y="3118104"/>
            <a:ext cx="50292" cy="23134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77240" y="3227832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ломает live RGB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77240" y="3611880"/>
            <a:ext cx="3364992" cy="1609344"/>
          </a:xfrm>
          <a:prstGeom prst="rect">
            <a:avLst/>
          </a:prstGeom>
          <a:noFill/>
          <a:ln/>
        </p:spPr>
        <p:txBody>
          <a:bodyPr wrap="square" lIns="9144" tIns="18288" rIns="9144" bIns="18288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RenderProducts + RTX/Hydra scheduling + Camera.update/annotator extraction + синхронизация + D2H-копия. Быстрый FFFT путь ещё и выдавал N−1, то есть прошлое состояние сцены.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53128" y="3063240"/>
            <a:ext cx="3474720" cy="2423160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475988" y="3118104"/>
            <a:ext cx="50292" cy="2313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636008" y="322783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делаем вместо этого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636008" y="3611880"/>
            <a:ext cx="3182112" cy="1609344"/>
          </a:xfrm>
          <a:prstGeom prst="rect">
            <a:avLst/>
          </a:prstGeom>
          <a:noFill/>
          <a:ln/>
        </p:spPr>
        <p:txBody>
          <a:bodyPr wrap="square" lIns="9144" tIns="18288" rIns="9144" bIns="18288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 время телеоперации сохраняем состояния, действия, camera pose/intrinsics, идентичность сцены и причинные связи. RGB материализуем после записи из конкретного snapshot.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29016" y="3063240"/>
            <a:ext cx="3474720" cy="2423160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151876" y="3118104"/>
            <a:ext cx="50292" cy="2313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311896" y="322783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осталось после камер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311896" y="3611880"/>
            <a:ext cx="3182112" cy="1609344"/>
          </a:xfrm>
          <a:prstGeom prst="rect">
            <a:avLst/>
          </a:prstGeom>
          <a:noFill/>
          <a:ln/>
        </p:spPr>
        <p:txBody>
          <a:bodyPr wrap="square" lIns="9144" tIns="18288" rIns="9144" bIns="18288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Физический Quest-прогон всё ещё ~27,6 Гц. До среднего 30 Гц не хватает ~2,9 мс, до p95 — ~7,9 мс. Дальше профилируем XR → processor → IK → apply → sim.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76072" y="62544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1271016" y="625449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Live-camera audit · 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2569464" y="6254496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Boundary/runtime audit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Как проходит один записываемый control tick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30 Гц поверх физики 120 Гц: 4 интеграции на одно управляющее решение.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261872" cy="1234440"/>
          </a:xfrm>
          <a:prstGeom prst="roundRect">
            <a:avLst/>
          </a:prstGeom>
          <a:solidFill>
            <a:srgbClr val="11182A"/>
          </a:solidFill>
          <a:ln w="1905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22128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XR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" y="259689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9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/ CloudXR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1783080" y="2633472"/>
            <a:ext cx="201168" cy="0"/>
          </a:xfrm>
          <a:prstGeom prst="line">
            <a:avLst/>
          </a:prstGeom>
          <a:noFill/>
          <a:ln w="19050">
            <a:solidFill>
              <a:srgbClr val="5E718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057400" y="2011680"/>
            <a:ext cx="1261872" cy="1234440"/>
          </a:xfrm>
          <a:prstGeom prst="roundRect">
            <a:avLst/>
          </a:prstGeom>
          <a:solidFill>
            <a:srgbClr val="11182A"/>
          </a:solidFill>
          <a:ln w="1905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148840" y="22128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67128" y="259689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9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pose</a:t>
            </a:r>
            <a:endParaRPr lang="en-US" sz="880" dirty="0"/>
          </a:p>
          <a:p>
            <a:pPr algn="ctr" indent="0" marL="0">
              <a:buNone/>
            </a:pPr>
            <a:r>
              <a:rPr lang="en-US" sz="1019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clutch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337560" y="2633472"/>
            <a:ext cx="201168" cy="0"/>
          </a:xfrm>
          <a:prstGeom prst="line">
            <a:avLst/>
          </a:prstGeom>
          <a:noFill/>
          <a:ln w="19050">
            <a:solidFill>
              <a:srgbClr val="5E718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11880" y="2011680"/>
            <a:ext cx="1261872" cy="1234440"/>
          </a:xfrm>
          <a:prstGeom prst="roundRect">
            <a:avLst/>
          </a:prstGeom>
          <a:solidFill>
            <a:srgbClr val="11182A"/>
          </a:solidFill>
          <a:ln w="1905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03320" y="22128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Diff. IK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21608" y="259689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9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руки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892040" y="2633472"/>
            <a:ext cx="201168" cy="0"/>
          </a:xfrm>
          <a:prstGeom prst="line">
            <a:avLst/>
          </a:prstGeom>
          <a:noFill/>
          <a:ln w="19050">
            <a:solidFill>
              <a:srgbClr val="5E718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166360" y="2011680"/>
            <a:ext cx="1261872" cy="1234440"/>
          </a:xfrm>
          <a:prstGeom prst="roundRect">
            <a:avLst/>
          </a:prstGeom>
          <a:solidFill>
            <a:srgbClr val="11182A"/>
          </a:solidFill>
          <a:ln w="19050">
            <a:solidFill>
              <a:srgbClr val="60A5F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57800" y="22128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76088" y="259689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9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targets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446520" y="2633472"/>
            <a:ext cx="448056" cy="0"/>
          </a:xfrm>
          <a:prstGeom prst="line">
            <a:avLst/>
          </a:prstGeom>
          <a:noFill/>
          <a:ln w="19050">
            <a:solidFill>
              <a:srgbClr val="5E718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967728" y="2011680"/>
            <a:ext cx="1261872" cy="1234440"/>
          </a:xfrm>
          <a:prstGeom prst="roundRect">
            <a:avLst/>
          </a:prstGeom>
          <a:solidFill>
            <a:srgbClr val="11182A"/>
          </a:solidFill>
          <a:ln w="1905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059168" y="22128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PhysX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77456" y="259689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9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F,F,F,T</a:t>
            </a:r>
            <a:endParaRPr lang="en-US" sz="880" dirty="0"/>
          </a:p>
          <a:p>
            <a:pPr algn="ctr" indent="0" marL="0">
              <a:buNone/>
            </a:pPr>
            <a:r>
              <a:rPr lang="en-US" sz="1019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1/120 с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247888" y="2633472"/>
            <a:ext cx="320040" cy="0"/>
          </a:xfrm>
          <a:prstGeom prst="line">
            <a:avLst/>
          </a:prstGeom>
          <a:noFill/>
          <a:ln w="19050">
            <a:solidFill>
              <a:srgbClr val="5E718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641080" y="2011680"/>
            <a:ext cx="1261872" cy="1234440"/>
          </a:xfrm>
          <a:prstGeom prst="roundRect">
            <a:avLst/>
          </a:prstGeom>
          <a:solidFill>
            <a:srgbClr val="11182A"/>
          </a:solidFill>
          <a:ln w="1905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732520" y="22128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50808" y="259689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9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Oₜ₊₁ + digest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9921240" y="2633472"/>
            <a:ext cx="201168" cy="0"/>
          </a:xfrm>
          <a:prstGeom prst="line">
            <a:avLst/>
          </a:prstGeom>
          <a:noFill/>
          <a:ln w="19050">
            <a:solidFill>
              <a:srgbClr val="5E718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195560" y="2011680"/>
            <a:ext cx="1261872" cy="1234440"/>
          </a:xfrm>
          <a:prstGeom prst="roundRect">
            <a:avLst/>
          </a:prstGeom>
          <a:solidFill>
            <a:srgbClr val="11182A"/>
          </a:solidFill>
          <a:ln w="1905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287000" y="22128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 row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05288" y="259689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9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Oₜ, Aₜ, Oₜ₊₁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212080" y="3913632"/>
            <a:ext cx="3337560" cy="1234440"/>
          </a:xfrm>
          <a:prstGeom prst="roundRect">
            <a:avLst/>
          </a:prstGeom>
          <a:solidFill>
            <a:srgbClr val="101B2C"/>
          </a:solidFill>
          <a:ln w="1524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394960" y="40965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RGB ветка (проблемная)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394960" y="4462272"/>
            <a:ext cx="2743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RenderProduct → RTX/Hydra → annotator → Camera.update → sync → GPU→CPU → owned RGB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6967728" y="3246120"/>
            <a:ext cx="0" cy="640080"/>
          </a:xfrm>
          <a:prstGeom prst="line">
            <a:avLst/>
          </a:prstGeom>
          <a:noFill/>
          <a:ln w="1778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58368" y="5440680"/>
            <a:ext cx="106984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RECORD: dataset RenderProducts выключены, RGB рендерится потом. XR viewport для оператора остаётся.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76072" y="62544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1271016" y="625449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Current RECORD performance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Где именно камеры съедают realtime-бюджет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Гц оставляют 33,33 мс на всё: input, IK, physics, render, snapshot и запись.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49808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одного control tick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920240"/>
            <a:ext cx="10698480" cy="50292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2B385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1920240"/>
            <a:ext cx="12838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62646" y="1920240"/>
            <a:ext cx="263185" cy="502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25832" y="1920240"/>
            <a:ext cx="7218337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53264" y="2066544"/>
            <a:ext cx="71634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8244168" y="1920240"/>
            <a:ext cx="4557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99928" y="1920240"/>
            <a:ext cx="555257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727360" y="2066544"/>
            <a:ext cx="5003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1471148" y="1810512"/>
            <a:ext cx="50292" cy="722376"/>
          </a:xfrm>
          <a:prstGeom prst="line">
            <a:avLst/>
          </a:prstGeom>
          <a:noFill/>
          <a:ln w="2794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789920" y="14996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33,33 мс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17825" y="2596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≈26,5 мс no-client off-camera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9255185" y="2578608"/>
            <a:ext cx="0" cy="548640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3291840"/>
            <a:ext cx="3520440" cy="1965960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72668" y="3346704"/>
            <a:ext cx="50292" cy="1856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" y="345643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Камеры OFF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32688" y="3858768"/>
            <a:ext cx="3227832" cy="1252728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Поздний no-client RECORD: 26,68 мс mean, p95 29,45, p99 32,43. По среднему есть запас до 30 Гц.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62272" y="3291840"/>
            <a:ext cx="3520440" cy="1965960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485132" y="3346704"/>
            <a:ext cx="50292" cy="1856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645152" y="345643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live RGB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45152" y="3858768"/>
            <a:ext cx="3227832" cy="1252728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40,07 мс mean даже без preview. Это ~25 Гц и уже −6,74 мс относительно бюджета.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74736" y="3291840"/>
            <a:ext cx="3246120" cy="1965960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197596" y="3346704"/>
            <a:ext cx="50292" cy="1856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357616" y="3456432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Корректный live RGB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357616" y="3858768"/>
            <a:ext cx="2953512" cy="1252728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Самый быстрый проверенный correct path: 50,97 мс = 19,62 Гц. То есть correctness делает live ещё дороже.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76072" y="62544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1271016" y="625449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Live-camera cost audit · 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2843784" y="625449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Tail reduction audit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Проблема в цифрах: live RGB не помещается в 33,33 мс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640×480 камеры, XR composition активна, preview выключены.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167128" y="5193792"/>
            <a:ext cx="5632704" cy="0"/>
          </a:xfrm>
          <a:prstGeom prst="line">
            <a:avLst/>
          </a:prstGeom>
          <a:noFill/>
          <a:ln w="8890">
            <a:solidFill>
              <a:srgbClr val="24314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773936" y="51114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8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167128" y="4306824"/>
            <a:ext cx="5632704" cy="0"/>
          </a:xfrm>
          <a:prstGeom prst="line">
            <a:avLst/>
          </a:prstGeom>
          <a:noFill/>
          <a:ln w="8890">
            <a:solidFill>
              <a:srgbClr val="24314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773936" y="4224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8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67128" y="3419856"/>
            <a:ext cx="5632704" cy="0"/>
          </a:xfrm>
          <a:prstGeom prst="line">
            <a:avLst/>
          </a:prstGeom>
          <a:noFill/>
          <a:ln w="8890">
            <a:solidFill>
              <a:srgbClr val="24314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773936" y="33375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8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67128" y="2532888"/>
            <a:ext cx="5632704" cy="0"/>
          </a:xfrm>
          <a:prstGeom prst="line">
            <a:avLst/>
          </a:prstGeom>
          <a:noFill/>
          <a:ln w="8890">
            <a:solidFill>
              <a:srgbClr val="24314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73936" y="24505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8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67128" y="1645920"/>
            <a:ext cx="5632704" cy="0"/>
          </a:xfrm>
          <a:prstGeom prst="line">
            <a:avLst/>
          </a:prstGeom>
          <a:noFill/>
          <a:ln w="8890">
            <a:solidFill>
              <a:srgbClr val="24314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773936" y="156362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8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67128" y="3043588"/>
            <a:ext cx="5632704" cy="0"/>
          </a:xfrm>
          <a:prstGeom prst="line">
            <a:avLst/>
          </a:prstGeom>
          <a:noFill/>
          <a:ln w="2032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85432" y="28241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33,33 мс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19502" y="3284005"/>
            <a:ext cx="621792" cy="1909787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254910" y="3027973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29.6 мс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26894" y="525780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</a:t>
            </a:r>
            <a:endParaRPr lang="en-US" sz="860" dirty="0"/>
          </a:p>
          <a:p>
            <a:pPr algn="ctr" indent="0" marL="0">
              <a:buNone/>
            </a:pPr>
            <a:r>
              <a:rPr lang="en-US" sz="9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камеры OFF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3546043" y="3002691"/>
            <a:ext cx="621792" cy="2191101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381451" y="2746659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34.0 мс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53435" y="525780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860" dirty="0"/>
          </a:p>
          <a:p>
            <a:pPr algn="ctr" indent="0" marL="0">
              <a:buNone/>
            </a:pPr>
            <a:r>
              <a:rPr lang="en-US" sz="9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ON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672584" y="2671771"/>
            <a:ext cx="621792" cy="2522021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07992" y="2415739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39.1 мс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79976" y="525780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860" dirty="0"/>
          </a:p>
          <a:p>
            <a:pPr algn="ctr" indent="0" marL="0">
              <a:buNone/>
            </a:pPr>
            <a:r>
              <a:rPr lang="en-US" sz="9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extraction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799125" y="2609070"/>
            <a:ext cx="621792" cy="2584722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634533" y="2353038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40.1 мс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06517" y="525780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860" dirty="0"/>
          </a:p>
          <a:p>
            <a:pPr algn="ctr" indent="0" marL="0">
              <a:buNone/>
            </a:pPr>
            <a:r>
              <a:rPr lang="en-US" sz="9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owned RGB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925666" y="1905753"/>
            <a:ext cx="621792" cy="3288039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761074" y="1649721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51.0 мс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33058" y="525780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tiled</a:t>
            </a:r>
            <a:endParaRPr lang="en-US" sz="860" dirty="0"/>
          </a:p>
          <a:p>
            <a:pPr algn="ctr" indent="0" marL="0">
              <a:buNone/>
            </a:pPr>
            <a:r>
              <a:rPr lang="en-US" sz="9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RGB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8275320" y="1645920"/>
            <a:ext cx="3246120" cy="1325880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298180" y="1700784"/>
            <a:ext cx="50292" cy="12161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458200" y="1810512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важно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458200" y="2212848"/>
            <a:ext cx="295351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уже медленный, но ещё и временно неверный: кадры соответствуют N−1.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75320" y="3172968"/>
            <a:ext cx="3246120" cy="1225296"/>
          </a:xfrm>
          <a:prstGeom prst="roundRect">
            <a:avLst>
              <a:gd name="adj" fmla="val 6250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316468" y="3246120"/>
            <a:ext cx="50292" cy="102412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485632" y="3328416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+10,46 мс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8485632" y="3767328"/>
            <a:ext cx="2935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90">
                <a:solidFill>
                  <a:srgbClr val="A9B3C9"/>
                </a:solidFill>
                <a:latin typeface="Arial"/>
              </a:rPr>
              <a:t>C3 − C0: маржинальная стоимость текущего live RGB</a:t>
            </a:r>
          </a:p>
        </p:txBody>
      </p:sp>
      <p:sp>
        <p:nvSpPr>
          <p:cNvPr id="39" name="Text 37"/>
          <p:cNvSpPr/>
          <p:nvPr/>
        </p:nvSpPr>
        <p:spPr>
          <a:xfrm>
            <a:off x="8485632" y="4169664"/>
            <a:ext cx="2935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к wall time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8275320" y="4544568"/>
            <a:ext cx="3246120" cy="1225296"/>
          </a:xfrm>
          <a:prstGeom prst="roundRect">
            <a:avLst>
              <a:gd name="adj" fmla="val 6250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316468" y="4617720"/>
            <a:ext cx="5029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485632" y="4700016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+21,38 мс</a:t>
            </a:r>
            <a:endParaRPr lang="en-US" sz="2500" dirty="0"/>
          </a:p>
        </p:txBody>
      </p:sp>
      <p:sp>
        <p:nvSpPr>
          <p:cNvPr id="43" name="Text 41"/>
          <p:cNvSpPr/>
          <p:nvPr/>
        </p:nvSpPr>
        <p:spPr>
          <a:xfrm>
            <a:off x="8485632" y="5138928"/>
            <a:ext cx="2935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90">
                <a:solidFill>
                  <a:srgbClr val="A9B3C9"/>
                </a:solidFill>
                <a:latin typeface="Arial"/>
              </a:rPr>
              <a:t>Correct Prime tiled − camera-off baseline</a:t>
            </a:r>
          </a:p>
        </p:txBody>
      </p:sp>
      <p:sp>
        <p:nvSpPr>
          <p:cNvPr id="44" name="Text 42"/>
          <p:cNvSpPr/>
          <p:nvPr/>
        </p:nvSpPr>
        <p:spPr>
          <a:xfrm>
            <a:off x="8485632" y="5541264"/>
            <a:ext cx="2935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19,62 Гц против 33,79 Гц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704088" y="5733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Replicator correct capture: 99,01 мс / control (10,10 Гц) — в график не влезает без убийства масштаба.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576072" y="62544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1271016" y="62544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Live-camera temporal &amp; cost audit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Из чего складываются +10,46 мс live RGB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Маржинальный waterfall показывает не только RTX, но и extraction/sync/ownership.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124712" y="4193653"/>
            <a:ext cx="1078992" cy="161278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4984" y="3919333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+4.362 мс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23544" y="587959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9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RenderProducts +</a:t>
            </a:r>
            <a:endParaRPr lang="en-US" sz="890" dirty="0"/>
          </a:p>
          <a:p>
            <a:pPr algn="ctr" indent="0" marL="0">
              <a:buNone/>
            </a:pPr>
            <a:r>
              <a:rPr lang="en-US" sz="1019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AOV/annotators</a:t>
            </a:r>
            <a:endParaRPr lang="en-US" sz="890" dirty="0"/>
          </a:p>
        </p:txBody>
      </p:sp>
      <p:sp>
        <p:nvSpPr>
          <p:cNvPr id="7" name="Shape 5"/>
          <p:cNvSpPr/>
          <p:nvPr/>
        </p:nvSpPr>
        <p:spPr>
          <a:xfrm>
            <a:off x="2999232" y="2297279"/>
            <a:ext cx="1078992" cy="189637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231136" y="4193653"/>
            <a:ext cx="768096" cy="0"/>
          </a:xfrm>
          <a:prstGeom prst="line">
            <a:avLst/>
          </a:prstGeom>
          <a:noFill/>
          <a:ln w="12700">
            <a:solidFill>
              <a:srgbClr val="6C789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89504" y="2022959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+5.129 мс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98064" y="587959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9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+</a:t>
            </a:r>
            <a:endParaRPr lang="en-US" sz="890" dirty="0"/>
          </a:p>
          <a:p>
            <a:pPr algn="ctr" indent="0" marL="0">
              <a:buNone/>
            </a:pPr>
            <a:r>
              <a:rPr lang="en-US" sz="1019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synchronization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4873752" y="1937896"/>
            <a:ext cx="1078992" cy="359383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105656" y="2297279"/>
            <a:ext cx="768096" cy="0"/>
          </a:xfrm>
          <a:prstGeom prst="line">
            <a:avLst/>
          </a:prstGeom>
          <a:noFill/>
          <a:ln w="12700">
            <a:solidFill>
              <a:srgbClr val="6C789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64024" y="166357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+0.972 мс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72584" y="587959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9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D2H + owned</a:t>
            </a:r>
            <a:endParaRPr lang="en-US" sz="890" dirty="0"/>
          </a:p>
          <a:p>
            <a:pPr algn="ctr" indent="0" marL="0">
              <a:buNone/>
            </a:pPr>
            <a:r>
              <a:rPr lang="en-US" sz="1019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+ validation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6766560" y="1937896"/>
            <a:ext cx="1078992" cy="3868544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56832" y="166357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10.463 мс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29400" y="58795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9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</a:t>
            </a:r>
            <a:endParaRPr lang="en-US" sz="900" dirty="0"/>
          </a:p>
          <a:p>
            <a:pPr algn="ctr" indent="0" marL="0">
              <a:buNone/>
            </a:pPr>
            <a:r>
              <a:rPr lang="en-US" sz="1019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камера path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09560" y="1536192"/>
            <a:ext cx="3611880" cy="2743200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932420" y="1591056"/>
            <a:ext cx="50292" cy="2633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92440" y="1700784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C3 (nested scopes)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092440" y="2103120"/>
            <a:ext cx="3319272" cy="2029968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render_app: 11,93 мс</a:t>
            </a:r>
            <a:endParaRPr lang="en-US" sz="1050" dirty="0"/>
          </a:p>
          <a:p>
            <a:pPr indent="0" marL="0">
              <a:buNone/>
            </a:pPr>
            <a:r>
              <a:rPr lang="en-US" sz="119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kit_visualizer pump: 11,11 мс</a:t>
            </a:r>
            <a:endParaRPr lang="en-US" sz="1050" dirty="0"/>
          </a:p>
          <a:p>
            <a:pPr indent="0" marL="0">
              <a:buNone/>
            </a:pPr>
            <a:r>
              <a:rPr lang="en-US" sz="119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extraction: 5,15 мс</a:t>
            </a:r>
            <a:endParaRPr lang="en-US" sz="1050" dirty="0"/>
          </a:p>
          <a:p>
            <a:pPr indent="0" marL="0">
              <a:buNone/>
            </a:pPr>
            <a:r>
              <a:rPr lang="en-US" sz="119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GPU→host: 0,48 мс</a:t>
            </a:r>
            <a:endParaRPr lang="en-US" sz="1050" dirty="0"/>
          </a:p>
          <a:p>
            <a:pPr indent="0" marL="0">
              <a:buNone/>
            </a:pPr>
            <a:r>
              <a:rPr lang="en-US" sz="119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ownership: 0,18 мс</a:t>
            </a:r>
            <a:endParaRPr lang="en-US" sz="1050" dirty="0"/>
          </a:p>
          <a:p>
            <a:pPr indent="0" marL="0">
              <a:buNone/>
            </a:pPr>
            <a:r>
              <a:rPr lang="en-US" sz="119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 append: 0,23 мс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10728" y="4498848"/>
            <a:ext cx="32004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Важно: эти таймеры вложенные и НЕ суммируются. Камерный overhead — это +10,463 мс из matched C3−C0.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576072" y="62544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1271016" y="625449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Live-camera cost decomposition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Неприятный бонус: быстрый live RGB был ещё и N−1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Нельзя «починить FPS», просто приняв быстрый путь: он изображает предыдущее состояние.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76072" y="62544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1271016" y="625449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Temporal correctness matrix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9808" y="1335024"/>
            <a:ext cx="365760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20" b="1">
                <a:solidFill>
                  <a:srgbClr val="F2F4FB"/>
                </a:solidFill>
                <a:latin typeface="Arial"/>
              </a:rPr>
              <a:t>Latency одного control tick, мс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5266944"/>
            <a:ext cx="6080760" cy="9144"/>
          </a:xfrm>
          <a:prstGeom prst="rect">
            <a:avLst/>
          </a:prstGeom>
          <a:solidFill>
            <a:srgbClr val="26324A"/>
          </a:solidFill>
          <a:ln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65960" y="1691640"/>
            <a:ext cx="7315" cy="3575304"/>
          </a:xfrm>
          <a:prstGeom prst="rect">
            <a:avLst/>
          </a:prstGeom>
          <a:solidFill>
            <a:srgbClr val="26324A"/>
          </a:solidFill>
          <a:ln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01368" y="5321808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60" b="0">
                <a:solidFill>
                  <a:srgbClr val="7F8AA5"/>
                </a:solidFill>
                <a:latin typeface="Arial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96166" y="1691640"/>
            <a:ext cx="7315" cy="3575304"/>
          </a:xfrm>
          <a:prstGeom prst="rect">
            <a:avLst/>
          </a:prstGeom>
          <a:solidFill>
            <a:srgbClr val="26324A"/>
          </a:solidFill>
          <a:ln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31574" y="5321808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60" b="0">
                <a:solidFill>
                  <a:srgbClr val="7F8AA5"/>
                </a:solidFill>
                <a:latin typeface="Arial"/>
              </a:rPr>
              <a:t>33,3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61560" y="1691640"/>
            <a:ext cx="7315" cy="3575304"/>
          </a:xfrm>
          <a:prstGeom prst="rect">
            <a:avLst/>
          </a:prstGeom>
          <a:solidFill>
            <a:srgbClr val="26324A"/>
          </a:solidFill>
          <a:ln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6968" y="5321808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60" b="0">
                <a:solidFill>
                  <a:srgbClr val="7F8AA5"/>
                </a:solidFill>
                <a:latin typeface="Arial"/>
              </a:rPr>
              <a:t>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1691640"/>
            <a:ext cx="7315" cy="3575304"/>
          </a:xfrm>
          <a:prstGeom prst="rect">
            <a:avLst/>
          </a:prstGeom>
          <a:solidFill>
            <a:srgbClr val="26324A"/>
          </a:solidFill>
          <a:ln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4768" y="5321808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60" b="0">
                <a:solidFill>
                  <a:srgbClr val="7F8AA5"/>
                </a:solidFill>
                <a:latin typeface="Arial"/>
              </a:rPr>
              <a:t>75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57159" y="1691640"/>
            <a:ext cx="7315" cy="3575304"/>
          </a:xfrm>
          <a:prstGeom prst="rect">
            <a:avLst/>
          </a:prstGeom>
          <a:solidFill>
            <a:srgbClr val="26324A"/>
          </a:solidFill>
          <a:ln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92567" y="5321808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60" b="0">
                <a:solidFill>
                  <a:srgbClr val="7F8AA5"/>
                </a:solidFill>
                <a:latin typeface="Arial"/>
              </a:rPr>
              <a:t>100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96340" y="1627632"/>
            <a:ext cx="22860" cy="3675887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10540" y="1417320"/>
            <a:ext cx="150876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50" b="1">
                <a:solidFill>
                  <a:srgbClr val="FB7185"/>
                </a:solidFill>
                <a:latin typeface="Arial"/>
              </a:rPr>
              <a:t>30 Гц = 33,33 мс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" y="1965960"/>
            <a:ext cx="111556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1">
                <a:solidFill>
                  <a:srgbClr val="F2F4FB"/>
                </a:solidFill>
                <a:latin typeface="Arial"/>
              </a:rPr>
              <a:t>C3 · current FFFT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" y="2240280"/>
            <a:ext cx="111556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69" b="1">
                <a:solidFill>
                  <a:srgbClr val="FB7185"/>
                </a:solidFill>
                <a:latin typeface="Arial"/>
              </a:rPr>
              <a:t>100% N−1 · stale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65960" y="2011680"/>
            <a:ext cx="2320475" cy="438912"/>
          </a:xfrm>
          <a:prstGeom prst="roundRect">
            <a:avLst/>
          </a:prstGeom>
          <a:solidFill>
            <a:srgbClr val="FB7185"/>
          </a:solidFill>
          <a:ln w="127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77875" y="2075688"/>
            <a:ext cx="731520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10" b="1">
                <a:solidFill>
                  <a:srgbClr val="F2F4FB"/>
                </a:solidFill>
                <a:latin typeface="Arial"/>
              </a:rPr>
              <a:t>40.1 мс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" y="3063240"/>
            <a:ext cx="111556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1">
                <a:solidFill>
                  <a:srgbClr val="F2F4FB"/>
                </a:solidFill>
                <a:latin typeface="Arial"/>
              </a:rPr>
              <a:t>Prime tiled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" y="3337560"/>
            <a:ext cx="111556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69" b="1">
                <a:solidFill>
                  <a:srgbClr val="34D399"/>
                </a:solidFill>
                <a:latin typeface="Arial"/>
              </a:rPr>
              <a:t>100% N · current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65960" y="3108960"/>
            <a:ext cx="2951890" cy="438912"/>
          </a:xfrm>
          <a:prstGeom prst="roundRect">
            <a:avLst/>
          </a:prstGeom>
          <a:solidFill>
            <a:srgbClr val="9B7CEA"/>
          </a:solidFill>
          <a:ln w="1270">
            <a:solidFill>
              <a:srgbClr val="9B7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09290" y="3172968"/>
            <a:ext cx="731520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10" b="1">
                <a:solidFill>
                  <a:srgbClr val="F2F4FB"/>
                </a:solidFill>
                <a:latin typeface="Arial"/>
              </a:rPr>
              <a:t>51.0 мс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" y="4160520"/>
            <a:ext cx="111556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1">
                <a:solidFill>
                  <a:srgbClr val="F2F4FB"/>
                </a:solidFill>
                <a:latin typeface="Arial"/>
              </a:rPr>
              <a:t>Replicator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" y="4434840"/>
            <a:ext cx="111556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69" b="1">
                <a:solidFill>
                  <a:srgbClr val="34D399"/>
                </a:solidFill>
                <a:latin typeface="Arial"/>
              </a:rPr>
              <a:t>100% N · current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965960" y="4206240"/>
            <a:ext cx="5733577" cy="438912"/>
          </a:xfrm>
          <a:prstGeom prst="roundRect">
            <a:avLst/>
          </a:prstGeom>
          <a:solidFill>
            <a:srgbClr val="9B7CEA"/>
          </a:solidFill>
          <a:ln w="1270">
            <a:solidFill>
              <a:srgbClr val="9B7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90977" y="4270248"/>
            <a:ext cx="731520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10" b="1">
                <a:solidFill>
                  <a:srgbClr val="F2F4FB"/>
                </a:solidFill>
                <a:latin typeface="Arial"/>
              </a:rPr>
              <a:t>99.0 мс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9808" y="5623560"/>
            <a:ext cx="7296912" cy="438912"/>
          </a:xfrm>
          <a:prstGeom prst="roundRect">
            <a:avLst/>
          </a:prstGeom>
          <a:solidFill>
            <a:srgbClr val="1022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5715000"/>
            <a:ext cx="6976872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80" b="1">
                <a:solidFill>
                  <a:srgbClr val="F2F4FB"/>
                </a:solidFill>
                <a:latin typeface="Arial"/>
              </a:rPr>
              <a:t>Условие: current N + &lt;33,33 мс. Ни один проверенный live-path не проходит оба.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94192" y="1481328"/>
            <a:ext cx="2980944" cy="184708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449056" y="1572768"/>
            <a:ext cx="50292" cy="1664208"/>
          </a:xfrm>
          <a:prstGeom prst="roundRect">
            <a:avLst/>
          </a:prstGeom>
          <a:solidFill>
            <a:srgbClr val="FB7185"/>
          </a:solidFill>
          <a:ln w="127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68512" y="1682496"/>
            <a:ext cx="24231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1">
                <a:solidFill>
                  <a:srgbClr val="F2F4FB"/>
                </a:solidFill>
                <a:latin typeface="Arial"/>
              </a:rPr>
              <a:t>Что видно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68512" y="2103120"/>
            <a:ext cx="2377440" cy="9601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80" b="0">
                <a:solidFill>
                  <a:srgbClr val="A9B3C9"/>
                </a:solidFill>
                <a:latin typeface="Arial"/>
              </a:rPr>
              <a:t>Быстрый C3 уже медленнее бюджета и ещё показывает N−1. Корректные live-пути заметно дороже.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94192" y="3602736"/>
            <a:ext cx="2980944" cy="184708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449056" y="3694176"/>
            <a:ext cx="50292" cy="1664208"/>
          </a:xfrm>
          <a:prstGeom prst="roundRect">
            <a:avLst/>
          </a:prstGeom>
          <a:solidFill>
            <a:srgbClr val="34D399"/>
          </a:solidFill>
          <a:ln w="127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68512" y="3803904"/>
            <a:ext cx="24231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1">
                <a:solidFill>
                  <a:srgbClr val="F2F4FB"/>
                </a:solidFill>
                <a:latin typeface="Arial"/>
              </a:rPr>
              <a:t>Почему offline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68512" y="4224528"/>
            <a:ext cx="2377440" cy="9601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80" b="0">
                <a:solidFill>
                  <a:srgbClr val="A9B3C9"/>
                </a:solidFill>
                <a:latin typeface="Arial"/>
              </a:rPr>
              <a:t>Сначала фиксируем state N. Синхронный RGB рендерим позже, когда у него больше нет deadline 33,33 мс.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Что говорят NVIDIA и пользователи Isaac Sim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Наши цифры не уникальны: multi-camera RenderProducts — известный дорогой workload.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5440680" cy="202996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58952" y="14813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78408" y="1554480"/>
            <a:ext cx="487375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“FPS drop … is expected behavior, not a bug.”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" y="2322576"/>
            <a:ext cx="503834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теме про 4 RenderProducts пользователь получил 35 → 5–8 FPS; инженер NVIDIA объяснил, что каждый RenderProduct добавляет RTX render pass, и советует снижать resolution, stagger или tiled rendering.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795528" y="3163824"/>
            <a:ext cx="5038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9" u="sng" dirty="0">
                <a:solidFill>
                  <a:srgbClr val="FB7185"/>
                </a:solidFill>
                <a:uFill>
                  <a:solidFill>
                    <a:srgbClr val="FB7185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 Developer Forums · 2025–2026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6245352" y="1389888"/>
            <a:ext cx="5349240" cy="202996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9944" y="14813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629400" y="1554480"/>
            <a:ext cx="478231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“quantity/resolution of cameras and sensors … play a role”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2322576"/>
            <a:ext cx="494690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 Handbook прямо включает количество и разрешение камер в факторы simulation performance; отдельные рекомендации посвящены multi-camera и multi-GPU.</a:t>
            </a:r>
            <a:endParaRPr lang="en-US" sz="1010" dirty="0"/>
          </a:p>
        </p:txBody>
      </p:sp>
      <p:sp>
        <p:nvSpPr>
          <p:cNvPr id="13" name="Text 11"/>
          <p:cNvSpPr/>
          <p:nvPr/>
        </p:nvSpPr>
        <p:spPr>
          <a:xfrm>
            <a:off x="6446520" y="3163824"/>
            <a:ext cx="4946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9" u="sng" dirty="0">
                <a:solidFill>
                  <a:srgbClr val="38BDF8"/>
                </a:solidFill>
                <a:uFill>
                  <a:solidFill>
                    <a:srgbClr val="38BDF8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 Isaac Sim Performance Handbook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594360" y="3657600"/>
            <a:ext cx="5440680" cy="202996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58952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78408" y="3822192"/>
            <a:ext cx="487375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“render products … can be disabled … only enabled during capture”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95528" y="4590288"/>
            <a:ext cx="503834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официальном SDG pipeline NVIDIA рекомендует отключать RenderProducts между capture-событиями, чтобы не тратить ресурсы на ненужный рендер.</a:t>
            </a:r>
            <a:endParaRPr lang="en-US" sz="1010" dirty="0"/>
          </a:p>
        </p:txBody>
      </p:sp>
      <p:sp>
        <p:nvSpPr>
          <p:cNvPr id="18" name="Text 16"/>
          <p:cNvSpPr/>
          <p:nvPr/>
        </p:nvSpPr>
        <p:spPr>
          <a:xfrm>
            <a:off x="795528" y="5431536"/>
            <a:ext cx="5038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9" u="sng" dirty="0">
                <a:solidFill>
                  <a:srgbClr val="34D399"/>
                </a:solidFill>
                <a:uFill>
                  <a:solidFill>
                    <a:srgbClr val="34D399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 Object-based SDG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245352" y="3657600"/>
            <a:ext cx="5349240" cy="202996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9944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629400" y="3822192"/>
            <a:ext cx="478231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“Reducing the camera count … will improve performance.”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4590288"/>
            <a:ext cx="494690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официальных benchmark notes NVIDIA прямо рекомендует уменьшать число камер/RenderProducts и разрешение, если throughput ограничен рендером.</a:t>
            </a:r>
            <a:endParaRPr lang="en-US" sz="1010" dirty="0"/>
          </a:p>
        </p:txBody>
      </p:sp>
      <p:sp>
        <p:nvSpPr>
          <p:cNvPr id="23" name="Text 21"/>
          <p:cNvSpPr/>
          <p:nvPr/>
        </p:nvSpPr>
        <p:spPr>
          <a:xfrm>
            <a:off x="6446520" y="5431536"/>
            <a:ext cx="4946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9" u="sng" dirty="0">
                <a:solidFill>
                  <a:srgbClr val="F59E0B"/>
                </a:solidFill>
                <a:uFill>
                  <a:solidFill>
                    <a:srgbClr val="F59E0B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 Isaac Sim Benchmarks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Предлагаемая архитектура: state-first, RGB потом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 время телеоперации realtime-контур не обязан обслуживать dataset-камеры.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· операторский loop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1280160" cy="777240"/>
          </a:xfrm>
          <a:prstGeom prst="roundRect">
            <a:avLst/>
          </a:prstGeom>
          <a:solidFill>
            <a:srgbClr val="11182A"/>
          </a:solidFill>
          <a:ln w="1778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8952" y="195681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/ XR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1965960" y="2130552"/>
            <a:ext cx="246888" cy="0"/>
          </a:xfrm>
          <a:prstGeom prst="line">
            <a:avLst/>
          </a:prstGeom>
          <a:noFill/>
          <a:ln w="17780">
            <a:solidFill>
              <a:srgbClr val="5E718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286000" y="1737360"/>
            <a:ext cx="1280160" cy="777240"/>
          </a:xfrm>
          <a:prstGeom prst="roundRect">
            <a:avLst/>
          </a:prstGeom>
          <a:solidFill>
            <a:srgbClr val="11182A"/>
          </a:solidFill>
          <a:ln w="1778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359152" y="195681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 + IK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3566160" y="2130552"/>
            <a:ext cx="246888" cy="0"/>
          </a:xfrm>
          <a:prstGeom prst="line">
            <a:avLst/>
          </a:prstGeom>
          <a:noFill/>
          <a:ln w="17780">
            <a:solidFill>
              <a:srgbClr val="5E718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886200" y="1737360"/>
            <a:ext cx="1280160" cy="777240"/>
          </a:xfrm>
          <a:prstGeom prst="roundRect">
            <a:avLst/>
          </a:prstGeom>
          <a:solidFill>
            <a:srgbClr val="11182A"/>
          </a:solidFill>
          <a:ln w="1778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959352" y="195681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PhysX 4×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166360" y="2130552"/>
            <a:ext cx="246888" cy="0"/>
          </a:xfrm>
          <a:prstGeom prst="line">
            <a:avLst/>
          </a:prstGeom>
          <a:noFill/>
          <a:ln w="17780">
            <a:solidFill>
              <a:srgbClr val="5E718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1737360"/>
            <a:ext cx="1280160" cy="777240"/>
          </a:xfrm>
          <a:prstGeom prst="roundRect">
            <a:avLst/>
          </a:prstGeom>
          <a:solidFill>
            <a:srgbClr val="11182A"/>
          </a:solidFill>
          <a:ln w="1778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559552" y="195681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snapshot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766560" y="2130552"/>
            <a:ext cx="384048" cy="0"/>
          </a:xfrm>
          <a:prstGeom prst="line">
            <a:avLst/>
          </a:prstGeom>
          <a:noFill/>
          <a:ln w="17780">
            <a:solidFill>
              <a:srgbClr val="5E718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223760" y="1737360"/>
            <a:ext cx="1280160" cy="777240"/>
          </a:xfrm>
          <a:prstGeom prst="roundRect">
            <a:avLst/>
          </a:prstGeom>
          <a:solidFill>
            <a:srgbClr val="11182A"/>
          </a:solidFill>
          <a:ln w="1778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96912" y="195681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commit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503920" y="2130552"/>
            <a:ext cx="338328" cy="0"/>
          </a:xfrm>
          <a:prstGeom prst="line">
            <a:avLst/>
          </a:prstGeom>
          <a:noFill/>
          <a:ln w="17780">
            <a:solidFill>
              <a:srgbClr val="5E718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915400" y="1737360"/>
            <a:ext cx="1280160" cy="777240"/>
          </a:xfrm>
          <a:prstGeom prst="roundRect">
            <a:avLst/>
          </a:prstGeom>
          <a:solidFill>
            <a:srgbClr val="11182A"/>
          </a:solidFill>
          <a:ln w="1778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988552" y="195681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 + provenance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10469880" y="1737360"/>
            <a:ext cx="1024128" cy="777240"/>
          </a:xfrm>
          <a:prstGeom prst="roundRect">
            <a:avLst/>
          </a:prstGeom>
          <a:solidFill>
            <a:srgbClr val="101B2C"/>
          </a:solidFill>
          <a:ln w="1651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561320" y="19202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00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OFF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3218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· материализация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" y="3730752"/>
            <a:ext cx="1554480" cy="96012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5156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snapshot</a:t>
            </a:r>
            <a:endParaRPr lang="en-US" sz="101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assets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2514600" y="4206240"/>
            <a:ext cx="384048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971800" y="3730752"/>
            <a:ext cx="1554480" cy="96012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06324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snapshot N</a:t>
            </a:r>
            <a:endParaRPr lang="en-US" sz="101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physics)</a:t>
            </a:r>
            <a:endParaRPr lang="en-US" sz="1010" dirty="0"/>
          </a:p>
        </p:txBody>
      </p:sp>
      <p:sp>
        <p:nvSpPr>
          <p:cNvPr id="30" name="Shape 28"/>
          <p:cNvSpPr/>
          <p:nvPr/>
        </p:nvSpPr>
        <p:spPr>
          <a:xfrm>
            <a:off x="4526280" y="4206240"/>
            <a:ext cx="384048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983480" y="3730752"/>
            <a:ext cx="1554480" cy="96012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07492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3 cams</a:t>
            </a:r>
            <a:endParaRPr lang="en-US" sz="101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Replicator/Camera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6537960" y="4206240"/>
            <a:ext cx="384048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995160" y="3730752"/>
            <a:ext cx="1554480" cy="96012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08660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QA: identity +</a:t>
            </a:r>
            <a:endParaRPr lang="en-US" sz="101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8549640" y="4206240"/>
            <a:ext cx="384048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006840" y="3730752"/>
            <a:ext cx="1554480" cy="96012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09828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LeRobot / RGB</a:t>
            </a:r>
            <a:endParaRPr lang="en-US" sz="101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materialization</a:t>
            </a:r>
            <a:endParaRPr lang="en-US" sz="1010" dirty="0"/>
          </a:p>
        </p:txBody>
      </p:sp>
      <p:sp>
        <p:nvSpPr>
          <p:cNvPr id="39" name="Shape 37"/>
          <p:cNvSpPr/>
          <p:nvPr/>
        </p:nvSpPr>
        <p:spPr>
          <a:xfrm>
            <a:off x="9532620" y="2596896"/>
            <a:ext cx="50292" cy="10058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686800" y="2907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recording → replay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60120" y="523036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принцип: simulation state — источник истины. RGB становится производным артефактом, который можно пересчитать.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76072" y="62544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1271016" y="625449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Current V2/V3 RGB E2E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Почему offline render работает: мы проверили не только хэши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получает конкретный native snapshot и рендерит именно его, без шага физики.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389888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99516" y="1463040"/>
            <a:ext cx="50292" cy="10881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54533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48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68680" y="1984248"/>
            <a:ext cx="2295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 b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геометрических проверок component assay прошли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2295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камеры · 8 состояний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456432" y="1389888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497580" y="1463040"/>
            <a:ext cx="50292" cy="10881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66744" y="154533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24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666744" y="1984248"/>
            <a:ext cx="2295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 b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 current V2/V3 recorder → offline RGB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3666744" y="2395728"/>
            <a:ext cx="2295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0,2,4,5 · 3 роли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254496" y="1389888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95644" y="1463040"/>
            <a:ext cx="50292" cy="10881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64808" y="154533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464808" y="1984248"/>
            <a:ext cx="2295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 b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callbacks при replay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6464808" y="2395728"/>
            <a:ext cx="2295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применяется напрямую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052560" y="1389888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093708" y="1463040"/>
            <a:ext cx="50292" cy="10881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62872" y="1545336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3,315 px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262872" y="1984248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 b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bbox-center error в V2/V3 E2E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9262872" y="2395728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 assay: 24 px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58368" y="2971800"/>
            <a:ext cx="2971800" cy="1965960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81228" y="3026664"/>
            <a:ext cx="50292" cy="1856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1248" y="3136392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Identity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1248" y="3538728"/>
            <a:ext cx="2679192" cy="1252728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episode/frame/transition/observation/snapshot IDs и digest связывают row N с exact snapshot.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22192" y="2971800"/>
            <a:ext cx="2971800" cy="1965960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845052" y="3026664"/>
            <a:ext cx="50292" cy="1856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005072" y="3136392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Geometry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005072" y="3538728"/>
            <a:ext cx="2679192" cy="1252728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Независимая 3D→2D проекция кубов сравнивается с instance masks на том же RenderProduct.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86016" y="2971800"/>
            <a:ext cx="2194560" cy="1965960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008876" y="3026664"/>
            <a:ext cx="50292" cy="1856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168896" y="313639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RGB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168896" y="3538728"/>
            <a:ext cx="1901952" cy="1252728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видимой mask проверяется ожидаемая цветовая доля — mask не может оправдать stale RGB.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372600" y="2971800"/>
            <a:ext cx="2148840" cy="1965960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395460" y="3026664"/>
            <a:ext cx="50292" cy="1856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555480" y="313639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Negative controls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9555480" y="3538728"/>
            <a:ext cx="1856232" cy="1252728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Wrong-row comparisons падают; frozen geometry и неверные transforms тоже не проходят.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86384" y="528523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assay: max center error 7,647 px, min IoU 0,604. Current V2/V3 E2E: min IoU 0,273, wrong-row control дал 42 ожидаемых FAIL.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576072" y="62544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1271016" y="625449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Offline RGB alignment · 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2788920" y="6254496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Current V2/V3 E2E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Что получили после выноса камер из realtime path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один «магический» фикс, а сразу два эффекта: новый render policy + отсутствие dataset RenderProducts.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344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Исторический runtime: OLD → CURRENT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764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native assay · OLD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136392" y="1801368"/>
            <a:ext cx="1965960" cy="219456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1C294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136392" y="1801368"/>
            <a:ext cx="467184" cy="219456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193792" y="17739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13.07 Гц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36392" y="205740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8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RTF 0,436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713232" y="23774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native assay · CURRENT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36392" y="2414016"/>
            <a:ext cx="1965960" cy="219456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1C294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136392" y="2414016"/>
            <a:ext cx="1799032" cy="219456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193792" y="23865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50.33 Гц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36392" y="267004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8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RTF 1,678 · одинаковые native trajectories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713232" y="31455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./run-vr · OLD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36392" y="3182112"/>
            <a:ext cx="1965960" cy="219456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1C294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136392" y="3182112"/>
            <a:ext cx="413924" cy="219456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193792" y="31546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11.58 Гц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36392" y="343814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8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no-client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13232" y="37581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RECORD · CURRENT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36392" y="3794760"/>
            <a:ext cx="1965960" cy="219456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1C294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136392" y="3794760"/>
            <a:ext cx="1496274" cy="219456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193792" y="37673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41.86 Гц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36392" y="405079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8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no-client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822960" y="459028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≈3,6–3,85× ускорение wall-clock без изменения физической траектории.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1344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camera cost внутри CURRENT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17920" y="1764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RGB C3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641080" y="1801368"/>
            <a:ext cx="1920240" cy="219456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1C294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641080" y="1801368"/>
            <a:ext cx="1065093" cy="219456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652760" y="17739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24.96 Гц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41080" y="20574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8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40,07 мс · N−1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6217920" y="23774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OFF C0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41080" y="2414016"/>
            <a:ext cx="1920240" cy="219456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1C294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641080" y="2414016"/>
            <a:ext cx="1441460" cy="219456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652760" y="23865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33.78 Гц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41080" y="267004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8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29,61 мс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6217920" y="31455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Prime tiled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41080" y="3182112"/>
            <a:ext cx="1920240" cy="219456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1C2940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641080" y="3182112"/>
            <a:ext cx="837225" cy="21945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0652760" y="31546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19.62 Гц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41080" y="343814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8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50,97 мс · current RGB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6217920" y="37581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OFF matched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641080" y="3794760"/>
            <a:ext cx="1920240" cy="219456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1C2940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8641080" y="3794760"/>
            <a:ext cx="1441887" cy="219456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0652760" y="37673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33.79 Гц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41080" y="405079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8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29,60 мс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6327648" y="4590288"/>
            <a:ext cx="4709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Убирая dataset RGB из control loop: −10,46 мс против текущего C3 и −21,38 мс против fastest correct live path.</a:t>
            </a:r>
            <a:endParaRPr lang="en-US" sz="1160" dirty="0"/>
          </a:p>
        </p:txBody>
      </p:sp>
      <p:sp>
        <p:nvSpPr>
          <p:cNvPr id="48" name="Shape 46"/>
          <p:cNvSpPr/>
          <p:nvPr/>
        </p:nvSpPr>
        <p:spPr>
          <a:xfrm>
            <a:off x="4462272" y="5577840"/>
            <a:ext cx="324612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0160">
            <a:solidFill>
              <a:srgbClr val="38BDF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535424" y="562356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Поздний B1: 26,68 мс = 37,48 Гц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76072" y="62544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1271016" y="62544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OLD vs CURRENT physics/RTF · 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3063240" y="625449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Live-camera audit · 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4361688" y="625449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Tail reduction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 Честный Quest-прогон: камеры уже не главный bottleneck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Ручная запись 26.09.2026, dataset RGB выключен, XR/CloudXR и production control path включены.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194560" y="4983480"/>
            <a:ext cx="4626864" cy="0"/>
          </a:xfrm>
          <a:prstGeom prst="line">
            <a:avLst/>
          </a:prstGeom>
          <a:noFill/>
          <a:ln w="8890">
            <a:solidFill>
              <a:srgbClr val="24314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801368" y="490118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8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194560" y="4165092"/>
            <a:ext cx="4626864" cy="0"/>
          </a:xfrm>
          <a:prstGeom prst="line">
            <a:avLst/>
          </a:prstGeom>
          <a:noFill/>
          <a:ln w="8890">
            <a:solidFill>
              <a:srgbClr val="24314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01368" y="40827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8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94560" y="3346704"/>
            <a:ext cx="4626864" cy="0"/>
          </a:xfrm>
          <a:prstGeom prst="line">
            <a:avLst/>
          </a:prstGeom>
          <a:noFill/>
          <a:ln w="8890">
            <a:solidFill>
              <a:srgbClr val="24314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801368" y="32644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8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2528316"/>
            <a:ext cx="4626864" cy="0"/>
          </a:xfrm>
          <a:prstGeom prst="line">
            <a:avLst/>
          </a:prstGeom>
          <a:noFill/>
          <a:ln w="8890">
            <a:solidFill>
              <a:srgbClr val="24314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801368" y="24460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8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94560" y="1709928"/>
            <a:ext cx="4626864" cy="0"/>
          </a:xfrm>
          <a:prstGeom prst="line">
            <a:avLst/>
          </a:prstGeom>
          <a:noFill/>
          <a:ln w="8890">
            <a:solidFill>
              <a:srgbClr val="24314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801368" y="16276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87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94560" y="1914525"/>
            <a:ext cx="4626864" cy="0"/>
          </a:xfrm>
          <a:prstGeom prst="line">
            <a:avLst/>
          </a:prstGeom>
          <a:noFill/>
          <a:ln w="2032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07024" y="169506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19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Гц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54808" y="2168225"/>
            <a:ext cx="621792" cy="2815255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490216" y="1912193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 Гц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62200" y="5047488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0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197096" y="2114007"/>
            <a:ext cx="621792" cy="2869473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032504" y="1857975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 Гц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04488" y="5047488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1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739384" y="2154926"/>
            <a:ext cx="621792" cy="282855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574792" y="189889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 Гц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46776" y="5047488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2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7543800" y="15544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584948" y="1627632"/>
            <a:ext cx="50292" cy="10424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754112" y="1709928"/>
            <a:ext cx="344728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36,22 мс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7754112" y="2148840"/>
            <a:ext cx="3438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 b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установившийся start-to-start interval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7754112" y="2514600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≈27,61 Гц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543800" y="2916936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584948" y="2990088"/>
            <a:ext cx="50292" cy="1042416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754112" y="3072384"/>
            <a:ext cx="344728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41,21 мс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7754112" y="3511296"/>
            <a:ext cx="3438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 b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установленного RECORD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7754112" y="3877056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p95 30 Гц не хватает ≈7,88 мс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543800" y="4279392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584948" y="4352544"/>
            <a:ext cx="50292" cy="104241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754112" y="4434840"/>
            <a:ext cx="344728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1,74 мс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7754112" y="4873752"/>
            <a:ext cx="3438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 b="0">
                <a:solidFill>
                  <a:srgbClr val="A9B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causal_commit_and_record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7754112" y="523951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 b="0">
                <a:solidFill>
                  <a:srgbClr val="7F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 — малая доля полного tick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804672" y="5532120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профилируемый путь: Quest/CloudXR → device.advance → processor → Differential IK → apply → simulation_advance → successor capture.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49808" y="6053328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 прогон: /data/ebulochkin/vla-runtime/manual-record-04/20260926T173138/ · 1321 + 265 + 53 записанных transitions.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Drawbacks и trade-offs offline RGB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«бесплатный рендер», а перенос дорогой работы из latency-critical контура.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5230368" cy="969264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1228" y="1408176"/>
            <a:ext cx="50292" cy="8595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15179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Постобработка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19202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появляется после эпизода; нужен отдельный materializer/replay job и очередь задач.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90488" y="1353312"/>
            <a:ext cx="5230368" cy="969264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13348" y="1408176"/>
            <a:ext cx="50292" cy="8595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73368" y="15179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73368" y="19202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жёстко пинить stage, assets, camera intrinsics/poses, renderer config и версии кода.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532888"/>
            <a:ext cx="5230368" cy="969264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1228" y="2587752"/>
            <a:ext cx="50292" cy="8595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2697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1248" y="30998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State/HDF дешевле RGB для rigid-сцен, но deformables/particles могут заметно увеличить объём.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0488" y="2532888"/>
            <a:ext cx="5230368" cy="969264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3348" y="2587752"/>
            <a:ext cx="50292" cy="859536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73368" y="2697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Photometric drift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73368" y="30998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Bitwise одинаковые пиксели между драйверами/renderer revisions не гарантируются; QA должен быть геометрическим.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3712464"/>
            <a:ext cx="5230368" cy="969264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81228" y="3767328"/>
            <a:ext cx="50292" cy="8595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41248" y="38770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sensors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41248" y="42793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blur, rolling shutter, event cameras требуют subframe trajectory/velocities, а не одного snapshot.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90488" y="3712464"/>
            <a:ext cx="5230368" cy="969264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213348" y="3767328"/>
            <a:ext cx="50292" cy="8595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73368" y="38770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live dataset preview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373368" y="42793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видит XR viewport, но не обязан видеть точные dataset-камеры во время записи.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" y="4892040"/>
            <a:ext cx="5230368" cy="969264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81228" y="4946904"/>
            <a:ext cx="50292" cy="8595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41248" y="50566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QA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41248" y="54589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отдельно проверять первый frame нового segment, terminal successor и gap semantics.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90488" y="4892040"/>
            <a:ext cx="5230368" cy="969264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213348" y="4946904"/>
            <a:ext cx="50292" cy="8595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373368" y="50566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later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373368" y="54589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GPU-время не исчезает — просто становится batch/offline и перестаёт блокировать человека.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7240" y="6144768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обмен: realtime latency ↓, офлайн compute/storage/validation ↑. Для teleop это выгодный обмен, потому что человеческий control loop не повторишь задним числом.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Деформируемые объекты: сохраняем состояние сетки, а не видео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cloth/soft bodies rigid pose недостаточен, но offline render от этого не ломается.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3657600" cy="1828800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1228" y="1380744"/>
            <a:ext cx="50292" cy="17190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1490472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является состоянием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1892808"/>
            <a:ext cx="3364992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Isaac Lab определяет deformable state как nodal positions + velocities. Для cable — poses/velocities сегментов. Эти значения можно записывать на каждом control boundary.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3401568"/>
            <a:ext cx="3657600" cy="1828800"/>
          </a:xfrm>
          <a:prstGeom prst="roundRect">
            <a:avLst/>
          </a:prstGeom>
          <a:solidFill>
            <a:srgbClr val="11182A"/>
          </a:solidFill>
          <a:ln w="1397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1228" y="3456432"/>
            <a:ext cx="50292" cy="17190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41248" y="3566160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replay-ить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41248" y="3968496"/>
            <a:ext cx="3364992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offline replay пишем nodal state обратно в симулятор (`write_nodal_state_to_sim*`), обновляем render buffers и рендерим без advancing physics. Для purely visual replay минимум — geometry state; для full-state — ещё velocities/targets.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134416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это стоит по данным (raw, без compression)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1728216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640×480 RGB = 2,764,800 байт/frame = 82,9 MB/s @ 30 Гц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4617720" y="22677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 b="1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 nodes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06440" y="2286000"/>
            <a:ext cx="4389120" cy="256032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1C294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806440" y="2286000"/>
            <a:ext cx="363238" cy="256032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314432" y="22677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 MB/frame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17720" y="31272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 b="1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 nodes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06440" y="3145536"/>
            <a:ext cx="4389120" cy="256032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1C294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806440" y="3145536"/>
            <a:ext cx="1816188" cy="256032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314432" y="31272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1.20 MB/frame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17720" y="3986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 b="1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115k nodes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06440" y="4005072"/>
            <a:ext cx="4389120" cy="256032"/>
          </a:xfrm>
          <a:prstGeom prst="roundRect">
            <a:avLst/>
          </a:prstGeom>
          <a:solidFill>
            <a:srgbClr val="1C2940"/>
          </a:solidFill>
          <a:ln w="12700">
            <a:solidFill>
              <a:srgbClr val="1C294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806440" y="4005072"/>
            <a:ext cx="4184496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314432" y="39867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2.76 MB/frame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013796" y="2139696"/>
            <a:ext cx="50292" cy="2724912"/>
          </a:xfrm>
          <a:prstGeom prst="line">
            <a:avLst/>
          </a:prstGeom>
          <a:noFill/>
          <a:ln w="1905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732520" y="473659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RGB parity ≈ 115 200 nodes</a:t>
            </a:r>
            <a:endParaRPr lang="en-US" sz="930" dirty="0"/>
          </a:p>
          <a:p>
            <a:pPr algn="r" indent="0" marL="0">
              <a:buNone/>
            </a:pPr>
            <a:r>
              <a:rPr lang="en-US" sz="104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pos+vel float32 = 24 B/node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4617720" y="5413248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при сопоставимом объёме state offline-подход всё равно убирает 3 RTX RenderProducts + extraction/sync из realtime control loop. Это главная экономия.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576072" y="62544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1271016" y="625449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Isaac Lab deformables · 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2788920" y="625449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write_nodal_state_to_sim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Бонусы offline-подхода: одна траектория → много датасетов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визуал отделён от control loop, RGB перестаёт быть одноразовым побочным эффектом телеоперации.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57800" y="2377440"/>
            <a:ext cx="1828800" cy="1005840"/>
          </a:xfrm>
          <a:prstGeom prst="ellipse">
            <a:avLst/>
          </a:prstGeom>
          <a:solidFill>
            <a:srgbClr val="162036"/>
          </a:solidFill>
          <a:ln w="2286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40680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/ ACTION</a:t>
            </a:r>
            <a:endParaRPr lang="en-US" sz="125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389888"/>
            <a:ext cx="2103120" cy="676656"/>
          </a:xfrm>
          <a:prstGeom prst="roundRect">
            <a:avLst/>
          </a:prstGeom>
          <a:solidFill>
            <a:srgbClr val="11182A"/>
          </a:solidFill>
          <a:ln w="15875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95528" y="157276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Свет / HDRI / exposure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6172200" y="2880360"/>
            <a:ext cx="-4434840" cy="-1152144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703320" y="1170432"/>
            <a:ext cx="2103120" cy="676656"/>
          </a:xfrm>
          <a:prstGeom prst="roundRect">
            <a:avLst/>
          </a:prstGeom>
          <a:solidFill>
            <a:srgbClr val="11182A"/>
          </a:solidFill>
          <a:ln w="15875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13048" y="135331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 / текстуры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6172200" y="2880360"/>
            <a:ext cx="-1417320" cy="-1371600"/>
          </a:xfrm>
          <a:prstGeom prst="line">
            <a:avLst/>
          </a:prstGeom>
          <a:noFill/>
          <a:ln w="1397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406640" y="1261872"/>
            <a:ext cx="2103120" cy="676656"/>
          </a:xfrm>
          <a:prstGeom prst="roundRect">
            <a:avLst/>
          </a:prstGeom>
          <a:solidFill>
            <a:srgbClr val="11182A"/>
          </a:solidFill>
          <a:ln w="15875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516368" y="14447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Камеры / intrinsics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6172200" y="2880360"/>
            <a:ext cx="2286000" cy="-128016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555480" y="2880360"/>
            <a:ext cx="2103120" cy="676656"/>
          </a:xfrm>
          <a:prstGeom prst="roundRect">
            <a:avLst/>
          </a:prstGeom>
          <a:solidFill>
            <a:srgbClr val="11182A"/>
          </a:solidFill>
          <a:ln w="15875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65208" y="306324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/ masks / normals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6172200" y="2880360"/>
            <a:ext cx="4434840" cy="338328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516368" y="4736592"/>
            <a:ext cx="2103120" cy="676656"/>
          </a:xfrm>
          <a:prstGeom prst="roundRect">
            <a:avLst/>
          </a:prstGeom>
          <a:solidFill>
            <a:srgbClr val="11182A"/>
          </a:solidFill>
          <a:ln w="15875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626096" y="49194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Higher-quality render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6172200" y="2880360"/>
            <a:ext cx="2395728" cy="219456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429000" y="4892040"/>
            <a:ext cx="2103120" cy="676656"/>
          </a:xfrm>
          <a:prstGeom prst="roundRect">
            <a:avLst/>
          </a:prstGeom>
          <a:solidFill>
            <a:srgbClr val="11182A"/>
          </a:solidFill>
          <a:ln w="15875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538728" y="507492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Isaac Mimic / SkillGen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6195060" y="2935224"/>
            <a:ext cx="50292" cy="2240280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02920" y="3730752"/>
            <a:ext cx="2103120" cy="676656"/>
          </a:xfrm>
          <a:prstGeom prst="roundRect">
            <a:avLst/>
          </a:prstGeom>
          <a:solidFill>
            <a:srgbClr val="11182A"/>
          </a:solidFill>
          <a:ln w="15875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12648" y="391363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2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Re-render после фикса багов</a:t>
            </a:r>
            <a:endParaRPr lang="en-US" sz="1010" dirty="0"/>
          </a:p>
        </p:txBody>
      </p:sp>
      <p:sp>
        <p:nvSpPr>
          <p:cNvPr id="26" name="Shape 24"/>
          <p:cNvSpPr/>
          <p:nvPr/>
        </p:nvSpPr>
        <p:spPr>
          <a:xfrm>
            <a:off x="6195060" y="2935224"/>
            <a:ext cx="50292" cy="1078992"/>
          </a:xfrm>
          <a:prstGeom prst="line">
            <a:avLst/>
          </a:prstGeom>
          <a:noFill/>
          <a:ln w="13970">
            <a:solidFill>
              <a:srgbClr val="FB71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49808" y="577900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Replicator официально поддерживает randomization света, материалов, текстур, camera pose и других параметров SDG.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6400800" y="577900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Isaac Lab Mimic генерирует новые trajectory variants из небольшого набора human demos; их тоже можно потом материализовать визуально офлайн.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576072" y="62544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1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1271016" y="625449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Replicator randomization · 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2953512" y="625449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u="sng" dirty="0">
                <a:solidFill>
                  <a:srgbClr val="8798B6"/>
                </a:solidFill>
                <a:uFill>
                  <a:solidFill>
                    <a:srgbClr val="8798B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Isaac Lab Mimic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37744"/>
            <a:ext cx="110185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F2F4FB"/>
                </a:solidFill>
                <a:latin typeface="Arial"/>
              </a:rPr>
              <a:t>11. Куда двигаться дальше, чтобы физический RECORD стал стабильным 30 Гц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32688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0">
                <a:solidFill>
                  <a:srgbClr val="A9B3C9"/>
                </a:solidFill>
                <a:latin typeface="Arial"/>
              </a:rPr>
              <a:t>Камеры уже вынесены. Теперь нужен targeted profiling production Quest path, а не ещё один общий «ускоритель».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371600"/>
            <a:ext cx="10808208" cy="694944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444752"/>
            <a:ext cx="54864" cy="548640"/>
          </a:xfrm>
          <a:prstGeom prst="roundRect">
            <a:avLst/>
          </a:prstGeom>
          <a:solidFill>
            <a:srgbClr val="38BDF8"/>
          </a:solidFill>
          <a:ln w="127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490472"/>
            <a:ext cx="411480" cy="411480"/>
          </a:xfrm>
          <a:prstGeom prst="ellipse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41148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80" b="1">
                <a:solidFill>
                  <a:srgbClr val="0B112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481328"/>
            <a:ext cx="246888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70" b="1">
                <a:solidFill>
                  <a:srgbClr val="F2F4FB"/>
                </a:solidFill>
                <a:latin typeface="Arial"/>
              </a:rPr>
              <a:t>Профилировать physical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444752"/>
            <a:ext cx="498348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20" b="0">
                <a:solidFill>
                  <a:srgbClr val="A9B3C9"/>
                </a:solidFill>
                <a:latin typeface="Arial"/>
              </a:rPr>
              <a:t>Timers: device.advance → processor → IK → apply → sim_step/render → successor.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62288" y="1499616"/>
            <a:ext cx="205740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150" b="1">
                <a:solidFill>
                  <a:srgbClr val="38BDF8"/>
                </a:solidFill>
                <a:latin typeface="Arial"/>
              </a:rPr>
              <a:t>Найти реальные 3–8 мс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2212848"/>
            <a:ext cx="10808208" cy="694944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2286000"/>
            <a:ext cx="54864" cy="548640"/>
          </a:xfrm>
          <a:prstGeom prst="roundRect">
            <a:avLst/>
          </a:prstGeom>
          <a:solidFill>
            <a:srgbClr val="F59E0B"/>
          </a:solidFill>
          <a:ln w="12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331720"/>
            <a:ext cx="411480" cy="4114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41148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80" b="1">
                <a:solidFill>
                  <a:srgbClr val="0B1120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322576"/>
            <a:ext cx="246888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70" b="1">
                <a:solidFill>
                  <a:srgbClr val="F2F4FB"/>
                </a:solidFill>
                <a:latin typeface="Arial"/>
              </a:rPr>
              <a:t>Убрать I/O из control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2286000"/>
            <a:ext cx="498348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20" b="0">
                <a:solidFill>
                  <a:srgbClr val="A9B3C9"/>
                </a:solidFill>
                <a:latin typeface="Arial"/>
              </a:rPr>
              <a:t>Initial manifest ≈53 мс на open; finalizer queue не должен блокировать control tick.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2340864"/>
            <a:ext cx="205740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150" b="1">
                <a:solidFill>
                  <a:srgbClr val="F59E0B"/>
                </a:solidFill>
                <a:latin typeface="Arial"/>
              </a:rPr>
              <a:t>Убрать tail stalls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3054096"/>
            <a:ext cx="10808208" cy="694944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" y="3127248"/>
            <a:ext cx="54864" cy="548640"/>
          </a:xfrm>
          <a:prstGeom prst="roundRect">
            <a:avLst/>
          </a:prstGeom>
          <a:solidFill>
            <a:srgbClr val="9B7CEA"/>
          </a:solidFill>
          <a:ln w="1270">
            <a:solidFill>
              <a:srgbClr val="9B7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172968"/>
            <a:ext cx="411480" cy="411480"/>
          </a:xfrm>
          <a:prstGeom prst="ellipse">
            <a:avLst/>
          </a:prstGeom>
          <a:solidFill>
            <a:srgbClr val="9B7CEA"/>
          </a:solidFill>
          <a:ln>
            <a:solidFill>
              <a:srgbClr val="9B7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172968"/>
            <a:ext cx="41148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80" b="1">
                <a:solidFill>
                  <a:srgbClr val="0B1120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163824"/>
            <a:ext cx="246888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70" b="1">
                <a:solidFill>
                  <a:srgbClr val="F2F4FB"/>
                </a:solidFill>
                <a:latin typeface="Arial"/>
              </a:rPr>
              <a:t>Сократить CPU↔GPU в 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1648" y="3127248"/>
            <a:ext cx="498348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20" b="0">
                <a:solidFill>
                  <a:srgbClr val="A9B3C9"/>
                </a:solidFill>
                <a:latin typeface="Arial"/>
              </a:rPr>
              <a:t>Production IK делает мелкие синхронные transfers/validation вокруг каждой руки.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3182112"/>
            <a:ext cx="205740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150" b="1">
                <a:solidFill>
                  <a:srgbClr val="9B7CEA"/>
                </a:solidFill>
                <a:latin typeface="Arial"/>
              </a:rPr>
              <a:t>Снизить steady latency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" y="3895344"/>
            <a:ext cx="10808208" cy="694944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9808" y="3968496"/>
            <a:ext cx="54864" cy="548640"/>
          </a:xfrm>
          <a:prstGeom prst="roundRect">
            <a:avLst/>
          </a:prstGeom>
          <a:solidFill>
            <a:srgbClr val="38BDF8"/>
          </a:solidFill>
          <a:ln w="127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4014215"/>
            <a:ext cx="411480" cy="411480"/>
          </a:xfrm>
          <a:prstGeom prst="ellipse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014215"/>
            <a:ext cx="41148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80" b="1">
                <a:solidFill>
                  <a:srgbClr val="0B1120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005072"/>
            <a:ext cx="246888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70" b="1">
                <a:solidFill>
                  <a:srgbClr val="F2F4FB"/>
                </a:solidFill>
                <a:latin typeface="Arial"/>
              </a:rPr>
              <a:t>Ввести явный 30 Гц scheduler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1648" y="3968496"/>
            <a:ext cx="498348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20" b="0">
                <a:solidFill>
                  <a:srgbClr val="A9B3C9"/>
                </a:solidFill>
                <a:latin typeface="Arial"/>
              </a:rPr>
              <a:t>Развести logical sim time, wall cadence и XR presentation; мерить deadline lateness.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4023359"/>
            <a:ext cx="205740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150" b="1">
                <a:solidFill>
                  <a:srgbClr val="38BDF8"/>
                </a:solidFill>
                <a:latin typeface="Arial"/>
              </a:rPr>
              <a:t>Честно мерить 30 Гц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" y="4736592"/>
            <a:ext cx="10808208" cy="694944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9808" y="4809744"/>
            <a:ext cx="54864" cy="548640"/>
          </a:xfrm>
          <a:prstGeom prst="roundRect">
            <a:avLst/>
          </a:prstGeom>
          <a:solidFill>
            <a:srgbClr val="34D399"/>
          </a:solidFill>
          <a:ln w="127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4400" y="4855464"/>
            <a:ext cx="411480" cy="411480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855464"/>
            <a:ext cx="41148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80" b="1">
                <a:solidFill>
                  <a:srgbClr val="0B1120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4846320"/>
            <a:ext cx="246888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70" b="1">
                <a:solidFill>
                  <a:srgbClr val="F2F4FB"/>
                </a:solidFill>
                <a:latin typeface="Arial"/>
              </a:rPr>
              <a:t>Оставить dataset RGB офлайн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1648" y="4809744"/>
            <a:ext cx="498348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20" b="0">
                <a:solidFill>
                  <a:srgbClr val="A9B3C9"/>
                </a:solidFill>
                <a:latin typeface="Arial"/>
              </a:rPr>
              <a:t>Не возвращать RenderProducts в realtime только ради удобства preview.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4864607"/>
            <a:ext cx="205740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150" b="1">
                <a:solidFill>
                  <a:srgbClr val="34D399"/>
                </a:solidFill>
                <a:latin typeface="Arial"/>
              </a:rPr>
              <a:t>Не вернуть +10–21 мс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641848"/>
            <a:ext cx="10195560" cy="475488"/>
          </a:xfrm>
          <a:prstGeom prst="roundRect">
            <a:avLst/>
          </a:prstGeom>
          <a:solidFill>
            <a:srgbClr val="1022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" y="5733288"/>
            <a:ext cx="9866376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60" b="1">
                <a:solidFill>
                  <a:srgbClr val="F2F4FB"/>
                </a:solidFill>
                <a:latin typeface="Arial"/>
              </a:rPr>
              <a:t>State-first / offline RGB уже убрал большой camera tax. Теперь добиваем production control loop, не возвращая рендер в realtime.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6236208"/>
            <a:ext cx="310896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80" b="0">
                <a:solidFill>
                  <a:srgbClr val="7F8AA5"/>
                </a:solidFill>
                <a:latin typeface="Arial"/>
              </a:rPr>
              <a:t>Источник: Boundary &amp; runtime audit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и воспроизводимость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Ссылки кликабельны. Внутренние отчёты зафиксированы в feat/vr-demo-admission.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49808" y="1417320"/>
            <a:ext cx="5212080" cy="576072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54533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2F4FB"/>
                </a:solidFill>
                <a:uFill>
                  <a:solidFill>
                    <a:srgbClr val="38BDF8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camera temporal + cost audit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14400" y="1773936"/>
            <a:ext cx="4882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0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https://github.com/robotics-laboratory/vla-infrastructure/blob/feat/vr-demo-admission/docs/experiments/20260924_live_camera_temporal_cost_audit/REPORT.md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749808" y="2194560"/>
            <a:ext cx="5212080" cy="576072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32257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2F4FB"/>
                </a:solidFill>
                <a:uFill>
                  <a:solidFill>
                    <a:srgbClr val="38BDF8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Current RECORD performance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914400" y="2551176"/>
            <a:ext cx="4882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0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https://github.com/robotics-laboratory/vla-infrastructure/blob/feat/vr-demo-admission/docs/experiments/20260925_current_record_performance/REPORT.md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749808" y="2971800"/>
            <a:ext cx="5212080" cy="576072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309981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2F4FB"/>
                </a:solidFill>
                <a:uFill>
                  <a:solidFill>
                    <a:srgbClr val="38BDF8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Record boundary tail reduction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14400" y="3328416"/>
            <a:ext cx="4882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0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https://github.com/robotics-laboratory/vla-infrastructure/blob/feat/vr-demo-admission/docs/experiments/20260925_record_boundary_tail_reduction/REPORT.md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749808" y="3749040"/>
            <a:ext cx="5212080" cy="576072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387705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2F4FB"/>
                </a:solidFill>
                <a:uFill>
                  <a:solidFill>
                    <a:srgbClr val="38BDF8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Offline RGB state alignment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914400" y="4105656"/>
            <a:ext cx="4882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0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https://github.com/robotics-laboratory/vla-infrastructure/blob/feat/vr-demo-admission/docs/experiments/20260925_offline_rgb_state_alignment/REPORT.md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749808" y="4526280"/>
            <a:ext cx="5212080" cy="576072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465429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2F4FB"/>
                </a:solidFill>
                <a:uFill>
                  <a:solidFill>
                    <a:srgbClr val="38BDF8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Current V2/V3 RGB E2E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914400" y="4882896"/>
            <a:ext cx="4882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0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https://github.com/robotics-laboratory/vla-infrastructure/blob/feat/vr-demo-admission/docs/experiments/20260925_current_v2_v3_rgb_e2e/REPORT.md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749808" y="5303520"/>
            <a:ext cx="5212080" cy="576072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543153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2F4FB"/>
                </a:solidFill>
                <a:uFill>
                  <a:solidFill>
                    <a:srgbClr val="38BDF8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OLD vs CURRENT physics / RTF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914400" y="5660136"/>
            <a:ext cx="4882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0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https://github.com/robotics-laboratory/vla-infrastructure/blob/feat/vr-demo-admission/docs/experiments/20260924_master_current_physics_rtf_audit/REPORT.md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6373368" y="1417320"/>
            <a:ext cx="5212080" cy="576072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37960" y="154533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2F4FB"/>
                </a:solidFill>
                <a:uFill>
                  <a:solidFill>
                    <a:srgbClr val="34D399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 Performance Optimization Handbook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6537960" y="1773936"/>
            <a:ext cx="4882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0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https://docs.isaacsim.omniverse.nvidia.com/latest/reference_material/sim_performance_optimization_handbook.html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6373368" y="2194560"/>
            <a:ext cx="5212080" cy="576072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37960" y="232257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2F4FB"/>
                </a:solidFill>
                <a:uFill>
                  <a:solidFill>
                    <a:srgbClr val="34D399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 Benchmarks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537960" y="2551176"/>
            <a:ext cx="4882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0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https://docs.isaacsim.omniverse.nvidia.com/latest/reference_material/benchmarks.html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6373368" y="2971800"/>
            <a:ext cx="5212080" cy="576072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37960" y="309981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2F4FB"/>
                </a:solidFill>
                <a:uFill>
                  <a:solidFill>
                    <a:srgbClr val="34D399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 Object-based SDG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6537960" y="3328416"/>
            <a:ext cx="4882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0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https://docs.isaacsim.omniverse.nvidia.com/latest/replicator_tutorials/tutorial_replicator_object_based_sdg.html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6373368" y="3749040"/>
            <a:ext cx="5212080" cy="576072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37960" y="387705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2F4FB"/>
                </a:solidFill>
                <a:uFill>
                  <a:solidFill>
                    <a:srgbClr val="34D399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 forum: RenderProduct performance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537960" y="4105656"/>
            <a:ext cx="4882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0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https://forums.developer.nvidia.com/t/performance-of-render-product-in-action-graph/322300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6373368" y="4526280"/>
            <a:ext cx="5212080" cy="576072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537960" y="465429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2F4FB"/>
                </a:solidFill>
                <a:uFill>
                  <a:solidFill>
                    <a:srgbClr val="34D399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Isaac Lab deformables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6537960" y="4882896"/>
            <a:ext cx="4882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0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https://isaac-sim.github.io/IsaacLab/develop/source/concepts/deformables.html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6373368" y="5303520"/>
            <a:ext cx="5212080" cy="576072"/>
          </a:xfrm>
          <a:prstGeom prst="roundRect">
            <a:avLst/>
          </a:prstGeom>
          <a:solidFill>
            <a:srgbClr val="11182A"/>
          </a:solidFill>
          <a:ln w="10160">
            <a:solidFill>
              <a:srgbClr val="26324A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537960" y="543153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2F4FB"/>
                </a:solidFill>
                <a:uFill>
                  <a:solidFill>
                    <a:srgbClr val="34D399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Isaac Lab Mimic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6537960" y="5660136"/>
            <a:ext cx="4882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0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https://isaac-sim.github.io/IsaacLab/main/source/api/lab_mimic/isaaclab_mimic.datagen.html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841248" y="6108192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Ручной physical Quest run: /data/ebulochkin/vla-runtime/manual-record-04/20260926T173138/ · 1639 recording transitions, 3 technical episodes.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F8C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HSE Robotics / vla-infrastructure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 Гц записи VR-демонстраций в Isaac Sim</dc:title>
  <dc:subject>VR recording performance in Isaac Sim</dc:subject>
  <dc:creator>OpenAI</dc:creator>
  <cp:lastModifiedBy>OpenAI</cp:lastModifiedBy>
  <cp:revision>1</cp:revision>
  <dcterms:created xsi:type="dcterms:W3CDTF">2026-09-28T07:47:21Z</dcterms:created>
  <dcterms:modified xsi:type="dcterms:W3CDTF">2026-09-28T07:47:21Z</dcterms:modified>
</cp:coreProperties>
</file>