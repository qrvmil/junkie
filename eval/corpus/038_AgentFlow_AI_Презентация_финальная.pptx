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1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AzL+azl2O1yyigsGC+E3eqjtv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57993B-F1F2-4BEB-9D84-0C43973C3895}">
  <a:tblStyle styleId="{A657993B-F1F2-4BEB-9D84-0C43973C38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2030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SaaS</c:v>
                </c:pt>
                <c:pt idx="1">
                  <c:v>Внедрение</c:v>
                </c:pt>
                <c:pt idx="2">
                  <c:v>Поддержка/обучение</c:v>
                </c:pt>
                <c:pt idx="3">
                  <c:v>Использование/API</c:v>
                </c:pt>
                <c:pt idx="4">
                  <c:v>Аналитика процессов</c:v>
                </c:pt>
                <c:pt idx="5">
                  <c:v>Международные услуги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64.893</c:v>
                </c:pt>
                <c:pt idx="1">
                  <c:v>171.5</c:v>
                </c:pt>
                <c:pt idx="2">
                  <c:v>16.145</c:v>
                </c:pt>
                <c:pt idx="3">
                  <c:v>5.154</c:v>
                </c:pt>
                <c:pt idx="4">
                  <c:v>3.175</c:v>
                </c:pt>
                <c:pt idx="5">
                  <c:v>1.82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2029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Москва</c:v>
                </c:pt>
                <c:pt idx="1">
                  <c:v>Казань</c:v>
                </c:pt>
                <c:pt idx="2">
                  <c:v>Екатеринбург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53.818</c:v>
                </c:pt>
                <c:pt idx="1">
                  <c:v>19.578</c:v>
                </c:pt>
                <c:pt idx="2">
                  <c:v>87.71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13.691</c:v>
                </c:pt>
                <c:pt idx="1">
                  <c:v>41.822</c:v>
                </c:pt>
                <c:pt idx="2">
                  <c:v>110.298</c:v>
                </c:pt>
                <c:pt idx="3">
                  <c:v>161.106</c:v>
                </c:pt>
                <c:pt idx="4">
                  <c:v>262.687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8.39909</c:v>
                </c:pt>
                <c:pt idx="1">
                  <c:v>20.81538355</c:v>
                </c:pt>
                <c:pt idx="2">
                  <c:v>57.789610759999995</c:v>
                </c:pt>
                <c:pt idx="3">
                  <c:v>88.55125831999999</c:v>
                </c:pt>
                <c:pt idx="4">
                  <c:v>164.2243084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Чистая прибыль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6.72306</c:v>
                </c:pt>
                <c:pt idx="1">
                  <c:v>13.88292295</c:v>
                </c:pt>
                <c:pt idx="2">
                  <c:v>37.78203146</c:v>
                </c:pt>
                <c:pt idx="3">
                  <c:v>59.90679092</c:v>
                </c:pt>
                <c:pt idx="4">
                  <c:v>124.0759575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УСН 6%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1.67603</c:v>
                </c:pt>
                <c:pt idx="1">
                  <c:v>6.9324606</c:v>
                </c:pt>
                <c:pt idx="2">
                  <c:v>20.0075793</c:v>
                </c:pt>
                <c:pt idx="3">
                  <c:v>28.6444674</c:v>
                </c:pt>
                <c:pt idx="4">
                  <c:v>37.1053474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УСН 15%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2.3353685</c:v>
                </c:pt>
                <c:pt idx="1">
                  <c:v>7.956766614</c:v>
                </c:pt>
                <c:pt idx="2">
                  <c:v>22.87061359</c:v>
                </c:pt>
                <c:pt idx="3">
                  <c:v>33.53061161</c:v>
                </c:pt>
                <c:pt idx="4">
                  <c:v>49.72537929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ОСНО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5.608587418</c:v>
                </c:pt>
                <c:pt idx="1">
                  <c:v>16.06699479</c:v>
                </c:pt>
                <c:pt idx="2">
                  <c:v>44.39102929</c:v>
                </c:pt>
                <c:pt idx="3">
                  <c:v>65.82181709000001</c:v>
                </c:pt>
                <c:pt idx="4">
                  <c:v>103.5200112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ЭНС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25.545981769999997</c:v>
                </c:pt>
                <c:pt idx="1">
                  <c:v>41.68594414</c:v>
                </c:pt>
                <c:pt idx="2">
                  <c:v>43.06685908</c:v>
                </c:pt>
                <c:pt idx="3">
                  <c:v>40.10983752</c:v>
                </c:pt>
                <c:pt idx="4">
                  <c:v>30.08351795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Денежные средства на конец года</c:v>
                </c:pt>
              </c:strCache>
            </c:strRef>
          </c:tx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8.22306</c:v>
                </c:pt>
                <c:pt idx="1">
                  <c:v>22.105982949999998</c:v>
                </c:pt>
                <c:pt idx="2">
                  <c:v>59.88801441</c:v>
                </c:pt>
                <c:pt idx="3">
                  <c:v>110.8087867</c:v>
                </c:pt>
                <c:pt idx="4">
                  <c:v>216.2733506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6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F3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432000" y="396000"/>
            <a:ext cx="7200000" cy="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Аналитическая презентация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2000" y="720000"/>
            <a:ext cx="68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AgentFlow AI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0000" y="1475999"/>
            <a:ext cx="648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Развитие AI/SaaS-бизнеса: ИП -&gt; регионы РФ -&gt; ООО -&gt; ТОО Казахстан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64975" y="3067350"/>
            <a:ext cx="2508000" cy="28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4975" y="284415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1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64975" y="3117750"/>
            <a:ext cx="2508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2026-2027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64975" y="3276150"/>
            <a:ext cx="250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ИП: старт и регионы РФ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180974" y="3067350"/>
            <a:ext cx="2508000" cy="2880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065999" y="216000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2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180974" y="3114150"/>
            <a:ext cx="2508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2028-2029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180974" y="3276150"/>
            <a:ext cx="250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ООО: сложная РФ-структура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796975" y="3067350"/>
            <a:ext cx="2508000" cy="28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796975" y="284415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3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796975" y="3114150"/>
            <a:ext cx="2508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2030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796975" y="3276150"/>
            <a:ext cx="250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ТОО KZ: международный контур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9749675" y="4240825"/>
            <a:ext cx="22998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742700" y="4356325"/>
            <a:ext cx="28800" cy="5250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875675" y="4330825"/>
            <a:ext cx="261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2030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9875675" y="4546825"/>
            <a:ext cx="26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262,7 млн ₽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9875675" y="4773624"/>
            <a:ext cx="261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рост с 13,7 млн ₽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6685625" y="4244400"/>
            <a:ext cx="2808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678650" y="4356900"/>
            <a:ext cx="28800" cy="531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811625" y="4334400"/>
            <a:ext cx="261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Чистая прибыль 2030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6811625" y="4550399"/>
            <a:ext cx="26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124,1 млн ₽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6811625" y="4777200"/>
            <a:ext cx="261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маржа 47,2%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3562300" y="4244400"/>
            <a:ext cx="2808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3555325" y="4359900"/>
            <a:ext cx="28800" cy="525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3688300" y="4334400"/>
            <a:ext cx="261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ДДС на конец 2030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3688300" y="4550399"/>
            <a:ext cx="26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216,3 млн ₽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3688300" y="4777200"/>
            <a:ext cx="261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без отрицательных месяцев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438975" y="4244400"/>
            <a:ext cx="2808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432000" y="4342825"/>
            <a:ext cx="28800" cy="552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64975" y="4334400"/>
            <a:ext cx="261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ЭНС 2030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564975" y="4550400"/>
            <a:ext cx="261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30,1%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64975" y="4777200"/>
            <a:ext cx="261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после пика 2028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3191249" y="285135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2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8036675" y="5126350"/>
            <a:ext cx="4012800" cy="16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Выполнили: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Зипунов Сергей Александрович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Островенко Егор Олегович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433500" y="162000"/>
            <a:ext cx="2554500" cy="4824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методика</a:t>
            </a:r>
            <a:endParaRPr sz="3400"/>
          </a:p>
        </p:txBody>
      </p:sp>
      <p:sp>
        <p:nvSpPr>
          <p:cNvPr id="128" name="Google Shape;128;p2"/>
          <p:cNvSpPr/>
          <p:nvPr/>
        </p:nvSpPr>
        <p:spPr>
          <a:xfrm>
            <a:off x="396000" y="1123200"/>
            <a:ext cx="3648000" cy="28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96000" y="90000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1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396000" y="1170000"/>
            <a:ext cx="3648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2026-2027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396000" y="1332000"/>
            <a:ext cx="3648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ИП: старт и регионы РФ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4152000" y="1123200"/>
            <a:ext cx="3648000" cy="2880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152000" y="90000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2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4152000" y="1170000"/>
            <a:ext cx="3648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2028-2029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4152000" y="1332000"/>
            <a:ext cx="3648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ООО: сложная РФ-структура</a:t>
            </a: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7908000" y="1123200"/>
            <a:ext cx="3648000" cy="28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908000" y="900000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3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7908000" y="1170000"/>
            <a:ext cx="3648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2030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7908000" y="1332000"/>
            <a:ext cx="3648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ТОО KZ: международный контур</a:t>
            </a:r>
            <a:endParaRPr/>
          </a:p>
        </p:txBody>
      </p:sp>
      <p:graphicFrame>
        <p:nvGraphicFramePr>
          <p:cNvPr id="140" name="Google Shape;140;p2"/>
          <p:cNvGraphicFramePr/>
          <p:nvPr/>
        </p:nvGraphicFramePr>
        <p:xfrm>
          <a:off x="396000" y="216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592000"/>
                <a:gridCol w="5112000"/>
                <a:gridCol w="3528000"/>
              </a:tblGrid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Критерий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Как в проекте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Где в Excel/записке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Логика бизнеса и последовательность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MVP -&gt; региональные продажи -&gt; ООО -&gt; KZ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Структура, Консолидация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Региональная правовая корректность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ИП не имеет филиалов; после ООО проверяется риск ОП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Структура, Регионы, Риски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Корректность налогов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УСН, НДС, НП, НДФЛ, взносы РФ, KZ payroll/НДС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Налоги, НДФЛ РФ, Взносы РФ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Качество Excel-модели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Inputs -&gt; операционная модель -&gt; налоги -&gt; консолидация -&gt; dashboard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Навигация, Дашборд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52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Выводы и риски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Решение связано с цифрами, рисками и ДДС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7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ЭНС, ДДС, Риски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360000" y="451200"/>
            <a:ext cx="3274800" cy="6003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Б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изнес</a:t>
            </a:r>
            <a:endParaRPr sz="3400"/>
          </a:p>
        </p:txBody>
      </p:sp>
      <p:sp>
        <p:nvSpPr>
          <p:cNvPr id="147" name="Google Shape;147;p3"/>
          <p:cNvSpPr txBox="1"/>
          <p:nvPr/>
        </p:nvSpPr>
        <p:spPr>
          <a:xfrm>
            <a:off x="332975" y="1507400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Бизнес-модель AgentFlow AI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278950" y="2171800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SaaS-платформа AI-агентов с выручкой от подписки, внедрений, поддержки и usage/API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96025" y="2923625"/>
            <a:ext cx="4824000" cy="19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AI-агенты для заявок, документов, поддержки и аналитики процессов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B2B-клиенты: малый и средний бизнес, позже крупные корпоративные заказчики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Рост требует не только налогового выбора, но и смены организационной формы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В 2030 году международная выручка появляется как продолжение российской зрелости</a:t>
            </a:r>
            <a:endParaRPr/>
          </a:p>
        </p:txBody>
      </p:sp>
      <p:graphicFrame>
        <p:nvGraphicFramePr>
          <p:cNvPr id="150" name="Google Shape;150;p3"/>
          <p:cNvGraphicFramePr/>
          <p:nvPr/>
        </p:nvGraphicFramePr>
        <p:xfrm>
          <a:off x="5850150" y="2043000"/>
          <a:ext cx="6048000" cy="291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1" name="Google Shape;151;p3"/>
          <p:cNvSpPr txBox="1"/>
          <p:nvPr/>
        </p:nvSpPr>
        <p:spPr>
          <a:xfrm>
            <a:off x="5886150" y="5049000"/>
            <a:ext cx="568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млн ₽; главный драйвер 2030 года - внедрения, но SaaS формирует регулярную базу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360000" y="162000"/>
            <a:ext cx="3096600" cy="7965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E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xcel</a:t>
            </a:r>
            <a:endParaRPr sz="3400"/>
          </a:p>
        </p:txBody>
      </p:sp>
      <p:sp>
        <p:nvSpPr>
          <p:cNvPr id="158" name="Google Shape;158;p4"/>
          <p:cNvSpPr txBox="1"/>
          <p:nvPr/>
        </p:nvSpPr>
        <p:spPr>
          <a:xfrm>
            <a:off x="360000" y="1149775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Единая Excel-модель: от вводных к решению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360000" y="1590775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Модель построена как проверяемая цепочка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32000" y="2194250"/>
            <a:ext cx="2016000" cy="10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32000" y="2293050"/>
            <a:ext cx="28800" cy="8481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557999" y="2284250"/>
            <a:ext cx="181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Вводные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557999" y="2857550"/>
            <a:ext cx="1818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сценарий, ставки, продукты, штат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557999" y="2414750"/>
            <a:ext cx="1764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2430000" y="2572250"/>
            <a:ext cx="288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2700000" y="2194250"/>
            <a:ext cx="2016000" cy="10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2700000" y="2284250"/>
            <a:ext cx="28800" cy="8568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2826000" y="2284250"/>
            <a:ext cx="181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Операционная модель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2826000" y="2857550"/>
            <a:ext cx="1818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выручка, регионы, ФОТ, расходы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2826000" y="2414750"/>
            <a:ext cx="1764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698000" y="2572250"/>
            <a:ext cx="288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968000" y="2194250"/>
            <a:ext cx="2016000" cy="10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968000" y="2284250"/>
            <a:ext cx="28800" cy="8709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5093999" y="2284250"/>
            <a:ext cx="181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Налоги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5093999" y="2857550"/>
            <a:ext cx="1818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УСН/НДС/НП/НДФЛ/взносы/KZ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5093999" y="2414750"/>
            <a:ext cx="1764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6965999" y="2572250"/>
            <a:ext cx="288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235999" y="2194250"/>
            <a:ext cx="2016000" cy="10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236000" y="2293050"/>
            <a:ext cx="28800" cy="8622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7362000" y="2284250"/>
            <a:ext cx="181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Консолидация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7362000" y="2857550"/>
            <a:ext cx="1818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P&amp;L, ДДС, ЭНС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7362000" y="2414750"/>
            <a:ext cx="1764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9234000" y="2572250"/>
            <a:ext cx="288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9504000" y="2194250"/>
            <a:ext cx="2016000" cy="108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9504000" y="2317375"/>
            <a:ext cx="28800" cy="8379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9630000" y="2284250"/>
            <a:ext cx="1818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9630000" y="2857550"/>
            <a:ext cx="1818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дашборд, риски, чувствительность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9630000" y="2414750"/>
            <a:ext cx="17640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graphicFrame>
        <p:nvGraphicFramePr>
          <p:cNvPr id="189" name="Google Shape;189;p4"/>
          <p:cNvGraphicFramePr/>
          <p:nvPr/>
        </p:nvGraphicFramePr>
        <p:xfrm>
          <a:off x="432000" y="3994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340000"/>
                <a:gridCol w="4752000"/>
                <a:gridCol w="3996000"/>
              </a:tblGrid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Контрольная точка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Что проверяется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1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Зачем это важно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Налоговые режимы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УСН 6%, УСН 15%, ОСНО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выбор режима основан на расчетах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Payroll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НДФЛ и взносы по сотрудникам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рост штата не теряется в общей налоговой строке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KZ-контур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КПН, НДС, payroll и курс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международный блок отделен от РФ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ДДС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помесячные налоги и остаток денег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3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проверка кассовой устойчивости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60000" y="162000"/>
            <a:ext cx="2664000" cy="6618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Э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тап 1</a:t>
            </a:r>
            <a:endParaRPr sz="3400"/>
          </a:p>
        </p:txBody>
      </p:sp>
      <p:sp>
        <p:nvSpPr>
          <p:cNvPr id="196" name="Google Shape;196;p5"/>
          <p:cNvSpPr txBox="1"/>
          <p:nvPr/>
        </p:nvSpPr>
        <p:spPr>
          <a:xfrm>
            <a:off x="360000" y="1013225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Этап 1: ИП и региональное расширение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360000" y="1395875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2026 - старт в Москве; 2027 - Казань и Екатеринбург без фиктивных филиалов ИП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360000" y="185365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0000" y="1853650"/>
            <a:ext cx="28800" cy="79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563400" y="160182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2026: старт ИП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486000" y="2159650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13,7 млн ₽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486000" y="2422450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Москва, MVP, УСН 6%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204000" y="185365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204000" y="1853650"/>
            <a:ext cx="28800" cy="7920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407400" y="160182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2027: регионы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3330000" y="2159650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41,8 млн ₽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3330000" y="2422450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Казань + Екатеринбург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047999" y="185365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047999" y="1853650"/>
            <a:ext cx="28800" cy="792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251400" y="160182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ФОТ 2027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6174000" y="2159650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13,4 млн ₽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6174000" y="2422450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рост команды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892000" y="185365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892000" y="1853650"/>
            <a:ext cx="28800" cy="792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9095400" y="160182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Налог РФ 2027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9018000" y="2159650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6,9 млн ₽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9018000" y="2422450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выбран УСН 6%</a:t>
            </a:r>
            <a:endParaRPr/>
          </a:p>
        </p:txBody>
      </p:sp>
      <p:graphicFrame>
        <p:nvGraphicFramePr>
          <p:cNvPr id="218" name="Google Shape;218;p5"/>
          <p:cNvGraphicFramePr/>
          <p:nvPr/>
        </p:nvGraphicFramePr>
        <p:xfrm>
          <a:off x="360000" y="3005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592000"/>
                <a:gridCol w="2772000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Регион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Выручка 2027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Москва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23,8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Казань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Екатеринбург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14,2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41,8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5"/>
          <p:cNvSpPr txBox="1"/>
          <p:nvPr/>
        </p:nvSpPr>
        <p:spPr>
          <a:xfrm>
            <a:off x="6084000" y="3005650"/>
            <a:ext cx="53280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Для ИП корректна фактическая модель расширения: сотрудники, рабочие места, коворкинги, договоры и командировки.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Нельзя описывать региональные точки как филиалы ИП: филиалы и представительства относятся к юридическим лицам.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Рост выручки почти в 3,1 раза сопровождается ростом ФОТ, НДФЛ и страховых взносов.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60000" y="162000"/>
            <a:ext cx="2715000" cy="7962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П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раво</a:t>
            </a:r>
            <a:endParaRPr sz="3400"/>
          </a:p>
        </p:txBody>
      </p:sp>
      <p:sp>
        <p:nvSpPr>
          <p:cNvPr id="226" name="Google Shape;226;p6"/>
          <p:cNvSpPr txBox="1"/>
          <p:nvPr/>
        </p:nvSpPr>
        <p:spPr>
          <a:xfrm>
            <a:off x="405000" y="996050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Правовая развилка регионального этапа</a:t>
            </a:r>
            <a:endParaRPr/>
          </a:p>
        </p:txBody>
      </p:sp>
      <p:graphicFrame>
        <p:nvGraphicFramePr>
          <p:cNvPr id="227" name="Google Shape;227;p6"/>
          <p:cNvGraphicFramePr/>
          <p:nvPr/>
        </p:nvGraphicFramePr>
        <p:xfrm>
          <a:off x="441000" y="1587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268000"/>
                <a:gridCol w="2232000"/>
                <a:gridCol w="3744000"/>
                <a:gridCol w="2916000"/>
              </a:tblGrid>
              <a:tr h="6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Форма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Для кого применима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Когда возникает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Решение AgentFlow AI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Филиал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юридическое лицо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выполняет все или часть функций юрлица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используется на этапе ИП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Представительство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юридическое лицо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представляет и защищает интересы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избыточно для продаж/поддержки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Иное ОП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организация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стационарные рабочие места более месяца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анализируется после перехода к ООО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Фактическое расширение ИП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работники, точки, коворкинги, договоры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базовая модель 2027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6"/>
          <p:cNvSpPr/>
          <p:nvPr/>
        </p:nvSpPr>
        <p:spPr>
          <a:xfrm>
            <a:off x="432000" y="5372000"/>
            <a:ext cx="11088000" cy="79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32000" y="5410100"/>
            <a:ext cx="28800" cy="720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57999" y="5462000"/>
            <a:ext cx="1089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Ключевой вывод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557999" y="5678000"/>
            <a:ext cx="1089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2027 - не филиалы ИП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557999" y="5973650"/>
            <a:ext cx="1089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После перехода к ООО региональные рабочие места уже проверяются на признаки обособленного подразделения.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60000" y="162000"/>
            <a:ext cx="3174900" cy="792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Э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тап 2</a:t>
            </a:r>
            <a:endParaRPr sz="3400"/>
          </a:p>
        </p:txBody>
      </p:sp>
      <p:sp>
        <p:nvSpPr>
          <p:cNvPr id="239" name="Google Shape;239;p7"/>
          <p:cNvSpPr txBox="1"/>
          <p:nvPr/>
        </p:nvSpPr>
        <p:spPr>
          <a:xfrm>
            <a:off x="360000" y="1094650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Этап 2: переход к ООО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360000" y="1508550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2028 год: рост контрактов, SLA, IP и персональной ответственности делает ИП неудобным</a:t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60000" y="1980375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60000" y="1980375"/>
            <a:ext cx="28800" cy="79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486000" y="207037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2028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486000" y="2286375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110,3 млн ₽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3204000" y="1980375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204000" y="1980375"/>
            <a:ext cx="28800" cy="792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3330000" y="207037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ФОТ 2028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3330000" y="2286375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37,3 млн ₽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3330000" y="2549175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команда разработки и продаж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047999" y="1980375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047999" y="1980375"/>
            <a:ext cx="28800" cy="792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6174000" y="207037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Чистая прибыль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6174000" y="2286375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37,8 млн ₽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6174000" y="2549175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после налогов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8892000" y="1980375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892000" y="1980375"/>
            <a:ext cx="28800" cy="792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9018000" y="2070375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ЭНС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9018000" y="2286375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43,1%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9018000" y="2549175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пик переходного периода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388800" y="3508238"/>
            <a:ext cx="5220000" cy="13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ООО снижает личные риски основателя и лучше подходит для B2B-контрактов.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Появляются SLA, обработка данных, IP и формальный документооборот.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Региональные офисы рассматриваются через признаки иного ОП, а не как автоматические филиалы.</a:t>
            </a:r>
            <a:endParaRPr/>
          </a:p>
        </p:txBody>
      </p:sp>
      <p:graphicFrame>
        <p:nvGraphicFramePr>
          <p:cNvPr id="261" name="Google Shape;261;p7"/>
          <p:cNvGraphicFramePr/>
          <p:nvPr/>
        </p:nvGraphicFramePr>
        <p:xfrm>
          <a:off x="6076800" y="34722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664000"/>
                <a:gridCol w="2664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Режим 2028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Нагрузка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УСН 6%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20,0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УСН 15%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22,9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44,4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Выбор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УСН 6%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360000" y="162000"/>
            <a:ext cx="2775600" cy="720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Э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тап 2</a:t>
            </a:r>
            <a:endParaRPr sz="3400"/>
          </a:p>
        </p:txBody>
      </p:sp>
      <p:sp>
        <p:nvSpPr>
          <p:cNvPr id="268" name="Google Shape;268;p8"/>
          <p:cNvSpPr txBox="1"/>
          <p:nvPr/>
        </p:nvSpPr>
        <p:spPr>
          <a:xfrm>
            <a:off x="360000" y="1155038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Этап 2: зрелая российская структура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360000" y="1500188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2029 год: региональная сеть и продуктовая линейка становятся устойчивыми</a:t>
            </a:r>
            <a:endParaRPr/>
          </a:p>
        </p:txBody>
      </p:sp>
      <p:graphicFrame>
        <p:nvGraphicFramePr>
          <p:cNvPr id="270" name="Google Shape;270;p8"/>
          <p:cNvGraphicFramePr/>
          <p:nvPr/>
        </p:nvGraphicFramePr>
        <p:xfrm>
          <a:off x="360000" y="2378925"/>
          <a:ext cx="5328000" cy="2772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71" name="Google Shape;271;p8"/>
          <p:cNvSpPr txBox="1"/>
          <p:nvPr/>
        </p:nvSpPr>
        <p:spPr>
          <a:xfrm>
            <a:off x="6048000" y="2486925"/>
            <a:ext cx="5256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В 2029 году выручка достигает 161,1 млн ₽, чистая прибыль - 59,9 млн ₽.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Екатеринбург становится крупнейшим региональным центром спроса.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УСН 6% сохраняет преимущество: 28,6 млн ₽ против 33,5 млн ₽ при УСН 15% и 65,8 млн ₽ при ОСНО.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048000" y="4722100"/>
            <a:ext cx="2412000" cy="82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048000" y="4774449"/>
            <a:ext cx="28800" cy="720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6174000" y="4826924"/>
            <a:ext cx="2214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2029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6174000" y="5025674"/>
            <a:ext cx="2214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161,1 млн ₽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6174000" y="5323725"/>
            <a:ext cx="2214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зрелая РФ-модель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8640000" y="4722225"/>
            <a:ext cx="2664000" cy="82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8640000" y="4774574"/>
            <a:ext cx="28800" cy="720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8739000" y="4826924"/>
            <a:ext cx="246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ДДС конец 2029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8766000" y="5025674"/>
            <a:ext cx="246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110,8 млн ₽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8766000" y="5323725"/>
            <a:ext cx="246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резерв роста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60000" y="162000"/>
            <a:ext cx="2385600" cy="6567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Э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тап 3</a:t>
            </a:r>
            <a:endParaRPr sz="3400"/>
          </a:p>
        </p:txBody>
      </p:sp>
      <p:sp>
        <p:nvSpPr>
          <p:cNvPr id="288" name="Google Shape;288;p9"/>
          <p:cNvSpPr txBox="1"/>
          <p:nvPr/>
        </p:nvSpPr>
        <p:spPr>
          <a:xfrm>
            <a:off x="388800" y="818725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Этап 3: международный блок через Казахстан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388800" y="1218025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2030 год: ТОО KZ как локальный сервисно-продажный контур, а не филиал российского ООО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360000" y="2216225"/>
            <a:ext cx="2628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60000" y="2216225"/>
            <a:ext cx="28800" cy="79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486000" y="1916663"/>
            <a:ext cx="243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KZ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486000" y="2450975"/>
            <a:ext cx="243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9,1 млн ₽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486000" y="2785025"/>
            <a:ext cx="243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3,5% общей выручки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3168000" y="2216225"/>
            <a:ext cx="2628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168000" y="2216225"/>
            <a:ext cx="28800" cy="792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3294000" y="1916663"/>
            <a:ext cx="243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ФОТ KZ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3231000" y="2404025"/>
            <a:ext cx="243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8,7 млн ₽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3294000" y="2785025"/>
            <a:ext cx="243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локальная команда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976000" y="2216225"/>
            <a:ext cx="2628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976000" y="2216225"/>
            <a:ext cx="28800" cy="792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6102000" y="1916663"/>
            <a:ext cx="243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КПН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6102000" y="2450975"/>
            <a:ext cx="243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0,0 млн ₽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6102000" y="2785025"/>
            <a:ext cx="243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убыток первого года</a:t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8784000" y="2216225"/>
            <a:ext cx="2628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784000" y="2216225"/>
            <a:ext cx="28800" cy="792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8910000" y="1916663"/>
            <a:ext cx="2430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Налоги ТОО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8910000" y="2450975"/>
            <a:ext cx="243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3,0 млн ₽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8910000" y="2785025"/>
            <a:ext cx="2430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НДС + payroll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396000" y="3821800"/>
            <a:ext cx="5328000" cy="13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KZ-контур нужен для локальных договоров, продаж, внедрений и поддержки клиентов СНГ.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ТОО является самостоятельным юридическим лицом, а не филиалом российского ООО.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Первый год KZ убыточен до КПН (-1,78 млн ₽), поэтому КПН равен нулю.</a:t>
            </a:r>
            <a:endParaRPr/>
          </a:p>
        </p:txBody>
      </p:sp>
      <p:graphicFrame>
        <p:nvGraphicFramePr>
          <p:cNvPr id="311" name="Google Shape;311;p9"/>
          <p:cNvGraphicFramePr/>
          <p:nvPr/>
        </p:nvGraphicFramePr>
        <p:xfrm>
          <a:off x="6084000" y="382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3024000"/>
                <a:gridCol w="2304000"/>
              </a:tblGrid>
              <a:tr h="37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Показатель 2030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Значение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Выручка РФ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253,6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Выручка KZ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9,1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НДС KZ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1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Все налоги/удержания KZ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60000" y="162000"/>
            <a:ext cx="2467200" cy="7842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Ф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инансы</a:t>
            </a:r>
            <a:endParaRPr sz="3000"/>
          </a:p>
        </p:txBody>
      </p:sp>
      <p:sp>
        <p:nvSpPr>
          <p:cNvPr id="318" name="Google Shape;318;p10"/>
          <p:cNvSpPr txBox="1"/>
          <p:nvPr/>
        </p:nvSpPr>
        <p:spPr>
          <a:xfrm>
            <a:off x="360000" y="991250"/>
            <a:ext cx="7920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Финансовый результат: рост без кассовых разрывов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360000" y="1897850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и чистая прибыль растут быстрее административной сложности</a:t>
            </a:r>
            <a:endParaRPr/>
          </a:p>
        </p:txBody>
      </p:sp>
      <p:graphicFrame>
        <p:nvGraphicFramePr>
          <p:cNvPr id="320" name="Google Shape;320;p10"/>
          <p:cNvGraphicFramePr/>
          <p:nvPr/>
        </p:nvGraphicFramePr>
        <p:xfrm>
          <a:off x="360000" y="2406700"/>
          <a:ext cx="7200000" cy="306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21" name="Google Shape;321;p10"/>
          <p:cNvSpPr/>
          <p:nvPr/>
        </p:nvSpPr>
        <p:spPr>
          <a:xfrm>
            <a:off x="7920000" y="2478700"/>
            <a:ext cx="338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7920000" y="2478700"/>
            <a:ext cx="28800" cy="79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7920000" y="2172700"/>
            <a:ext cx="318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Выручка 2030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8046000" y="2784700"/>
            <a:ext cx="318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262,7 млн ₽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8046000" y="3047499"/>
            <a:ext cx="318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x19,2 к 2026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7920000" y="3414700"/>
            <a:ext cx="338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920000" y="3414700"/>
            <a:ext cx="28800" cy="792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8046000" y="3504700"/>
            <a:ext cx="318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Чистая прибыль 2030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8046000" y="3720700"/>
            <a:ext cx="318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124,1 млн ₽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8046000" y="3983500"/>
            <a:ext cx="318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47,2% маржа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7920000" y="4350700"/>
            <a:ext cx="338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7920000" y="4350700"/>
            <a:ext cx="28800" cy="7920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8046000" y="4440700"/>
            <a:ext cx="3186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EBITDA 2030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8046000" y="4656699"/>
            <a:ext cx="3186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164,2 млн ₽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8046000" y="4919500"/>
            <a:ext cx="3186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62,5% EBITDA margin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360000" y="162000"/>
            <a:ext cx="2703000" cy="7239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Н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алоги</a:t>
            </a:r>
            <a:endParaRPr sz="3000"/>
          </a:p>
        </p:txBody>
      </p:sp>
      <p:sp>
        <p:nvSpPr>
          <p:cNvPr id="342" name="Google Shape;342;p11"/>
          <p:cNvSpPr txBox="1"/>
          <p:nvPr/>
        </p:nvSpPr>
        <p:spPr>
          <a:xfrm>
            <a:off x="360000" y="1050138"/>
            <a:ext cx="7920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Налоговый выбор: почему УСН 6% остается базовым</a:t>
            </a:r>
            <a:endParaRPr/>
          </a:p>
        </p:txBody>
      </p:sp>
      <p:sp>
        <p:nvSpPr>
          <p:cNvPr id="343" name="Google Shape;343;p11"/>
          <p:cNvSpPr txBox="1"/>
          <p:nvPr/>
        </p:nvSpPr>
        <p:spPr>
          <a:xfrm>
            <a:off x="360000" y="1834350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Во все годы выбранный режим дает меньшую нагрузку, чем УСН 15% и ОСНО</a:t>
            </a:r>
            <a:endParaRPr/>
          </a:p>
        </p:txBody>
      </p:sp>
      <p:graphicFrame>
        <p:nvGraphicFramePr>
          <p:cNvPr id="344" name="Google Shape;344;p11"/>
          <p:cNvGraphicFramePr/>
          <p:nvPr/>
        </p:nvGraphicFramePr>
        <p:xfrm>
          <a:off x="360000" y="2288775"/>
          <a:ext cx="6912000" cy="2988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45" name="Google Shape;345;p11"/>
          <p:cNvSpPr txBox="1"/>
          <p:nvPr/>
        </p:nvSpPr>
        <p:spPr>
          <a:xfrm>
            <a:off x="7631999" y="2678275"/>
            <a:ext cx="37080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УСН 6% в 2030: 37,1 млн ₽.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4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УСН 15% в 2030: 49,7 млн ₽.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4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ОСНО в 2030: 103,5 млн ₽.</a:t>
            </a:r>
            <a:endParaRPr/>
          </a:p>
          <a:p>
            <a:pPr indent="0" lvl="0" marL="0" marR="0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0" i="0" lang="en-US" sz="134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ОСНО может быть коммерчески нужен для B2B с входным НДС, но по расчету он тяжелее.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0000" y="162000"/>
            <a:ext cx="2857200" cy="7239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На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</a:t>
            </a:r>
            <a:endParaRPr sz="3000"/>
          </a:p>
        </p:txBody>
      </p:sp>
      <p:sp>
        <p:nvSpPr>
          <p:cNvPr id="352" name="Google Shape;352;p12"/>
          <p:cNvSpPr txBox="1"/>
          <p:nvPr/>
        </p:nvSpPr>
        <p:spPr>
          <a:xfrm>
            <a:off x="360000" y="1086200"/>
            <a:ext cx="7920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ЭНС и payroll taxes: рост налогов объясняется штатом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432000" y="1945050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Налоговая нагрузка - это не только УСН, но и НДФЛ/страховые взносы</a:t>
            </a:r>
            <a:endParaRPr/>
          </a:p>
        </p:txBody>
      </p:sp>
      <p:graphicFrame>
        <p:nvGraphicFramePr>
          <p:cNvPr id="354" name="Google Shape;354;p12"/>
          <p:cNvGraphicFramePr/>
          <p:nvPr/>
        </p:nvGraphicFramePr>
        <p:xfrm>
          <a:off x="432000" y="2524625"/>
          <a:ext cx="5292000" cy="2772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55" name="Google Shape;355;p12"/>
          <p:cNvGraphicFramePr/>
          <p:nvPr/>
        </p:nvGraphicFramePr>
        <p:xfrm>
          <a:off x="6120000" y="2596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1152000"/>
                <a:gridCol w="2052000"/>
                <a:gridCol w="2052000"/>
              </a:tblGrid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Год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Взносы РФ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НДФЛ РФ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121F3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2027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1,7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2028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11,2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4,9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2029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15,8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6,9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2030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16,8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7,3 млн ₽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6" name="Google Shape;356;p12"/>
          <p:cNvSpPr txBox="1"/>
          <p:nvPr/>
        </p:nvSpPr>
        <p:spPr>
          <a:xfrm>
            <a:off x="503999" y="5620625"/>
            <a:ext cx="10620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Пик ЭНС приходится на 2028 год: компания переходит к ООО, расширяет штат и несет расходы усложнения. В 2030 году ЭНС снижается до 30,1% за счет масштаба выручки.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360000" y="162000"/>
            <a:ext cx="2539800" cy="9507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ДДС</a:t>
            </a:r>
            <a:endParaRPr sz="3000"/>
          </a:p>
        </p:txBody>
      </p:sp>
      <p:sp>
        <p:nvSpPr>
          <p:cNvPr id="363" name="Google Shape;363;p13"/>
          <p:cNvSpPr txBox="1"/>
          <p:nvPr/>
        </p:nvSpPr>
        <p:spPr>
          <a:xfrm>
            <a:off x="360000" y="1469725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ДДС: модель выдерживает рост налогов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432000" y="1954613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Помесячный денежный поток остается положительным; декабрьские остатки растут каждый год</a:t>
            </a:r>
            <a:endParaRPr/>
          </a:p>
        </p:txBody>
      </p:sp>
      <p:graphicFrame>
        <p:nvGraphicFramePr>
          <p:cNvPr id="365" name="Google Shape;365;p13"/>
          <p:cNvGraphicFramePr/>
          <p:nvPr/>
        </p:nvGraphicFramePr>
        <p:xfrm>
          <a:off x="360000" y="2343225"/>
          <a:ext cx="7056000" cy="291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66" name="Google Shape;366;p13"/>
          <p:cNvSpPr/>
          <p:nvPr/>
        </p:nvSpPr>
        <p:spPr>
          <a:xfrm>
            <a:off x="7848000" y="2451225"/>
            <a:ext cx="3420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7848000" y="2451225"/>
            <a:ext cx="28800" cy="756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7974000" y="2541225"/>
            <a:ext cx="322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Декабрь 2026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7974000" y="2757225"/>
            <a:ext cx="3222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8,2 млн ₽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7974000" y="2984024"/>
            <a:ext cx="3222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стартовый резерв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7848000" y="3351225"/>
            <a:ext cx="3420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7848000" y="3351225"/>
            <a:ext cx="28800" cy="7560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7974000" y="3441225"/>
            <a:ext cx="322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Декабрь 2029</a:t>
            </a:r>
            <a:endParaRPr/>
          </a:p>
        </p:txBody>
      </p:sp>
      <p:sp>
        <p:nvSpPr>
          <p:cNvPr id="374" name="Google Shape;374;p13"/>
          <p:cNvSpPr txBox="1"/>
          <p:nvPr/>
        </p:nvSpPr>
        <p:spPr>
          <a:xfrm>
            <a:off x="7974000" y="3657225"/>
            <a:ext cx="3222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110,8 млн ₽</a:t>
            </a:r>
            <a:endParaRPr/>
          </a:p>
        </p:txBody>
      </p:sp>
      <p:sp>
        <p:nvSpPr>
          <p:cNvPr id="375" name="Google Shape;375;p13"/>
          <p:cNvSpPr txBox="1"/>
          <p:nvPr/>
        </p:nvSpPr>
        <p:spPr>
          <a:xfrm>
            <a:off x="7974000" y="3884025"/>
            <a:ext cx="3222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после РФ-масштаба</a:t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7848000" y="4251225"/>
            <a:ext cx="3420000" cy="75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7848000" y="4251225"/>
            <a:ext cx="28800" cy="756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7974000" y="4341225"/>
            <a:ext cx="322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Декабрь 2030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7974000" y="4557225"/>
            <a:ext cx="3222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216,3 млн ₽</a:t>
            </a:r>
            <a:endParaRPr/>
          </a:p>
        </p:txBody>
      </p:sp>
      <p:sp>
        <p:nvSpPr>
          <p:cNvPr id="380" name="Google Shape;380;p13"/>
          <p:cNvSpPr txBox="1"/>
          <p:nvPr/>
        </p:nvSpPr>
        <p:spPr>
          <a:xfrm>
            <a:off x="7974000" y="4784025"/>
            <a:ext cx="32220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после KZ-контура</a:t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431999" y="5511225"/>
            <a:ext cx="105120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Вывод: налоговая модель не создает кассового разрыва. Риск остается в чувствительности к темпам продаж, найму и стоимости AI/API.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360000" y="162000"/>
            <a:ext cx="1995600" cy="6423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Риски</a:t>
            </a:r>
            <a:endParaRPr sz="3000"/>
          </a:p>
        </p:txBody>
      </p:sp>
      <p:sp>
        <p:nvSpPr>
          <p:cNvPr id="388" name="Google Shape;388;p14"/>
          <p:cNvSpPr txBox="1"/>
          <p:nvPr/>
        </p:nvSpPr>
        <p:spPr>
          <a:xfrm>
            <a:off x="360000" y="867850"/>
            <a:ext cx="7920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21F33"/>
                </a:solidFill>
                <a:latin typeface="Arial"/>
                <a:ea typeface="Arial"/>
                <a:cs typeface="Arial"/>
                <a:sym typeface="Arial"/>
              </a:rPr>
              <a:t>Карта рисков и меры контроля</a:t>
            </a:r>
            <a:endParaRPr/>
          </a:p>
        </p:txBody>
      </p:sp>
      <p:sp>
        <p:nvSpPr>
          <p:cNvPr id="389" name="Google Shape;389;p14"/>
          <p:cNvSpPr txBox="1"/>
          <p:nvPr/>
        </p:nvSpPr>
        <p:spPr>
          <a:xfrm>
            <a:off x="360000" y="1253775"/>
            <a:ext cx="7920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Риски не скрываются: они встроены в модель и объясняют выбранные решения</a:t>
            </a:r>
            <a:endParaRPr/>
          </a:p>
        </p:txBody>
      </p:sp>
      <p:graphicFrame>
        <p:nvGraphicFramePr>
          <p:cNvPr id="390" name="Google Shape;390;p14"/>
          <p:cNvGraphicFramePr/>
          <p:nvPr/>
        </p:nvGraphicFramePr>
        <p:xfrm>
          <a:off x="360000" y="180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{A657993B-F1F2-4BEB-9D84-0C43973C3895}</a:tableStyleId>
              </a:tblPr>
              <a:tblGrid>
                <a:gridCol w="2592000"/>
                <a:gridCol w="1872000"/>
                <a:gridCol w="1512000"/>
                <a:gridCol w="1512000"/>
                <a:gridCol w="3672000"/>
              </a:tblGrid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Риск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Вероятность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Влияние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Митигация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DC2626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ИП назвали филиалом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правовой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использовать формулировку фактического расширения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поставили ОП на учет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налоговый/правовой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проверить стационарные рабочие места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Рост расходов на ИИ/API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финансовый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тарифы по потреблению и стресс-тесты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B2B-клиентам нужен НДС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коммерческий/налоговый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сравнить ОСНО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Казахстан создает риск ПП/WHT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международный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договорная структура/правовой меморандум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ОАЭ без экономического присутствия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международный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выбирать как базовый вариант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1F5F9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Риск персональных данных/SLA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правовой/операционный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высокая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80" u="none" cap="none" strike="noStrik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ООО, договоры, безопасность</a:t>
                      </a:r>
                      <a:endParaRPr/>
                    </a:p>
                  </a:txBody>
                  <a:tcPr marT="14400" marB="14400" marR="28800" marL="28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p14"/>
          <p:cNvSpPr txBox="1"/>
          <p:nvPr/>
        </p:nvSpPr>
        <p:spPr>
          <a:xfrm>
            <a:off x="396000" y="5840000"/>
            <a:ext cx="10800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Самые критичные для защиты: не называть ИП филиалом; проверять ОП после ООО; не выбирать ОАЭ без реального экономического присутствия.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F33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"/>
          <p:cNvSpPr txBox="1"/>
          <p:nvPr/>
        </p:nvSpPr>
        <p:spPr>
          <a:xfrm>
            <a:off x="11592000" y="6678000"/>
            <a:ext cx="360000" cy="125999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432000" y="324000"/>
            <a:ext cx="7920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Итоговая рекомендация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432000" y="648000"/>
            <a:ext cx="936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Развивать AgentFlow AI поэтапно: ИП -&gt; регионы РФ -&gt; ООО -&gt; ТОО Казахстан</a:t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32000" y="2289125"/>
            <a:ext cx="3492000" cy="28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32000" y="2065925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1</a:t>
            </a:r>
            <a:endParaRPr/>
          </a:p>
        </p:txBody>
      </p:sp>
      <p:sp>
        <p:nvSpPr>
          <p:cNvPr id="401" name="Google Shape;401;p15"/>
          <p:cNvSpPr txBox="1"/>
          <p:nvPr/>
        </p:nvSpPr>
        <p:spPr>
          <a:xfrm>
            <a:off x="432000" y="2335925"/>
            <a:ext cx="3492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2026-2027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2" name="Google Shape;402;p15"/>
          <p:cNvSpPr txBox="1"/>
          <p:nvPr/>
        </p:nvSpPr>
        <p:spPr>
          <a:xfrm>
            <a:off x="432000" y="2497925"/>
            <a:ext cx="349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ИП: старт и регионы РФ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031999" y="2289125"/>
            <a:ext cx="3492000" cy="2880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031999" y="2065925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2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4031999" y="2335925"/>
            <a:ext cx="3492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2028-2029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4031999" y="2497925"/>
            <a:ext cx="349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ООО: сложная РФ-структура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632000" y="2289125"/>
            <a:ext cx="3492000" cy="288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7632000" y="2065925"/>
            <a:ext cx="720000" cy="1980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Этап 3</a:t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7632000" y="2335925"/>
            <a:ext cx="3492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2030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7632000" y="2497925"/>
            <a:ext cx="349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ТОО KZ: международный контур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32000" y="298800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32000" y="2988000"/>
            <a:ext cx="28800" cy="7920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557999" y="3078000"/>
            <a:ext cx="246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Юридически корректно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557999" y="3429000"/>
            <a:ext cx="2466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ИП без филиалов; ОП анализируется только после ООО</a:t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3276000" y="298800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3276000" y="2988000"/>
            <a:ext cx="28800" cy="792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3401999" y="3078000"/>
            <a:ext cx="246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Налогово эффективно</a:t>
            </a:r>
            <a:endParaRPr/>
          </a:p>
        </p:txBody>
      </p:sp>
      <p:sp>
        <p:nvSpPr>
          <p:cNvPr id="418" name="Google Shape;418;p15"/>
          <p:cNvSpPr txBox="1"/>
          <p:nvPr/>
        </p:nvSpPr>
        <p:spPr>
          <a:xfrm>
            <a:off x="3401999" y="3556800"/>
            <a:ext cx="24660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УСН 6% выигрывает во все годы расчета</a:t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6120000" y="298800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6120000" y="2988000"/>
            <a:ext cx="28800" cy="792000"/>
          </a:xfrm>
          <a:prstGeom prst="rect">
            <a:avLst/>
          </a:prstGeom>
          <a:solidFill>
            <a:srgbClr val="0891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6246000" y="3078000"/>
            <a:ext cx="246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Финансово устойчиво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6246000" y="3470313"/>
            <a:ext cx="2466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ДДС положительный, 216,3 млн ₽ на конец 2030</a:t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8964000" y="2988000"/>
            <a:ext cx="2664000" cy="79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8964000" y="2988000"/>
            <a:ext cx="28800" cy="7920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9090000" y="3078000"/>
            <a:ext cx="246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Международка обоснована</a:t>
            </a:r>
            <a:endParaRPr/>
          </a:p>
        </p:txBody>
      </p:sp>
      <p:sp>
        <p:nvSpPr>
          <p:cNvPr id="426" name="Google Shape;426;p15"/>
          <p:cNvSpPr txBox="1"/>
          <p:nvPr/>
        </p:nvSpPr>
        <p:spPr>
          <a:xfrm>
            <a:off x="9090000" y="3556800"/>
            <a:ext cx="24660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KZ появляется после зрелости РФ-модели</a:t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2777050" y="4827900"/>
            <a:ext cx="108000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" lIns="18000" spcFirstLastPara="1" rIns="18000" wrap="square" tIns="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                  Бизнес прибыльный=Go-решение</a:t>
            </a:r>
            <a:endParaRPr b="1" sz="16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       Выходим на международный рынок Казахстан</a:t>
            </a:r>
            <a:endParaRPr b="1"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